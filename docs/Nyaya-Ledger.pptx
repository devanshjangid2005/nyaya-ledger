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we're Devansh and Debasis. Nyaya-Ledger helps gig workers in India, delivery riders and cab drivers, turn what is already on their phone, payout screenshots and bank SMS, into a checked grievance docket they can file under gig-worker law. We start in Karnataka, where the law and a grievance portal are already working, and the app is built so each new state is mostly a new law file and a new language. It is live, so you can open it on your phone right now. Cline was our coding partner for the whole build, and the Cline SDK runs inside the product as the agent that does the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 has millions of gig workers, close to 7 lakh in Karnataka alone. They are paid, penalised and deactivated by apps they cannot inspect: a deduction just called 'Adjustment', a bank credit smaller than the app showed, an ID block with no reason. In PAIGAM's survey more than 80% said blocking hurt them. The platform has all the data; the worker has screenshots in the gallery and SMS in the inbox.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the hackathon we spoke to Prabal Sharma, a Blinkit delivery partner. We asked whether he faces problems with delivery payments or the platform. In his words: "Han, kaafi dikkatein horhi hai recently", meaning yes, there have been a lot of problems recently, and a few days earlier there had even been a protest about it. Workers already feel the problem. What they lack is evidence in a form a grievance committee can act on, and that is what Nyaya-Ledger produces.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Karnataka now has a law that speaks to exactly these problems: reasons for every deduction, weekly pay, 14 days' written notice before deactivation, and a right to ask how the algorithm works. Since May 2026 workers can file grievances through the state's IPGRS portal, which makes Karnataka the best place to prove the idea. Other states are moving the same way: Rajasthan, Telangana and Bihar have gig-worker laws, and the central Code on Social Security covers gig workers. In every state, what is missing is the evidence in a form a committee can act on. That is the gap we 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worker uploads screenshots, pastes bank SMS and adds two numbers. A vision model reads the screenshots; the SMS are parsed by plain code and never go to an AI. Then the key step: the worker sees every extracted number and confirms or fixes it, so a misread number never becomes an accusation. Deterministic checks run on the confirmed data, the exact clause text is quoted, and the agent drafts the letter in the worker's language. Output is a PDF docket for the IPGRS portal. Equally important is what we do not claim: no verdicts, not legal advice, and no logging into the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 Ravi, a synthetic two-wheeler delivery partner in Bengaluru. He uploads three screenshots, two overlapping weekly statements and an ID-block notice, and pastes five SMS. On the Confirm screen he fixes one misread number. About 30 seconds later the docket shows five possible issues: ₹275 of deductions with only vague labels, a ₹120 arithmetic gap, a block with zero days' notice and no reason, ₹100 less in the bank than the app showed, and his real hourly earnings after fuel: ₹90, not ₹128. All numbers come from code, not from the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Node process serves the API and the web app on Render's free tier. The vision model reads each screenshot into JSON that is validated with zod; bank SMS are parsed by plain code. After the worker confirms, the Cline SDK agent takes over. It has only five custom tools: run_checks calls our deterministic audit library, lookup_clause reads the bundled Act, and submit_docket ends the run, but only if every cited clause exists and the letter contains no verdict words. If there is no model, an error, or the run passes 120 seconds, a template fallback uses the same checks and guard, so the worker always gets a docket.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split the work carefully. AI does what is hard for code: reading messy screenshots, deciding what to check, and writing in Kannada or Hindi. Code does everything that must be exactly right: parsing SMS, every number in every finding, and every quoted clause. The agent runs on Gemini 3.1 Flash-Lite through the Cline SDK's built-in provider, and any other provider works by changing an environment variable. It has exactly five typed tools. The rule we built around: the agent decides what to do and how to explain it, never what the numbers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Cline was used in two ways. In the build, Cline was our coding partner from the first commit: we wrote a failing test, and Cline wrote the code until it passed. The clip in our video shows Cline adding new bank SMS formats exactly this way. Inside the product, the Cline SDK Agent runs every audit. We give it only our five custom tools, typed with zod. ask_worker can pause the run to ask the worker a question, and submit_docket uses completesRun, so the run ends only when a docket passes our citation and verdict guards.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these happened or nearly happened during the build. Vision models misread numbers, so the worker confirms them. Bank SMS formats vary, so the parser is test-first and skips what it can't read. Screenshot text could contain instructions, so the agent has no general tools. Models invent things, so citations and verdict words are checked in code. In testing Gemini wrote the Kannada word for 'violation', and the guard sent it back. Kannada PDFs needed proper shaping, so the phone's browser makes the PDF. And because free quotas run out, there is always a template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limits: today it covers one state's law, Karnataka's. Accuracy depends on screenshot quality, and we cannot see platform-side data. It is not legal advice, and the Act is still before the High Court. Our goal is every gig worker in India. The checks are plain code and the law is a data file, so the next step is Rajasthan, Telangana, Bihar and the central Code on Social Security, each mostly a new law file and a new language. After that: voice input, an Android companion that reads bank SMS directly, and a union dashboard of anonymised findings. Please scan the code and try it on your phone: tap 'Try with demo data'.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nyaya-ledger.onrender.com" TargetMode="External"/><Relationship Id="rId3" Type="http://schemas.openxmlformats.org/officeDocument/2006/relationships/hyperlink" Target="https://github.com/devanshjangid2005/nyaya-ledger" TargetMode="External"/><Relationship Id="rId1"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hyperlink" Target="https://nyaya-ledger.onrender.com" TargetMode="External"/><Relationship Id="rId4" Type="http://schemas.openxmlformats.org/officeDocument/2006/relationships/hyperlink" Target="https://nyaya-ledger.onrender.com" TargetMode="External"/><Relationship Id="rId5" Type="http://schemas.openxmlformats.org/officeDocument/2006/relationships/hyperlink" Target="https://github.com/devanshjangid2005/nyaya-ledger" TargetMode="External"/><Relationship Id="rId1" Type="http://schemas.openxmlformats.org/officeDocument/2006/relationships/image" Target="../media/image-11-1.png"/><Relationship Id="rId2" Type="http://schemas.openxmlformats.org/officeDocument/2006/relationships/image" Target="../media/image-11-2.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Cline logo">    </p:cNvPr>
          <p:cNvPicPr>
            <a:picLocks noChangeAspect="1"/>
          </p:cNvPicPr>
          <p:nvPr/>
        </p:nvPicPr>
        <p:blipFill>
          <a:blip r:embed="rId1"/>
          <a:stretch>
            <a:fillRect/>
          </a:stretch>
        </p:blipFill>
        <p:spPr>
          <a:xfrm>
            <a:off x="10537269" y="402336"/>
            <a:ext cx="1105786" cy="237744"/>
          </a:xfrm>
          <a:prstGeom prst="rect">
            <a:avLst/>
          </a:prstGeom>
        </p:spPr>
      </p:pic>
      <p:sp>
        <p:nvSpPr>
          <p:cNvPr id="3" name="Text 0"/>
          <p:cNvSpPr/>
          <p:nvPr/>
        </p:nvSpPr>
        <p:spPr>
          <a:xfrm>
            <a:off x="9622869" y="402336"/>
            <a:ext cx="822960" cy="237744"/>
          </a:xfrm>
          <a:prstGeom prst="rect">
            <a:avLst/>
          </a:prstGeom>
          <a:noFill/>
          <a:ln/>
        </p:spPr>
        <p:txBody>
          <a:bodyPr wrap="square" lIns="0" tIns="0" rIns="0" bIns="0" rtlCol="0" anchor="ctr"/>
          <a:lstStyle/>
          <a:p>
            <a:pPr algn="r" indent="0" marL="0">
              <a:buNone/>
            </a:pPr>
            <a:r>
              <a:rPr lang="en-US" sz="900" dirty="0">
                <a:solidFill>
                  <a:srgbClr val="5B6470"/>
                </a:solidFill>
                <a:latin typeface="Segoe UI" pitchFamily="34" charset="0"/>
                <a:ea typeface="Segoe UI" pitchFamily="34" charset="-122"/>
                <a:cs typeface="Segoe UI" pitchFamily="34" charset="-120"/>
              </a:rPr>
              <a:t>Built with</a:t>
            </a:r>
            <a:endParaRPr lang="en-US" sz="900" dirty="0"/>
          </a:p>
        </p:txBody>
      </p:sp>
      <p:sp>
        <p:nvSpPr>
          <p:cNvPr id="4" name="Shape 1"/>
          <p:cNvSpPr/>
          <p:nvPr/>
        </p:nvSpPr>
        <p:spPr>
          <a:xfrm>
            <a:off x="0" y="0"/>
            <a:ext cx="128016" cy="6858000"/>
          </a:xfrm>
          <a:prstGeom prst="rect">
            <a:avLst/>
          </a:prstGeom>
          <a:solidFill>
            <a:srgbClr val="0B5CAD"/>
          </a:solidFill>
          <a:ln w="12700">
            <a:solidFill>
              <a:srgbClr val="FFFFFF">
                <a:alpha val="0"/>
              </a:srgbClr>
            </a:solidFill>
            <a:prstDash val="solid"/>
          </a:ln>
        </p:spPr>
      </p:sp>
      <p:sp>
        <p:nvSpPr>
          <p:cNvPr id="5" name="Text 2"/>
          <p:cNvSpPr/>
          <p:nvPr/>
        </p:nvSpPr>
        <p:spPr>
          <a:xfrm>
            <a:off x="822960" y="960120"/>
            <a:ext cx="6858000" cy="274320"/>
          </a:xfrm>
          <a:prstGeom prst="rect">
            <a:avLst/>
          </a:prstGeom>
          <a:noFill/>
          <a:ln/>
        </p:spPr>
        <p:txBody>
          <a:bodyPr wrap="square" lIns="0" tIns="0" rIns="0" bIns="0" rtlCol="0" anchor="ctr"/>
          <a:lstStyle/>
          <a:p>
            <a:pPr indent="0" marL="0">
              <a:buNone/>
            </a:pPr>
            <a:r>
              <a:rPr lang="en-US" sz="1100" spc="200" kern="0" dirty="0">
                <a:solidFill>
                  <a:srgbClr val="0B5CAD"/>
                </a:solidFill>
                <a:latin typeface="Segoe UI Semibold" pitchFamily="34" charset="0"/>
                <a:ea typeface="Segoe UI Semibold" pitchFamily="34" charset="-122"/>
                <a:cs typeface="Segoe UI Semibold" pitchFamily="34" charset="-120"/>
              </a:rPr>
              <a:t>CLINE AI BUILDER HACKATHON  ·  ROUND 2</a:t>
            </a:r>
            <a:endParaRPr lang="en-US" sz="1100" dirty="0"/>
          </a:p>
        </p:txBody>
      </p:sp>
      <p:sp>
        <p:nvSpPr>
          <p:cNvPr id="6" name="Text 3"/>
          <p:cNvSpPr/>
          <p:nvPr/>
        </p:nvSpPr>
        <p:spPr>
          <a:xfrm>
            <a:off x="822960" y="1280160"/>
            <a:ext cx="6949440" cy="1005840"/>
          </a:xfrm>
          <a:prstGeom prst="rect">
            <a:avLst/>
          </a:prstGeom>
          <a:noFill/>
          <a:ln/>
        </p:spPr>
        <p:txBody>
          <a:bodyPr wrap="square" lIns="0" tIns="0" rIns="0" bIns="0" rtlCol="0" anchor="ctr"/>
          <a:lstStyle/>
          <a:p>
            <a:pPr indent="0" marL="0">
              <a:buNone/>
            </a:pPr>
            <a:r>
              <a:rPr lang="en-US" sz="5600" dirty="0">
                <a:solidFill>
                  <a:srgbClr val="1B1F24"/>
                </a:solidFill>
                <a:latin typeface="Segoe UI Semibold" pitchFamily="34" charset="0"/>
                <a:ea typeface="Segoe UI Semibold" pitchFamily="34" charset="-122"/>
                <a:cs typeface="Segoe UI Semibold" pitchFamily="34" charset="-120"/>
              </a:rPr>
              <a:t>Nyaya-Ledger</a:t>
            </a:r>
            <a:endParaRPr lang="en-US" sz="5600" dirty="0"/>
          </a:p>
        </p:txBody>
      </p:sp>
      <p:sp>
        <p:nvSpPr>
          <p:cNvPr id="7" name="Text 4"/>
          <p:cNvSpPr/>
          <p:nvPr/>
        </p:nvSpPr>
        <p:spPr>
          <a:xfrm>
            <a:off x="822960" y="2286000"/>
            <a:ext cx="6858000" cy="320040"/>
          </a:xfrm>
          <a:prstGeom prst="rect">
            <a:avLst/>
          </a:prstGeom>
          <a:noFill/>
          <a:ln/>
        </p:spPr>
        <p:txBody>
          <a:bodyPr wrap="square" lIns="0" tIns="0" rIns="0" bIns="0" rtlCol="0" anchor="ctr"/>
          <a:lstStyle/>
          <a:p>
            <a:pPr indent="0" marL="0">
              <a:buNone/>
            </a:pPr>
            <a:r>
              <a:rPr lang="en-US" sz="1400" dirty="0">
                <a:solidFill>
                  <a:srgbClr val="5B6470"/>
                </a:solidFill>
                <a:latin typeface="Segoe UI" pitchFamily="34" charset="0"/>
                <a:ea typeface="Segoe UI" pitchFamily="34" charset="-122"/>
                <a:cs typeface="Segoe UI" pitchFamily="34" charset="-120"/>
              </a:rPr>
              <a:t>Nyaya (</a:t>
            </a:r>
            <a:pPr indent="0" marL="0">
              <a:buNone/>
            </a:pPr>
            <a:r>
              <a:rPr lang="en-US" sz="1400" dirty="0">
                <a:solidFill>
                  <a:srgbClr val="5B6470"/>
                </a:solidFill>
                <a:latin typeface="Nirmala UI" pitchFamily="34" charset="0"/>
                <a:ea typeface="Nirmala UI" pitchFamily="34" charset="-122"/>
                <a:cs typeface="Nirmala UI" pitchFamily="34" charset="-120"/>
              </a:rPr>
              <a:t>न्याय</a:t>
            </a:r>
            <a:pPr indent="0" marL="0">
              <a:buNone/>
            </a:pPr>
            <a:r>
              <a:rPr lang="en-US" sz="1400" dirty="0">
                <a:solidFill>
                  <a:srgbClr val="5B6470"/>
                </a:solidFill>
                <a:latin typeface="Segoe UI" pitchFamily="34" charset="0"/>
                <a:ea typeface="Segoe UI" pitchFamily="34" charset="-122"/>
                <a:cs typeface="Segoe UI" pitchFamily="34" charset="-120"/>
              </a:rPr>
              <a:t> / </a:t>
            </a:r>
            <a:pPr indent="0" marL="0">
              <a:buNone/>
            </a:pPr>
            <a:r>
              <a:rPr lang="en-US" sz="1400" dirty="0">
                <a:solidFill>
                  <a:srgbClr val="5B6470"/>
                </a:solidFill>
                <a:latin typeface="Nirmala UI" pitchFamily="34" charset="0"/>
                <a:ea typeface="Nirmala UI" pitchFamily="34" charset="-122"/>
                <a:cs typeface="Nirmala UI" pitchFamily="34" charset="-120"/>
              </a:rPr>
              <a:t>ನ್ಯಾಯ</a:t>
            </a:r>
            <a:pPr indent="0" marL="0">
              <a:buNone/>
            </a:pPr>
            <a:r>
              <a:rPr lang="en-US" sz="1400" dirty="0">
                <a:solidFill>
                  <a:srgbClr val="5B6470"/>
                </a:solidFill>
                <a:latin typeface="Segoe UI" pitchFamily="34" charset="0"/>
                <a:ea typeface="Segoe UI" pitchFamily="34" charset="-122"/>
                <a:cs typeface="Segoe UI" pitchFamily="34" charset="-120"/>
              </a:rPr>
              <a:t>) means justice.</a:t>
            </a:r>
            <a:endParaRPr lang="en-US" sz="1400" dirty="0"/>
          </a:p>
        </p:txBody>
      </p:sp>
      <p:sp>
        <p:nvSpPr>
          <p:cNvPr id="8" name="Text 5"/>
          <p:cNvSpPr/>
          <p:nvPr/>
        </p:nvSpPr>
        <p:spPr>
          <a:xfrm>
            <a:off x="822960" y="2788920"/>
            <a:ext cx="6858000" cy="1188720"/>
          </a:xfrm>
          <a:prstGeom prst="rect">
            <a:avLst/>
          </a:prstGeom>
          <a:noFill/>
          <a:ln/>
        </p:spPr>
        <p:txBody>
          <a:bodyPr wrap="square" lIns="0" tIns="0" rIns="0" bIns="0" rtlCol="0" anchor="t"/>
          <a:lstStyle/>
          <a:p>
            <a:pPr indent="0" marL="0">
              <a:lnSpc>
                <a:spcPct val="105000"/>
              </a:lnSpc>
              <a:buNone/>
            </a:pPr>
            <a:r>
              <a:rPr lang="en-US" sz="2200" dirty="0">
                <a:solidFill>
                  <a:srgbClr val="1B1F24"/>
                </a:solidFill>
                <a:latin typeface="Segoe UI Light" pitchFamily="34" charset="0"/>
                <a:ea typeface="Segoe UI Light" pitchFamily="34" charset="-122"/>
                <a:cs typeface="Segoe UI Light" pitchFamily="34" charset="-120"/>
              </a:rPr>
              <a:t>Helps India's gig workers turn the payout screenshots and bank SMS on their phone into a checked, law-grounded grievance they can file.</a:t>
            </a:r>
            <a:endParaRPr lang="en-US" sz="2200" dirty="0"/>
          </a:p>
        </p:txBody>
      </p:sp>
      <p:sp>
        <p:nvSpPr>
          <p:cNvPr id="9" name="Text 6"/>
          <p:cNvSpPr/>
          <p:nvPr/>
        </p:nvSpPr>
        <p:spPr>
          <a:xfrm>
            <a:off x="822960" y="4206240"/>
            <a:ext cx="1984980" cy="329184"/>
          </a:xfrm>
          <a:prstGeom prst="roundRect">
            <a:avLst>
              <a:gd name="adj" fmla="val 50000"/>
            </a:avLst>
          </a:prstGeom>
          <a:solidFill>
            <a:srgbClr val="0B5CAD"/>
          </a:solidFill>
          <a:ln>
            <a:solidFill>
              <a:srgbClr val="FFFFFF">
                <a:alpha val="0"/>
              </a:srgbClr>
            </a:solidFill>
          </a:ln>
        </p:spPr>
        <p:txBody>
          <a:bodyPr wrap="square" lIns="0" tIns="0" rIns="0" bIns="0" rtlCol="0" anchor="ctr"/>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Cline SDK agent inside</a:t>
            </a:r>
            <a:endParaRPr lang="en-US" sz="1100" dirty="0"/>
          </a:p>
        </p:txBody>
      </p:sp>
      <p:sp>
        <p:nvSpPr>
          <p:cNvPr id="10" name="Text 7"/>
          <p:cNvSpPr/>
          <p:nvPr/>
        </p:nvSpPr>
        <p:spPr>
          <a:xfrm>
            <a:off x="2917668" y="4206240"/>
            <a:ext cx="2506005" cy="329184"/>
          </a:xfrm>
          <a:prstGeom prst="roundRect">
            <a:avLst>
              <a:gd name="adj" fmla="val 50000"/>
            </a:avLst>
          </a:prstGeom>
          <a:solidFill>
            <a:srgbClr val="EAF2FB"/>
          </a:solidFill>
          <a:ln>
            <a:solidFill>
              <a:srgbClr val="FFFFFF">
                <a:alpha val="0"/>
              </a:srgbClr>
            </a:solidFill>
          </a:ln>
        </p:spPr>
        <p:txBody>
          <a:bodyPr wrap="square" lIns="0" tIns="0" rIns="0" bIns="0" rtlCol="0" anchor="ctr"/>
          <a:lstStyle/>
          <a:p>
            <a:pPr algn="ctr" indent="0" marL="0">
              <a:buNone/>
            </a:pPr>
            <a:r>
              <a:rPr lang="en-US" sz="1100" dirty="0">
                <a:solidFill>
                  <a:srgbClr val="0B5CAD"/>
                </a:solidFill>
                <a:latin typeface="Segoe UI" pitchFamily="34" charset="0"/>
                <a:ea typeface="Segoe UI" pitchFamily="34" charset="-122"/>
                <a:cs typeface="Segoe UI" pitchFamily="34" charset="-120"/>
              </a:rPr>
              <a:t>Built to scale state by state</a:t>
            </a:r>
            <a:endParaRPr lang="en-US" sz="1100" dirty="0"/>
          </a:p>
        </p:txBody>
      </p:sp>
      <p:sp>
        <p:nvSpPr>
          <p:cNvPr id="11" name="Text 8"/>
          <p:cNvSpPr/>
          <p:nvPr/>
        </p:nvSpPr>
        <p:spPr>
          <a:xfrm>
            <a:off x="5533400" y="4206240"/>
            <a:ext cx="2208276" cy="329184"/>
          </a:xfrm>
          <a:prstGeom prst="roundRect">
            <a:avLst>
              <a:gd name="adj" fmla="val 50000"/>
            </a:avLst>
          </a:prstGeom>
          <a:solidFill>
            <a:srgbClr val="EAF2FB"/>
          </a:solidFill>
          <a:ln>
            <a:solidFill>
              <a:srgbClr val="FFFFFF">
                <a:alpha val="0"/>
              </a:srgbClr>
            </a:solidFill>
          </a:ln>
        </p:spPr>
        <p:txBody>
          <a:bodyPr wrap="square" lIns="0" tIns="0" rIns="0" bIns="0" rtlCol="0" anchor="ctr"/>
          <a:lstStyle/>
          <a:p>
            <a:pPr algn="ctr" indent="0" marL="0">
              <a:buNone/>
            </a:pPr>
            <a:r>
              <a:rPr lang="en-US" sz="1100" dirty="0">
                <a:solidFill>
                  <a:srgbClr val="0B5CAD"/>
                </a:solidFill>
                <a:latin typeface="Segoe UI" pitchFamily="34" charset="0"/>
                <a:ea typeface="Segoe UI" pitchFamily="34" charset="-122"/>
                <a:cs typeface="Segoe UI" pitchFamily="34" charset="-120"/>
              </a:rPr>
              <a:t>Kannada · Hindi · English</a:t>
            </a:r>
            <a:endParaRPr lang="en-US" sz="1100" dirty="0"/>
          </a:p>
        </p:txBody>
      </p:sp>
      <p:sp>
        <p:nvSpPr>
          <p:cNvPr id="12" name="Shape 9"/>
          <p:cNvSpPr/>
          <p:nvPr/>
        </p:nvSpPr>
        <p:spPr>
          <a:xfrm>
            <a:off x="822960" y="4983480"/>
            <a:ext cx="6766560" cy="0"/>
          </a:xfrm>
          <a:prstGeom prst="line">
            <a:avLst/>
          </a:prstGeom>
          <a:noFill/>
          <a:ln w="9525">
            <a:solidFill>
              <a:srgbClr val="D9DEE4"/>
            </a:solidFill>
            <a:prstDash val="solid"/>
          </a:ln>
        </p:spPr>
      </p:sp>
      <p:sp>
        <p:nvSpPr>
          <p:cNvPr id="13" name="Text 10"/>
          <p:cNvSpPr/>
          <p:nvPr/>
        </p:nvSpPr>
        <p:spPr>
          <a:xfrm>
            <a:off x="822960" y="5120640"/>
            <a:ext cx="6766560" cy="1005840"/>
          </a:xfrm>
          <a:prstGeom prst="rect">
            <a:avLst/>
          </a:prstGeom>
          <a:noFill/>
          <a:ln/>
        </p:spPr>
        <p:txBody>
          <a:bodyPr wrap="square" lIns="0" tIns="0" rIns="0" bIns="0" rtlCol="0" anchor="t"/>
          <a:lstStyle/>
          <a:p>
            <a:pPr indent="0" marL="0">
              <a:spcAft>
                <a:spcPts val="400"/>
              </a:spcAft>
              <a:buNone/>
            </a:pPr>
            <a:r>
              <a:rPr lang="en-US" sz="1300" dirty="0">
                <a:solidFill>
                  <a:srgbClr val="1B1F24"/>
                </a:solidFill>
                <a:latin typeface="Segoe UI Semibold" pitchFamily="34" charset="0"/>
                <a:ea typeface="Segoe UI Semibold" pitchFamily="34" charset="-122"/>
                <a:cs typeface="Segoe UI Semibold" pitchFamily="34" charset="-120"/>
              </a:rPr>
              <a:t>Devansh Jangid  ·  Debasis Patnaik</a:t>
            </a:r>
            <a:endParaRPr lang="en-US" sz="1300" dirty="0"/>
          </a:p>
          <a:p>
            <a:pPr indent="0" marL="0">
              <a:spcAft>
                <a:spcPts val="400"/>
              </a:spcAft>
              <a:buNone/>
            </a:pPr>
            <a:r>
              <a:rPr lang="en-US" sz="1150" dirty="0">
                <a:solidFill>
                  <a:srgbClr val="5B6470"/>
                </a:solidFill>
                <a:latin typeface="Segoe UI" pitchFamily="34" charset="0"/>
                <a:ea typeface="Segoe UI" pitchFamily="34" charset="-122"/>
                <a:cs typeface="Segoe UI" pitchFamily="34" charset="-120"/>
              </a:rPr>
              <a:t>Live  </a:t>
            </a:r>
            <a:pPr indent="0" marL="0">
              <a:spcAft>
                <a:spcPts val="400"/>
              </a:spcAft>
              <a:buNone/>
            </a:pPr>
            <a:r>
              <a:rPr lang="en-US" sz="1150" u="sng" dirty="0">
                <a:solidFill>
                  <a:srgbClr val="0B5CAD"/>
                </a:solidFill>
                <a:latin typeface="Segoe UI" pitchFamily="34" charset="0"/>
                <a:ea typeface="Segoe UI" pitchFamily="34" charset="-122"/>
                <a:cs typeface="Segoe U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nyaya-ledger.onrender.com</a:t>
            </a:r>
            <a:endParaRPr lang="en-US" sz="1300" dirty="0"/>
          </a:p>
          <a:p>
            <a:pPr indent="0" marL="0">
              <a:spcAft>
                <a:spcPts val="400"/>
              </a:spcAft>
              <a:buNone/>
            </a:pPr>
            <a:r>
              <a:rPr lang="en-US" sz="1150" dirty="0">
                <a:solidFill>
                  <a:srgbClr val="5B6470"/>
                </a:solidFill>
                <a:latin typeface="Segoe UI" pitchFamily="34" charset="0"/>
                <a:ea typeface="Segoe UI" pitchFamily="34" charset="-122"/>
                <a:cs typeface="Segoe UI" pitchFamily="34" charset="-120"/>
              </a:rPr>
              <a:t>Code  </a:t>
            </a:r>
            <a:pPr indent="0" marL="0">
              <a:spcAft>
                <a:spcPts val="400"/>
              </a:spcAft>
              <a:buNone/>
            </a:pPr>
            <a:r>
              <a:rPr lang="en-US" sz="1150" u="sng" dirty="0">
                <a:solidFill>
                  <a:srgbClr val="0B5CAD"/>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github.com/devanshjangid2005/nyaya-ledger</a:t>
            </a:r>
            <a:endParaRPr lang="en-US" sz="1300" dirty="0"/>
          </a:p>
        </p:txBody>
      </p:sp>
      <p:pic>
        <p:nvPicPr>
          <p:cNvPr id="14" name="Image 1" descr="Hero screenshot">    </p:cNvPr>
          <p:cNvPicPr>
            <a:picLocks noChangeAspect="1"/>
          </p:cNvPicPr>
          <p:nvPr/>
        </p:nvPicPr>
        <p:blipFill>
          <a:blip r:embed="rId4"/>
          <a:stretch>
            <a:fillRect/>
          </a:stretch>
        </p:blipFill>
        <p:spPr>
          <a:xfrm>
            <a:off x="8366760" y="914400"/>
            <a:ext cx="2880360" cy="5101125"/>
          </a:xfrm>
          <a:prstGeom prst="rect">
            <a:avLst/>
          </a:prstGeom>
        </p:spPr>
      </p:pic>
      <p:sp>
        <p:nvSpPr>
          <p:cNvPr id="15" name="Shape 11"/>
          <p:cNvSpPr/>
          <p:nvPr/>
        </p:nvSpPr>
        <p:spPr>
          <a:xfrm>
            <a:off x="8366760" y="914400"/>
            <a:ext cx="2880360" cy="5101125"/>
          </a:xfrm>
          <a:prstGeom prst="rect">
            <a:avLst/>
          </a:prstGeom>
          <a:solidFill>
            <a:srgbClr val="FFFFFF">
              <a:alpha val="0"/>
            </a:srgbClr>
          </a:solidFill>
          <a:ln w="9525">
            <a:solidFill>
              <a:srgbClr val="D9DEE4"/>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line logo">    </p:cNvPr>
          <p:cNvPicPr>
            <a:picLocks noChangeAspect="1"/>
          </p:cNvPicPr>
          <p:nvPr/>
        </p:nvPicPr>
        <p:blipFill>
          <a:blip r:embed="rId1"/>
          <a:stretch>
            <a:fillRect/>
          </a:stretch>
        </p:blipFill>
        <p:spPr>
          <a:xfrm>
            <a:off x="10537269" y="402336"/>
            <a:ext cx="1105786" cy="237744"/>
          </a:xfrm>
          <a:prstGeom prst="rect">
            <a:avLst/>
          </a:prstGeom>
        </p:spPr>
      </p:pic>
      <p:sp>
        <p:nvSpPr>
          <p:cNvPr id="3" name="Text 0"/>
          <p:cNvSpPr/>
          <p:nvPr/>
        </p:nvSpPr>
        <p:spPr>
          <a:xfrm>
            <a:off x="9622869" y="402336"/>
            <a:ext cx="822960" cy="237744"/>
          </a:xfrm>
          <a:prstGeom prst="rect">
            <a:avLst/>
          </a:prstGeom>
          <a:noFill/>
          <a:ln/>
        </p:spPr>
        <p:txBody>
          <a:bodyPr wrap="square" lIns="0" tIns="0" rIns="0" bIns="0" rtlCol="0" anchor="ctr"/>
          <a:lstStyle/>
          <a:p>
            <a:pPr algn="r" indent="0" marL="0">
              <a:buNone/>
            </a:pPr>
            <a:r>
              <a:rPr lang="en-US" sz="900" dirty="0">
                <a:solidFill>
                  <a:srgbClr val="5B6470"/>
                </a:solidFill>
                <a:latin typeface="Segoe UI" pitchFamily="34" charset="0"/>
                <a:ea typeface="Segoe UI" pitchFamily="34" charset="-122"/>
                <a:cs typeface="Segoe UI" pitchFamily="34" charset="-120"/>
              </a:rPr>
              <a:t>Built with</a:t>
            </a:r>
            <a:endParaRPr lang="en-US" sz="900" dirty="0"/>
          </a:p>
        </p:txBody>
      </p:sp>
      <p:sp>
        <p:nvSpPr>
          <p:cNvPr id="4" name="Text 1"/>
          <p:cNvSpPr/>
          <p:nvPr/>
        </p:nvSpPr>
        <p:spPr>
          <a:xfrm>
            <a:off x="548640" y="384048"/>
            <a:ext cx="11094415" cy="274320"/>
          </a:xfrm>
          <a:prstGeom prst="rect">
            <a:avLst/>
          </a:prstGeom>
          <a:noFill/>
          <a:ln/>
        </p:spPr>
        <p:txBody>
          <a:bodyPr wrap="square" lIns="0" tIns="0" rIns="0" bIns="0" rtlCol="0" anchor="ctr"/>
          <a:lstStyle/>
          <a:p>
            <a:pPr indent="0" marL="0">
              <a:buNone/>
            </a:pPr>
            <a:r>
              <a:rPr lang="en-US" sz="1100" spc="200" kern="0" dirty="0">
                <a:solidFill>
                  <a:srgbClr val="0B5CAD"/>
                </a:solidFill>
                <a:latin typeface="Segoe UI Semibold" pitchFamily="34" charset="0"/>
                <a:ea typeface="Segoe UI Semibold" pitchFamily="34" charset="-122"/>
                <a:cs typeface="Segoe UI Semibold" pitchFamily="34" charset="-120"/>
              </a:rPr>
              <a:t>02   THE PROBLEM</a:t>
            </a:r>
            <a:endParaRPr lang="en-US" sz="1100" dirty="0"/>
          </a:p>
        </p:txBody>
      </p:sp>
      <p:sp>
        <p:nvSpPr>
          <p:cNvPr id="5" name="Text 2"/>
          <p:cNvSpPr/>
          <p:nvPr/>
        </p:nvSpPr>
        <p:spPr>
          <a:xfrm>
            <a:off x="548640" y="676656"/>
            <a:ext cx="11094415" cy="685800"/>
          </a:xfrm>
          <a:prstGeom prst="rect">
            <a:avLst/>
          </a:prstGeom>
          <a:noFill/>
          <a:ln/>
        </p:spPr>
        <p:txBody>
          <a:bodyPr wrap="square" lIns="0" tIns="0" rIns="0" bIns="0" rtlCol="0" anchor="t"/>
          <a:lstStyle/>
          <a:p>
            <a:pPr indent="0" marL="0">
              <a:buNone/>
            </a:pPr>
            <a:r>
              <a:rPr lang="en-US" sz="2800" dirty="0">
                <a:solidFill>
                  <a:srgbClr val="1B1F24"/>
                </a:solidFill>
                <a:latin typeface="Segoe UI Semibold" pitchFamily="34" charset="0"/>
                <a:ea typeface="Segoe UI Semibold" pitchFamily="34" charset="-122"/>
                <a:cs typeface="Segoe UI Semibold" pitchFamily="34" charset="-120"/>
              </a:rPr>
              <a:t>Paid, penalised and blocked by systems they can't inspect</a:t>
            </a:r>
            <a:endParaRPr lang="en-US" sz="2800" dirty="0"/>
          </a:p>
        </p:txBody>
      </p:sp>
      <p:sp>
        <p:nvSpPr>
          <p:cNvPr id="6" name="Shape 3"/>
          <p:cNvSpPr/>
          <p:nvPr/>
        </p:nvSpPr>
        <p:spPr>
          <a:xfrm>
            <a:off x="548640" y="6437376"/>
            <a:ext cx="82296" cy="82296"/>
          </a:xfrm>
          <a:prstGeom prst="rect">
            <a:avLst/>
          </a:prstGeom>
          <a:solidFill>
            <a:srgbClr val="0B5CAD"/>
          </a:solidFill>
          <a:ln w="12700">
            <a:solidFill>
              <a:srgbClr val="FFFFFF">
                <a:alpha val="0"/>
              </a:srgbClr>
            </a:solidFill>
            <a:prstDash val="solid"/>
          </a:ln>
        </p:spPr>
      </p:sp>
      <p:sp>
        <p:nvSpPr>
          <p:cNvPr id="7" name="Text 4"/>
          <p:cNvSpPr/>
          <p:nvPr/>
        </p:nvSpPr>
        <p:spPr>
          <a:xfrm>
            <a:off x="731520" y="6364224"/>
            <a:ext cx="5486400" cy="228600"/>
          </a:xfrm>
          <a:prstGeom prst="rect">
            <a:avLst/>
          </a:prstGeom>
          <a:noFill/>
          <a:ln/>
        </p:spPr>
        <p:txBody>
          <a:bodyPr wrap="square" lIns="0" tIns="0" rIns="0" bIns="0" rtlCol="0" anchor="ctr"/>
          <a:lstStyle/>
          <a:p>
            <a:pPr indent="0" marL="0">
              <a:buNone/>
            </a:pPr>
            <a:r>
              <a:rPr lang="en-US" sz="900" dirty="0">
                <a:solidFill>
                  <a:srgbClr val="5B6470"/>
                </a:solidFill>
                <a:latin typeface="Segoe UI" pitchFamily="34" charset="0"/>
                <a:ea typeface="Segoe UI" pitchFamily="34" charset="-122"/>
                <a:cs typeface="Segoe UI" pitchFamily="34" charset="-120"/>
              </a:rPr>
              <a:t>Nyaya-Ledger  ·  Cline AI Builder Hackathon</a:t>
            </a:r>
            <a:endParaRPr lang="en-US" sz="900" dirty="0"/>
          </a:p>
        </p:txBody>
      </p:sp>
      <p:sp>
        <p:nvSpPr>
          <p:cNvPr id="8" name="Text 5"/>
          <p:cNvSpPr/>
          <p:nvPr/>
        </p:nvSpPr>
        <p:spPr>
          <a:xfrm>
            <a:off x="10271455" y="6364224"/>
            <a:ext cx="1371600" cy="228600"/>
          </a:xfrm>
          <a:prstGeom prst="rect">
            <a:avLst/>
          </a:prstGeom>
          <a:noFill/>
          <a:ln/>
        </p:spPr>
        <p:txBody>
          <a:bodyPr wrap="square" lIns="0" tIns="0" rIns="0" bIns="0" rtlCol="0" anchor="ctr"/>
          <a:lstStyle/>
          <a:p>
            <a:pPr algn="r" indent="0" marL="0">
              <a:buNone/>
            </a:pPr>
            <a:r>
              <a:rPr lang="en-US" sz="900" dirty="0">
                <a:solidFill>
                  <a:srgbClr val="5B6470"/>
                </a:solidFill>
                <a:latin typeface="Segoe UI" pitchFamily="34" charset="0"/>
                <a:ea typeface="Segoe UI" pitchFamily="34" charset="-122"/>
                <a:cs typeface="Segoe UI" pitchFamily="34" charset="-120"/>
              </a:rPr>
              <a:t>2 / 11</a:t>
            </a:r>
            <a:endParaRPr lang="en-US" sz="900" dirty="0"/>
          </a:p>
        </p:txBody>
      </p:sp>
      <p:sp>
        <p:nvSpPr>
          <p:cNvPr id="9" name="Text 6"/>
          <p:cNvSpPr/>
          <p:nvPr/>
        </p:nvSpPr>
        <p:spPr>
          <a:xfrm>
            <a:off x="548640" y="1554480"/>
            <a:ext cx="3515258" cy="731520"/>
          </a:xfrm>
          <a:prstGeom prst="rect">
            <a:avLst/>
          </a:prstGeom>
          <a:noFill/>
          <a:ln/>
        </p:spPr>
        <p:txBody>
          <a:bodyPr wrap="square" lIns="0" tIns="0" rIns="0" bIns="0" rtlCol="0" anchor="b"/>
          <a:lstStyle/>
          <a:p>
            <a:pPr indent="0" marL="0">
              <a:buNone/>
            </a:pPr>
            <a:r>
              <a:rPr lang="en-US" sz="3400" dirty="0">
                <a:solidFill>
                  <a:srgbClr val="1B1F24"/>
                </a:solidFill>
                <a:latin typeface="Segoe UI Semibold" pitchFamily="34" charset="0"/>
                <a:ea typeface="Segoe UI Semibold" pitchFamily="34" charset="-122"/>
                <a:cs typeface="Segoe UI Semibold" pitchFamily="34" charset="-120"/>
              </a:rPr>
              <a:t>7.7M → 23.5M</a:t>
            </a:r>
            <a:endParaRPr lang="en-US" sz="3400" dirty="0"/>
          </a:p>
        </p:txBody>
      </p:sp>
      <p:sp>
        <p:nvSpPr>
          <p:cNvPr id="10" name="Text 7"/>
          <p:cNvSpPr/>
          <p:nvPr/>
        </p:nvSpPr>
        <p:spPr>
          <a:xfrm>
            <a:off x="548640" y="2340864"/>
            <a:ext cx="3515258" cy="640080"/>
          </a:xfrm>
          <a:prstGeom prst="rect">
            <a:avLst/>
          </a:prstGeom>
          <a:noFill/>
          <a:ln/>
        </p:spPr>
        <p:txBody>
          <a:bodyPr wrap="square" lIns="0" tIns="0" rIns="0" bIns="0" rtlCol="0" anchor="t"/>
          <a:lstStyle/>
          <a:p>
            <a:pPr indent="0" marL="0">
              <a:buNone/>
            </a:pPr>
            <a:r>
              <a:rPr lang="en-US" sz="1150" dirty="0">
                <a:solidFill>
                  <a:srgbClr val="5B6470"/>
                </a:solidFill>
                <a:latin typeface="Segoe UI" pitchFamily="34" charset="0"/>
                <a:ea typeface="Segoe UI" pitchFamily="34" charset="-122"/>
                <a:cs typeface="Segoe UI" pitchFamily="34" charset="-120"/>
              </a:rPr>
              <a:t>gig workers in India, 2020-21 → projected 2029-30 (NITI Aayog)</a:t>
            </a:r>
            <a:endParaRPr lang="en-US" sz="1150" dirty="0"/>
          </a:p>
        </p:txBody>
      </p:sp>
      <p:sp>
        <p:nvSpPr>
          <p:cNvPr id="11" name="Text 8"/>
          <p:cNvSpPr/>
          <p:nvPr/>
        </p:nvSpPr>
        <p:spPr>
          <a:xfrm>
            <a:off x="4338218" y="1554480"/>
            <a:ext cx="3515258" cy="731520"/>
          </a:xfrm>
          <a:prstGeom prst="rect">
            <a:avLst/>
          </a:prstGeom>
          <a:noFill/>
          <a:ln/>
        </p:spPr>
        <p:txBody>
          <a:bodyPr wrap="square" lIns="0" tIns="0" rIns="0" bIns="0" rtlCol="0" anchor="b"/>
          <a:lstStyle/>
          <a:p>
            <a:pPr indent="0" marL="0">
              <a:buNone/>
            </a:pPr>
            <a:r>
              <a:rPr lang="en-US" sz="3400" dirty="0">
                <a:solidFill>
                  <a:srgbClr val="1B1F24"/>
                </a:solidFill>
                <a:latin typeface="Segoe UI Semibold" pitchFamily="34" charset="0"/>
                <a:ea typeface="Segoe UI Semibold" pitchFamily="34" charset="-122"/>
                <a:cs typeface="Segoe UI Semibold" pitchFamily="34" charset="-120"/>
              </a:rPr>
              <a:t>~7 lakh</a:t>
            </a:r>
            <a:endParaRPr lang="en-US" sz="3400" dirty="0"/>
          </a:p>
        </p:txBody>
      </p:sp>
      <p:sp>
        <p:nvSpPr>
          <p:cNvPr id="12" name="Text 9"/>
          <p:cNvSpPr/>
          <p:nvPr/>
        </p:nvSpPr>
        <p:spPr>
          <a:xfrm>
            <a:off x="4338218" y="2340864"/>
            <a:ext cx="3515258" cy="640080"/>
          </a:xfrm>
          <a:prstGeom prst="rect">
            <a:avLst/>
          </a:prstGeom>
          <a:noFill/>
          <a:ln/>
        </p:spPr>
        <p:txBody>
          <a:bodyPr wrap="square" lIns="0" tIns="0" rIns="0" bIns="0" rtlCol="0" anchor="t"/>
          <a:lstStyle/>
          <a:p>
            <a:pPr indent="0" marL="0">
              <a:buNone/>
            </a:pPr>
            <a:r>
              <a:rPr lang="en-US" sz="1150" dirty="0">
                <a:solidFill>
                  <a:srgbClr val="5B6470"/>
                </a:solidFill>
                <a:latin typeface="Segoe UI" pitchFamily="34" charset="0"/>
                <a:ea typeface="Segoe UI" pitchFamily="34" charset="-122"/>
                <a:cs typeface="Segoe UI" pitchFamily="34" charset="-120"/>
              </a:rPr>
              <a:t>active gig workers reported by platforms in Karnataka, April 2026</a:t>
            </a:r>
            <a:endParaRPr lang="en-US" sz="1150" dirty="0"/>
          </a:p>
        </p:txBody>
      </p:sp>
      <p:sp>
        <p:nvSpPr>
          <p:cNvPr id="13" name="Text 10"/>
          <p:cNvSpPr/>
          <p:nvPr/>
        </p:nvSpPr>
        <p:spPr>
          <a:xfrm>
            <a:off x="8127797" y="1554480"/>
            <a:ext cx="3515258" cy="731520"/>
          </a:xfrm>
          <a:prstGeom prst="rect">
            <a:avLst/>
          </a:prstGeom>
          <a:noFill/>
          <a:ln/>
        </p:spPr>
        <p:txBody>
          <a:bodyPr wrap="square" lIns="0" tIns="0" rIns="0" bIns="0" rtlCol="0" anchor="b"/>
          <a:lstStyle/>
          <a:p>
            <a:pPr indent="0" marL="0">
              <a:buNone/>
            </a:pPr>
            <a:r>
              <a:rPr lang="en-US" sz="3400" dirty="0">
                <a:solidFill>
                  <a:srgbClr val="B42318"/>
                </a:solidFill>
                <a:latin typeface="Segoe UI Semibold" pitchFamily="34" charset="0"/>
                <a:ea typeface="Segoe UI Semibold" pitchFamily="34" charset="-122"/>
                <a:cs typeface="Segoe UI Semibold" pitchFamily="34" charset="-120"/>
              </a:rPr>
              <a:t>83% · 87%</a:t>
            </a:r>
            <a:endParaRPr lang="en-US" sz="3400" dirty="0"/>
          </a:p>
        </p:txBody>
      </p:sp>
      <p:sp>
        <p:nvSpPr>
          <p:cNvPr id="14" name="Text 11"/>
          <p:cNvSpPr/>
          <p:nvPr/>
        </p:nvSpPr>
        <p:spPr>
          <a:xfrm>
            <a:off x="8127797" y="2340864"/>
            <a:ext cx="3515258" cy="640080"/>
          </a:xfrm>
          <a:prstGeom prst="rect">
            <a:avLst/>
          </a:prstGeom>
          <a:noFill/>
          <a:ln/>
        </p:spPr>
        <p:txBody>
          <a:bodyPr wrap="square" lIns="0" tIns="0" rIns="0" bIns="0" rtlCol="0" anchor="t"/>
          <a:lstStyle/>
          <a:p>
            <a:pPr indent="0" marL="0">
              <a:buNone/>
            </a:pPr>
            <a:r>
              <a:rPr lang="en-US" sz="1150" dirty="0">
                <a:solidFill>
                  <a:srgbClr val="5B6470"/>
                </a:solidFill>
                <a:latin typeface="Segoe UI" pitchFamily="34" charset="0"/>
                <a:ea typeface="Segoe UI" pitchFamily="34" charset="-122"/>
                <a:cs typeface="Segoe UI" pitchFamily="34" charset="-120"/>
              </a:rPr>
              <a:t>of cab drivers · delivery workers say ID blocking or deactivation hurt them (PAIGAM 2024)</a:t>
            </a:r>
            <a:endParaRPr lang="en-US" sz="1150" dirty="0"/>
          </a:p>
        </p:txBody>
      </p:sp>
      <p:sp>
        <p:nvSpPr>
          <p:cNvPr id="15" name="Shape 12"/>
          <p:cNvSpPr/>
          <p:nvPr/>
        </p:nvSpPr>
        <p:spPr>
          <a:xfrm>
            <a:off x="548640" y="3291840"/>
            <a:ext cx="11094415" cy="0"/>
          </a:xfrm>
          <a:prstGeom prst="line">
            <a:avLst/>
          </a:prstGeom>
          <a:noFill/>
          <a:ln w="9525">
            <a:solidFill>
              <a:srgbClr val="D9DEE4"/>
            </a:solidFill>
            <a:prstDash val="solid"/>
          </a:ln>
        </p:spPr>
      </p:sp>
      <p:sp>
        <p:nvSpPr>
          <p:cNvPr id="16" name="Text 13"/>
          <p:cNvSpPr/>
          <p:nvPr/>
        </p:nvSpPr>
        <p:spPr>
          <a:xfrm>
            <a:off x="548640" y="3520440"/>
            <a:ext cx="5486400" cy="256032"/>
          </a:xfrm>
          <a:prstGeom prst="rect">
            <a:avLst/>
          </a:prstGeom>
          <a:noFill/>
          <a:ln/>
        </p:spPr>
        <p:txBody>
          <a:bodyPr wrap="square" lIns="0" tIns="0" rIns="0" bIns="0" rtlCol="0" anchor="ctr"/>
          <a:lstStyle/>
          <a:p>
            <a:pPr indent="0" marL="0">
              <a:buNone/>
            </a:pPr>
            <a:r>
              <a:rPr lang="en-US" sz="1050" spc="200" kern="0" dirty="0">
                <a:solidFill>
                  <a:srgbClr val="0B5CAD"/>
                </a:solidFill>
                <a:latin typeface="Segoe UI Semibold" pitchFamily="34" charset="0"/>
                <a:ea typeface="Segoe UI Semibold" pitchFamily="34" charset="-122"/>
                <a:cs typeface="Segoe UI Semibold" pitchFamily="34" charset="-120"/>
              </a:rPr>
              <a:t>WHAT A WORKER ACTUALLY SEES</a:t>
            </a:r>
            <a:endParaRPr lang="en-US" sz="1050" dirty="0"/>
          </a:p>
        </p:txBody>
      </p:sp>
      <p:sp>
        <p:nvSpPr>
          <p:cNvPr id="17" name="Shape 14"/>
          <p:cNvSpPr/>
          <p:nvPr/>
        </p:nvSpPr>
        <p:spPr>
          <a:xfrm>
            <a:off x="548640" y="3886200"/>
            <a:ext cx="3515258" cy="1143000"/>
          </a:xfrm>
          <a:prstGeom prst="roundRect">
            <a:avLst>
              <a:gd name="adj" fmla="val 6400"/>
            </a:avLst>
          </a:prstGeom>
          <a:solidFill>
            <a:srgbClr val="F6F7F9"/>
          </a:solidFill>
          <a:ln w="9525">
            <a:solidFill>
              <a:srgbClr val="D9DEE4"/>
            </a:solidFill>
            <a:prstDash val="solid"/>
          </a:ln>
        </p:spPr>
      </p:sp>
      <p:sp>
        <p:nvSpPr>
          <p:cNvPr id="18" name="Text 15"/>
          <p:cNvSpPr/>
          <p:nvPr/>
        </p:nvSpPr>
        <p:spPr>
          <a:xfrm>
            <a:off x="731520" y="3886200"/>
            <a:ext cx="3149498" cy="1143000"/>
          </a:xfrm>
          <a:prstGeom prst="rect">
            <a:avLst/>
          </a:prstGeom>
          <a:noFill/>
          <a:ln/>
        </p:spPr>
        <p:txBody>
          <a:bodyPr wrap="square" lIns="0" tIns="0" rIns="0" bIns="0" rtlCol="0" anchor="ctr"/>
          <a:lstStyle/>
          <a:p>
            <a:pPr indent="0" marL="0">
              <a:spcAft>
                <a:spcPts val="600"/>
              </a:spcAft>
              <a:buNone/>
            </a:pPr>
            <a:r>
              <a:rPr lang="en-US" sz="1400" dirty="0">
                <a:solidFill>
                  <a:srgbClr val="1B1F24"/>
                </a:solidFill>
                <a:latin typeface="Consolas" pitchFamily="34" charset="0"/>
                <a:ea typeface="Consolas" pitchFamily="34" charset="-122"/>
                <a:cs typeface="Consolas" pitchFamily="34" charset="-120"/>
              </a:rPr>
              <a:t>Adjustment   −₹180</a:t>
            </a:r>
            <a:endParaRPr lang="en-US" sz="1400" dirty="0"/>
          </a:p>
          <a:p>
            <a:pPr indent="0" marL="0">
              <a:spcAft>
                <a:spcPts val="600"/>
              </a:spcAft>
              <a:buNone/>
            </a:pPr>
            <a:r>
              <a:rPr lang="en-US" sz="1150" dirty="0">
                <a:solidFill>
                  <a:srgbClr val="5B6470"/>
                </a:solidFill>
                <a:latin typeface="Segoe UI" pitchFamily="34" charset="0"/>
                <a:ea typeface="Segoe UI" pitchFamily="34" charset="-122"/>
                <a:cs typeface="Segoe UI" pitchFamily="34" charset="-120"/>
              </a:rPr>
              <a:t>A deduction with no reason given</a:t>
            </a:r>
            <a:endParaRPr lang="en-US" sz="1400" dirty="0"/>
          </a:p>
        </p:txBody>
      </p:sp>
      <p:sp>
        <p:nvSpPr>
          <p:cNvPr id="19" name="Shape 16"/>
          <p:cNvSpPr/>
          <p:nvPr/>
        </p:nvSpPr>
        <p:spPr>
          <a:xfrm>
            <a:off x="4338218" y="3886200"/>
            <a:ext cx="3515258" cy="1143000"/>
          </a:xfrm>
          <a:prstGeom prst="roundRect">
            <a:avLst>
              <a:gd name="adj" fmla="val 6400"/>
            </a:avLst>
          </a:prstGeom>
          <a:solidFill>
            <a:srgbClr val="F6F7F9"/>
          </a:solidFill>
          <a:ln w="9525">
            <a:solidFill>
              <a:srgbClr val="D9DEE4"/>
            </a:solidFill>
            <a:prstDash val="solid"/>
          </a:ln>
        </p:spPr>
      </p:sp>
      <p:sp>
        <p:nvSpPr>
          <p:cNvPr id="20" name="Text 17"/>
          <p:cNvSpPr/>
          <p:nvPr/>
        </p:nvSpPr>
        <p:spPr>
          <a:xfrm>
            <a:off x="4521098" y="3886200"/>
            <a:ext cx="3149498" cy="1143000"/>
          </a:xfrm>
          <a:prstGeom prst="rect">
            <a:avLst/>
          </a:prstGeom>
          <a:noFill/>
          <a:ln/>
        </p:spPr>
        <p:txBody>
          <a:bodyPr wrap="square" lIns="0" tIns="0" rIns="0" bIns="0" rtlCol="0" anchor="ctr"/>
          <a:lstStyle/>
          <a:p>
            <a:pPr indent="0" marL="0">
              <a:spcAft>
                <a:spcPts val="600"/>
              </a:spcAft>
              <a:buNone/>
            </a:pPr>
            <a:r>
              <a:rPr lang="en-US" sz="1400" dirty="0">
                <a:solidFill>
                  <a:srgbClr val="1B1F24"/>
                </a:solidFill>
                <a:latin typeface="Consolas" pitchFamily="34" charset="0"/>
                <a:ea typeface="Consolas" pitchFamily="34" charset="-122"/>
                <a:cs typeface="Consolas" pitchFamily="34" charset="-120"/>
              </a:rPr>
              <a:t>App ₹6,105 · Bank ₹6,005</a:t>
            </a:r>
            <a:endParaRPr lang="en-US" sz="1400" dirty="0"/>
          </a:p>
          <a:p>
            <a:pPr indent="0" marL="0">
              <a:spcAft>
                <a:spcPts val="600"/>
              </a:spcAft>
              <a:buNone/>
            </a:pPr>
            <a:r>
              <a:rPr lang="en-US" sz="1150" dirty="0">
                <a:solidFill>
                  <a:srgbClr val="5B6470"/>
                </a:solidFill>
                <a:latin typeface="Segoe UI" pitchFamily="34" charset="0"/>
                <a:ea typeface="Segoe UI" pitchFamily="34" charset="-122"/>
                <a:cs typeface="Segoe UI" pitchFamily="34" charset="-120"/>
              </a:rPr>
              <a:t>Less money arrives than the app shows</a:t>
            </a:r>
            <a:endParaRPr lang="en-US" sz="1400" dirty="0"/>
          </a:p>
        </p:txBody>
      </p:sp>
      <p:sp>
        <p:nvSpPr>
          <p:cNvPr id="21" name="Shape 18"/>
          <p:cNvSpPr/>
          <p:nvPr/>
        </p:nvSpPr>
        <p:spPr>
          <a:xfrm>
            <a:off x="8127797" y="3886200"/>
            <a:ext cx="3515258" cy="1143000"/>
          </a:xfrm>
          <a:prstGeom prst="roundRect">
            <a:avLst>
              <a:gd name="adj" fmla="val 6400"/>
            </a:avLst>
          </a:prstGeom>
          <a:solidFill>
            <a:srgbClr val="F6F7F9"/>
          </a:solidFill>
          <a:ln w="9525">
            <a:solidFill>
              <a:srgbClr val="D9DEE4"/>
            </a:solidFill>
            <a:prstDash val="solid"/>
          </a:ln>
        </p:spPr>
      </p:sp>
      <p:sp>
        <p:nvSpPr>
          <p:cNvPr id="22" name="Text 19"/>
          <p:cNvSpPr/>
          <p:nvPr/>
        </p:nvSpPr>
        <p:spPr>
          <a:xfrm>
            <a:off x="8310677" y="3886200"/>
            <a:ext cx="3149498" cy="1143000"/>
          </a:xfrm>
          <a:prstGeom prst="rect">
            <a:avLst/>
          </a:prstGeom>
          <a:noFill/>
          <a:ln/>
        </p:spPr>
        <p:txBody>
          <a:bodyPr wrap="square" lIns="0" tIns="0" rIns="0" bIns="0" rtlCol="0" anchor="ctr"/>
          <a:lstStyle/>
          <a:p>
            <a:pPr indent="0" marL="0">
              <a:spcAft>
                <a:spcPts val="600"/>
              </a:spcAft>
              <a:buNone/>
            </a:pPr>
            <a:r>
              <a:rPr lang="en-US" sz="1400" dirty="0">
                <a:solidFill>
                  <a:srgbClr val="1B1F24"/>
                </a:solidFill>
                <a:latin typeface="Consolas" pitchFamily="34" charset="0"/>
                <a:ea typeface="Consolas" pitchFamily="34" charset="-122"/>
                <a:cs typeface="Consolas" pitchFamily="34" charset="-120"/>
              </a:rPr>
              <a:t>"Your ID has been blocked"</a:t>
            </a:r>
            <a:endParaRPr lang="en-US" sz="1400" dirty="0"/>
          </a:p>
          <a:p>
            <a:pPr indent="0" marL="0">
              <a:spcAft>
                <a:spcPts val="600"/>
              </a:spcAft>
              <a:buNone/>
            </a:pPr>
            <a:r>
              <a:rPr lang="en-US" sz="1150" dirty="0">
                <a:solidFill>
                  <a:srgbClr val="5B6470"/>
                </a:solidFill>
                <a:latin typeface="Segoe UI" pitchFamily="34" charset="0"/>
                <a:ea typeface="Segoe UI" pitchFamily="34" charset="-122"/>
                <a:cs typeface="Segoe UI" pitchFamily="34" charset="-120"/>
              </a:rPr>
              <a:t>No reason, effective the same day</a:t>
            </a:r>
            <a:endParaRPr lang="en-US" sz="1400" dirty="0"/>
          </a:p>
        </p:txBody>
      </p:sp>
      <p:sp>
        <p:nvSpPr>
          <p:cNvPr id="23" name="Text 20"/>
          <p:cNvSpPr/>
          <p:nvPr/>
        </p:nvSpPr>
        <p:spPr>
          <a:xfrm>
            <a:off x="548640" y="5303520"/>
            <a:ext cx="11094415" cy="548640"/>
          </a:xfrm>
          <a:prstGeom prst="rect">
            <a:avLst/>
          </a:prstGeom>
          <a:noFill/>
          <a:ln/>
        </p:spPr>
        <p:txBody>
          <a:bodyPr wrap="square" lIns="0" tIns="0" rIns="0" bIns="0" rtlCol="0" anchor="ctr"/>
          <a:lstStyle/>
          <a:p>
            <a:pPr indent="0" marL="0">
              <a:buNone/>
            </a:pPr>
            <a:r>
              <a:rPr lang="en-US" sz="2200" dirty="0">
                <a:solidFill>
                  <a:srgbClr val="1B1F24"/>
                </a:solidFill>
                <a:latin typeface="Segoe UI Semibold" pitchFamily="34" charset="0"/>
                <a:ea typeface="Segoe UI Semibold" pitchFamily="34" charset="-122"/>
                <a:cs typeface="Segoe UI Semibold" pitchFamily="34" charset="-120"/>
              </a:rPr>
              <a:t>The platform holds the data. </a:t>
            </a:r>
            <a:pPr indent="0" marL="0">
              <a:buNone/>
            </a:pPr>
            <a:r>
              <a:rPr lang="en-US" sz="2200" dirty="0">
                <a:solidFill>
                  <a:srgbClr val="0B5CAD"/>
                </a:solidFill>
                <a:latin typeface="Segoe UI Semibold" pitchFamily="34" charset="0"/>
                <a:ea typeface="Segoe UI Semibold" pitchFamily="34" charset="-122"/>
                <a:cs typeface="Segoe UI Semibold" pitchFamily="34" charset="-120"/>
              </a:rPr>
              <a:t>The worker holds a pile of screenshots.</a:t>
            </a:r>
            <a:endParaRPr lang="en-US" sz="2200" dirty="0"/>
          </a:p>
        </p:txBody>
      </p:sp>
      <p:sp>
        <p:nvSpPr>
          <p:cNvPr id="24" name="Text 21"/>
          <p:cNvSpPr/>
          <p:nvPr/>
        </p:nvSpPr>
        <p:spPr>
          <a:xfrm>
            <a:off x="548640" y="5897880"/>
            <a:ext cx="11094415" cy="274320"/>
          </a:xfrm>
          <a:prstGeom prst="rect">
            <a:avLst/>
          </a:prstGeom>
          <a:noFill/>
          <a:ln/>
        </p:spPr>
        <p:txBody>
          <a:bodyPr wrap="square" lIns="0" tIns="0" rIns="0" bIns="0" rtlCol="0" anchor="ctr"/>
          <a:lstStyle/>
          <a:p>
            <a:pPr indent="0" marL="0">
              <a:buNone/>
            </a:pPr>
            <a:r>
              <a:rPr lang="en-US" sz="900" dirty="0">
                <a:solidFill>
                  <a:srgbClr val="5B6470"/>
                </a:solidFill>
                <a:latin typeface="Segoe UI" pitchFamily="34" charset="0"/>
                <a:ea typeface="Segoe UI" pitchFamily="34" charset="-122"/>
                <a:cs typeface="Segoe UI" pitchFamily="34" charset="-120"/>
              </a:rPr>
              <a:t>Sources: NITI Aayog (2022); The Hindu (2026); PAIGAM, Prisoners on Wheels? (2024). Links in the README.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Cline logo">    </p:cNvPr>
          <p:cNvPicPr>
            <a:picLocks noChangeAspect="1"/>
          </p:cNvPicPr>
          <p:nvPr/>
        </p:nvPicPr>
        <p:blipFill>
          <a:blip r:embed="rId1"/>
          <a:stretch>
            <a:fillRect/>
          </a:stretch>
        </p:blipFill>
        <p:spPr>
          <a:xfrm>
            <a:off x="10537269" y="402336"/>
            <a:ext cx="1105786" cy="237744"/>
          </a:xfrm>
          <a:prstGeom prst="rect">
            <a:avLst/>
          </a:prstGeom>
        </p:spPr>
      </p:pic>
      <p:sp>
        <p:nvSpPr>
          <p:cNvPr id="3" name="Text 0"/>
          <p:cNvSpPr/>
          <p:nvPr/>
        </p:nvSpPr>
        <p:spPr>
          <a:xfrm>
            <a:off x="9622869" y="402336"/>
            <a:ext cx="822960" cy="237744"/>
          </a:xfrm>
          <a:prstGeom prst="rect">
            <a:avLst/>
          </a:prstGeom>
          <a:noFill/>
          <a:ln/>
        </p:spPr>
        <p:txBody>
          <a:bodyPr wrap="square" lIns="0" tIns="0" rIns="0" bIns="0" rtlCol="0" anchor="ctr"/>
          <a:lstStyle/>
          <a:p>
            <a:pPr algn="r" indent="0" marL="0">
              <a:buNone/>
            </a:pPr>
            <a:r>
              <a:rPr lang="en-US" sz="900" dirty="0">
                <a:solidFill>
                  <a:srgbClr val="5B6470"/>
                </a:solidFill>
                <a:latin typeface="Segoe UI" pitchFamily="34" charset="0"/>
                <a:ea typeface="Segoe UI" pitchFamily="34" charset="-122"/>
                <a:cs typeface="Segoe UI" pitchFamily="34" charset="-120"/>
              </a:rPr>
              <a:t>Built with</a:t>
            </a:r>
            <a:endParaRPr lang="en-US" sz="900" dirty="0"/>
          </a:p>
        </p:txBody>
      </p:sp>
      <p:sp>
        <p:nvSpPr>
          <p:cNvPr id="4" name="Text 1"/>
          <p:cNvSpPr/>
          <p:nvPr/>
        </p:nvSpPr>
        <p:spPr>
          <a:xfrm>
            <a:off x="548640" y="384048"/>
            <a:ext cx="11094415" cy="274320"/>
          </a:xfrm>
          <a:prstGeom prst="rect">
            <a:avLst/>
          </a:prstGeom>
          <a:noFill/>
          <a:ln/>
        </p:spPr>
        <p:txBody>
          <a:bodyPr wrap="square" lIns="0" tIns="0" rIns="0" bIns="0" rtlCol="0" anchor="ctr"/>
          <a:lstStyle/>
          <a:p>
            <a:pPr indent="0" marL="0">
              <a:buNone/>
            </a:pPr>
            <a:r>
              <a:rPr lang="en-US" sz="1100" spc="200" kern="0" dirty="0">
                <a:solidFill>
                  <a:srgbClr val="0B5CAD"/>
                </a:solidFill>
                <a:latin typeface="Segoe UI Semibold" pitchFamily="34" charset="0"/>
                <a:ea typeface="Segoe UI Semibold" pitchFamily="34" charset="-122"/>
                <a:cs typeface="Segoe UI Semibold" pitchFamily="34" charset="-120"/>
              </a:rPr>
              <a:t>03   VOICE FROM THE GROUND</a:t>
            </a:r>
            <a:endParaRPr lang="en-US" sz="1100" dirty="0"/>
          </a:p>
        </p:txBody>
      </p:sp>
      <p:sp>
        <p:nvSpPr>
          <p:cNvPr id="5" name="Text 2"/>
          <p:cNvSpPr/>
          <p:nvPr/>
        </p:nvSpPr>
        <p:spPr>
          <a:xfrm>
            <a:off x="548640" y="676656"/>
            <a:ext cx="11094415" cy="685800"/>
          </a:xfrm>
          <a:prstGeom prst="rect">
            <a:avLst/>
          </a:prstGeom>
          <a:noFill/>
          <a:ln/>
        </p:spPr>
        <p:txBody>
          <a:bodyPr wrap="square" lIns="0" tIns="0" rIns="0" bIns="0" rtlCol="0" anchor="t"/>
          <a:lstStyle/>
          <a:p>
            <a:pPr indent="0" marL="0">
              <a:buNone/>
            </a:pPr>
            <a:r>
              <a:rPr lang="en-US" sz="2800" dirty="0">
                <a:solidFill>
                  <a:srgbClr val="1B1F24"/>
                </a:solidFill>
                <a:latin typeface="Segoe UI Semibold" pitchFamily="34" charset="0"/>
                <a:ea typeface="Segoe UI Semibold" pitchFamily="34" charset="-122"/>
                <a:cs typeface="Segoe UI Semibold" pitchFamily="34" charset="-120"/>
              </a:rPr>
              <a:t>We asked a delivery partner</a:t>
            </a:r>
            <a:endParaRPr lang="en-US" sz="2800" dirty="0"/>
          </a:p>
        </p:txBody>
      </p:sp>
      <p:sp>
        <p:nvSpPr>
          <p:cNvPr id="6" name="Shape 3"/>
          <p:cNvSpPr/>
          <p:nvPr/>
        </p:nvSpPr>
        <p:spPr>
          <a:xfrm>
            <a:off x="548640" y="6437376"/>
            <a:ext cx="82296" cy="82296"/>
          </a:xfrm>
          <a:prstGeom prst="rect">
            <a:avLst/>
          </a:prstGeom>
          <a:solidFill>
            <a:srgbClr val="0B5CAD"/>
          </a:solidFill>
          <a:ln w="12700">
            <a:solidFill>
              <a:srgbClr val="FFFFFF">
                <a:alpha val="0"/>
              </a:srgbClr>
            </a:solidFill>
            <a:prstDash val="solid"/>
          </a:ln>
        </p:spPr>
      </p:sp>
      <p:sp>
        <p:nvSpPr>
          <p:cNvPr id="7" name="Text 4"/>
          <p:cNvSpPr/>
          <p:nvPr/>
        </p:nvSpPr>
        <p:spPr>
          <a:xfrm>
            <a:off x="731520" y="6364224"/>
            <a:ext cx="5486400" cy="228600"/>
          </a:xfrm>
          <a:prstGeom prst="rect">
            <a:avLst/>
          </a:prstGeom>
          <a:noFill/>
          <a:ln/>
        </p:spPr>
        <p:txBody>
          <a:bodyPr wrap="square" lIns="0" tIns="0" rIns="0" bIns="0" rtlCol="0" anchor="ctr"/>
          <a:lstStyle/>
          <a:p>
            <a:pPr indent="0" marL="0">
              <a:buNone/>
            </a:pPr>
            <a:r>
              <a:rPr lang="en-US" sz="900" dirty="0">
                <a:solidFill>
                  <a:srgbClr val="5B6470"/>
                </a:solidFill>
                <a:latin typeface="Segoe UI" pitchFamily="34" charset="0"/>
                <a:ea typeface="Segoe UI" pitchFamily="34" charset="-122"/>
                <a:cs typeface="Segoe UI" pitchFamily="34" charset="-120"/>
              </a:rPr>
              <a:t>Nyaya-Ledger  ·  Cline AI Builder Hackathon</a:t>
            </a:r>
            <a:endParaRPr lang="en-US" sz="900" dirty="0"/>
          </a:p>
        </p:txBody>
      </p:sp>
      <p:sp>
        <p:nvSpPr>
          <p:cNvPr id="8" name="Text 5"/>
          <p:cNvSpPr/>
          <p:nvPr/>
        </p:nvSpPr>
        <p:spPr>
          <a:xfrm>
            <a:off x="10271455" y="6364224"/>
            <a:ext cx="1371600" cy="228600"/>
          </a:xfrm>
          <a:prstGeom prst="rect">
            <a:avLst/>
          </a:prstGeom>
          <a:noFill/>
          <a:ln/>
        </p:spPr>
        <p:txBody>
          <a:bodyPr wrap="square" lIns="0" tIns="0" rIns="0" bIns="0" rtlCol="0" anchor="ctr"/>
          <a:lstStyle/>
          <a:p>
            <a:pPr algn="r" indent="0" marL="0">
              <a:buNone/>
            </a:pPr>
            <a:r>
              <a:rPr lang="en-US" sz="900" dirty="0">
                <a:solidFill>
                  <a:srgbClr val="5B6470"/>
                </a:solidFill>
                <a:latin typeface="Segoe UI" pitchFamily="34" charset="0"/>
                <a:ea typeface="Segoe UI" pitchFamily="34" charset="-122"/>
                <a:cs typeface="Segoe UI" pitchFamily="34" charset="-120"/>
              </a:rPr>
              <a:t>3 / 11</a:t>
            </a:r>
            <a:endParaRPr lang="en-US" sz="900" dirty="0"/>
          </a:p>
        </p:txBody>
      </p:sp>
      <p:sp>
        <p:nvSpPr>
          <p:cNvPr id="9" name="Text 6"/>
          <p:cNvSpPr/>
          <p:nvPr/>
        </p:nvSpPr>
        <p:spPr>
          <a:xfrm>
            <a:off x="548640" y="1664208"/>
            <a:ext cx="329184" cy="329184"/>
          </a:xfrm>
          <a:prstGeom prst="roundRect">
            <a:avLst>
              <a:gd name="adj" fmla="val 50000"/>
            </a:avLst>
          </a:prstGeom>
          <a:solidFill>
            <a:srgbClr val="F2F4F7"/>
          </a:solidFill>
          <a:ln>
            <a:solidFill>
              <a:srgbClr val="FFFFFF">
                <a:alpha val="0"/>
              </a:srgbClr>
            </a:solidFill>
          </a:ln>
        </p:spPr>
        <p:txBody>
          <a:bodyPr wrap="square" lIns="0" tIns="0" rIns="0" bIns="0" rtlCol="0" anchor="ctr"/>
          <a:lstStyle/>
          <a:p>
            <a:pPr algn="ctr" indent="0" marL="0">
              <a:buNone/>
            </a:pPr>
            <a:r>
              <a:rPr lang="en-US" sz="1100" dirty="0">
                <a:solidFill>
                  <a:srgbClr val="5B6470"/>
                </a:solidFill>
                <a:latin typeface="Segoe UI Semibold" pitchFamily="34" charset="0"/>
                <a:ea typeface="Segoe UI Semibold" pitchFamily="34" charset="-122"/>
                <a:cs typeface="Segoe UI Semibold" pitchFamily="34" charset="-120"/>
              </a:rPr>
              <a:t>Q</a:t>
            </a:r>
            <a:endParaRPr lang="en-US" sz="1100" dirty="0"/>
          </a:p>
        </p:txBody>
      </p:sp>
      <p:sp>
        <p:nvSpPr>
          <p:cNvPr id="10" name="Text 7"/>
          <p:cNvSpPr/>
          <p:nvPr/>
        </p:nvSpPr>
        <p:spPr>
          <a:xfrm>
            <a:off x="1051560" y="1645920"/>
            <a:ext cx="6903720" cy="757123"/>
          </a:xfrm>
          <a:prstGeom prst="rect">
            <a:avLst/>
          </a:prstGeom>
          <a:noFill/>
          <a:ln/>
        </p:spPr>
        <p:txBody>
          <a:bodyPr wrap="square" lIns="0" tIns="0" rIns="0" bIns="0" rtlCol="0" anchor="t"/>
          <a:lstStyle/>
          <a:p>
            <a:pPr indent="0" marL="0">
              <a:spcAft>
                <a:spcPts val="200"/>
              </a:spcAft>
              <a:buNone/>
            </a:pPr>
            <a:r>
              <a:rPr lang="en-US" sz="1300" dirty="0">
                <a:solidFill>
                  <a:srgbClr val="1B1F24"/>
                </a:solidFill>
                <a:latin typeface="Segoe UI Semibold" pitchFamily="34" charset="0"/>
                <a:ea typeface="Segoe UI Semibold" pitchFamily="34" charset="-122"/>
                <a:cs typeface="Segoe UI Semibold" pitchFamily="34" charset="-120"/>
              </a:rPr>
              <a:t>Aap delivery payments ya platform ke related kuch problems face karte hai kya?</a:t>
            </a:r>
            <a:endParaRPr lang="en-US" sz="1300" dirty="0"/>
          </a:p>
          <a:p>
            <a:pPr indent="0" marL="0">
              <a:spcAft>
                <a:spcPts val="200"/>
              </a:spcAft>
              <a:buNone/>
            </a:pPr>
            <a:r>
              <a:rPr lang="en-US" sz="1050" dirty="0">
                <a:solidFill>
                  <a:srgbClr val="5B6470"/>
                </a:solidFill>
                <a:latin typeface="Segoe UI" pitchFamily="34" charset="0"/>
                <a:ea typeface="Segoe UI" pitchFamily="34" charset="-122"/>
                <a:cs typeface="Segoe UI" pitchFamily="34" charset="-120"/>
              </a:rPr>
              <a:t>Do you face any problems with delivery payments or the platform?</a:t>
            </a:r>
            <a:endParaRPr lang="en-US" sz="1300" dirty="0"/>
          </a:p>
        </p:txBody>
      </p:sp>
      <p:sp>
        <p:nvSpPr>
          <p:cNvPr id="11" name="Text 8"/>
          <p:cNvSpPr/>
          <p:nvPr/>
        </p:nvSpPr>
        <p:spPr>
          <a:xfrm>
            <a:off x="548640" y="2505456"/>
            <a:ext cx="329184" cy="329184"/>
          </a:xfrm>
          <a:prstGeom prst="roundRect">
            <a:avLst>
              <a:gd name="adj" fmla="val 50000"/>
            </a:avLst>
          </a:prstGeom>
          <a:solidFill>
            <a:srgbClr val="0B5CAD"/>
          </a:solidFill>
          <a:ln>
            <a:solidFill>
              <a:srgbClr val="FFFFFF">
                <a:alpha val="0"/>
              </a:srgbClr>
            </a:solidFill>
          </a:ln>
        </p:spPr>
        <p:txBody>
          <a:bodyPr wrap="square" lIns="0" tIns="0" rIns="0" bIns="0" rtlCol="0" anchor="ctr"/>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A</a:t>
            </a:r>
            <a:endParaRPr lang="en-US" sz="1100" dirty="0"/>
          </a:p>
        </p:txBody>
      </p:sp>
      <p:sp>
        <p:nvSpPr>
          <p:cNvPr id="12" name="Text 9"/>
          <p:cNvSpPr/>
          <p:nvPr/>
        </p:nvSpPr>
        <p:spPr>
          <a:xfrm>
            <a:off x="1051560" y="2487168"/>
            <a:ext cx="6903720" cy="1219810"/>
          </a:xfrm>
          <a:prstGeom prst="rect">
            <a:avLst/>
          </a:prstGeom>
          <a:noFill/>
          <a:ln/>
        </p:spPr>
        <p:txBody>
          <a:bodyPr wrap="square" lIns="0" tIns="0" rIns="0" bIns="0" rtlCol="0" anchor="t"/>
          <a:lstStyle/>
          <a:p>
            <a:pPr indent="0" marL="0">
              <a:lnSpc>
                <a:spcPct val="105000"/>
              </a:lnSpc>
              <a:spcAft>
                <a:spcPts val="400"/>
              </a:spcAft>
              <a:buNone/>
            </a:pPr>
            <a:r>
              <a:rPr lang="en-US" sz="2000" dirty="0">
                <a:solidFill>
                  <a:srgbClr val="0B5CAD"/>
                </a:solidFill>
                <a:latin typeface="Segoe UI Light" pitchFamily="34" charset="0"/>
                <a:ea typeface="Segoe UI Light" pitchFamily="34" charset="-122"/>
                <a:cs typeface="Segoe UI Light" pitchFamily="34" charset="-120"/>
              </a:rPr>
              <a:t>"Han, kaafi dikkatein horhi hai recently, abhi kuch din pehle protest bhi hua tha iski wajah se."</a:t>
            </a:r>
            <a:endParaRPr lang="en-US" sz="2000" dirty="0"/>
          </a:p>
          <a:p>
            <a:pPr indent="0" marL="0">
              <a:lnSpc>
                <a:spcPct val="105000"/>
              </a:lnSpc>
              <a:spcAft>
                <a:spcPts val="400"/>
              </a:spcAft>
              <a:buNone/>
            </a:pPr>
            <a:r>
              <a:rPr lang="en-US" sz="1100" dirty="0">
                <a:solidFill>
                  <a:srgbClr val="5B6470"/>
                </a:solidFill>
                <a:latin typeface="Segoe UI" pitchFamily="34" charset="0"/>
                <a:ea typeface="Segoe UI" pitchFamily="34" charset="-122"/>
                <a:cs typeface="Segoe UI" pitchFamily="34" charset="-120"/>
              </a:rPr>
              <a:t>Yes, there have been a lot of problems recently. A few days ago there was even a protest because of it.</a:t>
            </a:r>
            <a:endParaRPr lang="en-US" sz="2000" dirty="0"/>
          </a:p>
        </p:txBody>
      </p:sp>
      <p:sp>
        <p:nvSpPr>
          <p:cNvPr id="13" name="Shape 10"/>
          <p:cNvSpPr/>
          <p:nvPr/>
        </p:nvSpPr>
        <p:spPr>
          <a:xfrm>
            <a:off x="8686800" y="1645920"/>
            <a:ext cx="2956255" cy="2743200"/>
          </a:xfrm>
          <a:prstGeom prst="roundRect">
            <a:avLst>
              <a:gd name="adj" fmla="val 4000"/>
            </a:avLst>
          </a:prstGeom>
          <a:solidFill>
            <a:srgbClr val="EAF2FB"/>
          </a:solidFill>
          <a:ln w="12700">
            <a:solidFill>
              <a:srgbClr val="B9D3EE"/>
            </a:solidFill>
            <a:prstDash val="solid"/>
          </a:ln>
        </p:spPr>
      </p:sp>
      <p:sp>
        <p:nvSpPr>
          <p:cNvPr id="14" name="Text 11"/>
          <p:cNvSpPr/>
          <p:nvPr/>
        </p:nvSpPr>
        <p:spPr>
          <a:xfrm>
            <a:off x="8915400" y="1691640"/>
            <a:ext cx="914400" cy="822960"/>
          </a:xfrm>
          <a:prstGeom prst="rect">
            <a:avLst/>
          </a:prstGeom>
          <a:noFill/>
          <a:ln/>
        </p:spPr>
        <p:txBody>
          <a:bodyPr wrap="square" lIns="0" tIns="0" rIns="0" bIns="0" rtlCol="0" anchor="t"/>
          <a:lstStyle/>
          <a:p>
            <a:pPr indent="0" marL="0">
              <a:buNone/>
            </a:pPr>
            <a:r>
              <a:rPr lang="en-US" sz="6000" dirty="0">
                <a:solidFill>
                  <a:srgbClr val="0B5CAD"/>
                </a:solidFill>
                <a:latin typeface="Georgia" pitchFamily="34" charset="0"/>
                <a:ea typeface="Georgia" pitchFamily="34" charset="-122"/>
                <a:cs typeface="Georgia" pitchFamily="34" charset="-120"/>
              </a:rPr>
              <a:t>“</a:t>
            </a:r>
            <a:endParaRPr lang="en-US" sz="6000" dirty="0"/>
          </a:p>
        </p:txBody>
      </p:sp>
      <p:sp>
        <p:nvSpPr>
          <p:cNvPr id="15" name="Text 12"/>
          <p:cNvSpPr/>
          <p:nvPr/>
        </p:nvSpPr>
        <p:spPr>
          <a:xfrm>
            <a:off x="8961120" y="2606040"/>
            <a:ext cx="2407615" cy="1645920"/>
          </a:xfrm>
          <a:prstGeom prst="rect">
            <a:avLst/>
          </a:prstGeom>
          <a:noFill/>
          <a:ln/>
        </p:spPr>
        <p:txBody>
          <a:bodyPr wrap="square" lIns="0" tIns="0" rIns="0" bIns="0" rtlCol="0" anchor="t"/>
          <a:lstStyle/>
          <a:p>
            <a:pPr indent="0" marL="0">
              <a:spcAft>
                <a:spcPts val="500"/>
              </a:spcAft>
              <a:buNone/>
            </a:pPr>
            <a:r>
              <a:rPr lang="en-US" sz="1800" dirty="0">
                <a:solidFill>
                  <a:srgbClr val="1B1F24"/>
                </a:solidFill>
                <a:latin typeface="Segoe UI Semibold" pitchFamily="34" charset="0"/>
                <a:ea typeface="Segoe UI Semibold" pitchFamily="34" charset="-122"/>
                <a:cs typeface="Segoe UI Semibold" pitchFamily="34" charset="-120"/>
              </a:rPr>
              <a:t>Prabal Sharma</a:t>
            </a:r>
            <a:endParaRPr lang="en-US" sz="1800" dirty="0"/>
          </a:p>
          <a:p>
            <a:pPr indent="0" marL="0">
              <a:spcAft>
                <a:spcPts val="500"/>
              </a:spcAft>
              <a:buNone/>
            </a:pPr>
            <a:r>
              <a:rPr lang="en-US" sz="1250" dirty="0">
                <a:solidFill>
                  <a:srgbClr val="0B5CAD"/>
                </a:solidFill>
                <a:latin typeface="Segoe UI" pitchFamily="34" charset="0"/>
                <a:ea typeface="Segoe UI" pitchFamily="34" charset="-122"/>
                <a:cs typeface="Segoe UI" pitchFamily="34" charset="-120"/>
              </a:rPr>
              <a:t>Delivery partner, Blinkit</a:t>
            </a:r>
            <a:endParaRPr lang="en-US" sz="1800" dirty="0"/>
          </a:p>
          <a:p>
            <a:pPr indent="0" marL="0">
              <a:spcAft>
                <a:spcPts val="500"/>
              </a:spcAft>
              <a:buNone/>
            </a:pPr>
            <a:r>
              <a:rPr lang="en-US" sz="1050" dirty="0">
                <a:solidFill>
                  <a:srgbClr val="5B6470"/>
                </a:solidFill>
                <a:latin typeface="Segoe UI" pitchFamily="34" charset="0"/>
                <a:ea typeface="Segoe UI" pitchFamily="34" charset="-122"/>
                <a:cs typeface="Segoe UI" pitchFamily="34" charset="-120"/>
              </a:rPr>
              <a:t>Interviewed by our team during the hackathon</a:t>
            </a:r>
            <a:endParaRPr lang="en-US" sz="1800" dirty="0"/>
          </a:p>
        </p:txBody>
      </p:sp>
      <p:sp>
        <p:nvSpPr>
          <p:cNvPr id="16" name="Text 13"/>
          <p:cNvSpPr/>
          <p:nvPr/>
        </p:nvSpPr>
        <p:spPr>
          <a:xfrm>
            <a:off x="8686800" y="4663440"/>
            <a:ext cx="2956255" cy="256032"/>
          </a:xfrm>
          <a:prstGeom prst="rect">
            <a:avLst/>
          </a:prstGeom>
          <a:noFill/>
          <a:ln/>
        </p:spPr>
        <p:txBody>
          <a:bodyPr wrap="square" lIns="0" tIns="0" rIns="0" bIns="0" rtlCol="0" anchor="ctr"/>
          <a:lstStyle/>
          <a:p>
            <a:pPr indent="0" marL="0">
              <a:buNone/>
            </a:pPr>
            <a:r>
              <a:rPr lang="en-US" sz="1050" spc="200" kern="0" dirty="0">
                <a:solidFill>
                  <a:srgbClr val="5B6470"/>
                </a:solidFill>
                <a:latin typeface="Segoe UI Semibold" pitchFamily="34" charset="0"/>
                <a:ea typeface="Segoe UI Semibold" pitchFamily="34" charset="-122"/>
                <a:cs typeface="Segoe UI Semibold" pitchFamily="34" charset="-120"/>
              </a:rPr>
              <a:t>WHY IT MATTERS</a:t>
            </a:r>
            <a:endParaRPr lang="en-US" sz="1050" dirty="0"/>
          </a:p>
        </p:txBody>
      </p:sp>
      <p:sp>
        <p:nvSpPr>
          <p:cNvPr id="17" name="Text 14"/>
          <p:cNvSpPr/>
          <p:nvPr/>
        </p:nvSpPr>
        <p:spPr>
          <a:xfrm>
            <a:off x="8686800" y="4983480"/>
            <a:ext cx="2956255" cy="1005840"/>
          </a:xfrm>
          <a:prstGeom prst="rect">
            <a:avLst/>
          </a:prstGeom>
          <a:noFill/>
          <a:ln/>
        </p:spPr>
        <p:txBody>
          <a:bodyPr wrap="square" lIns="0" tIns="0" rIns="0" bIns="0" rtlCol="0" anchor="t"/>
          <a:lstStyle/>
          <a:p>
            <a:pPr indent="0" marL="0">
              <a:buNone/>
            </a:pPr>
            <a:r>
              <a:rPr lang="en-US" sz="1150" dirty="0">
                <a:solidFill>
                  <a:srgbClr val="1B1F24"/>
                </a:solidFill>
                <a:latin typeface="Segoe UI" pitchFamily="34" charset="0"/>
                <a:ea typeface="Segoe UI" pitchFamily="34" charset="-122"/>
                <a:cs typeface="Segoe UI" pitchFamily="34" charset="-120"/>
              </a:rPr>
              <a:t>Workers already feel the problem. What they lack is evidence in a form a grievance committee can act on.</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Cline logo">    </p:cNvPr>
          <p:cNvPicPr>
            <a:picLocks noChangeAspect="1"/>
          </p:cNvPicPr>
          <p:nvPr/>
        </p:nvPicPr>
        <p:blipFill>
          <a:blip r:embed="rId1"/>
          <a:stretch>
            <a:fillRect/>
          </a:stretch>
        </p:blipFill>
        <p:spPr>
          <a:xfrm>
            <a:off x="10537269" y="402336"/>
            <a:ext cx="1105786" cy="237744"/>
          </a:xfrm>
          <a:prstGeom prst="rect">
            <a:avLst/>
          </a:prstGeom>
        </p:spPr>
      </p:pic>
      <p:sp>
        <p:nvSpPr>
          <p:cNvPr id="3" name="Text 0"/>
          <p:cNvSpPr/>
          <p:nvPr/>
        </p:nvSpPr>
        <p:spPr>
          <a:xfrm>
            <a:off x="9622869" y="402336"/>
            <a:ext cx="822960" cy="237744"/>
          </a:xfrm>
          <a:prstGeom prst="rect">
            <a:avLst/>
          </a:prstGeom>
          <a:noFill/>
          <a:ln/>
        </p:spPr>
        <p:txBody>
          <a:bodyPr wrap="square" lIns="0" tIns="0" rIns="0" bIns="0" rtlCol="0" anchor="ctr"/>
          <a:lstStyle/>
          <a:p>
            <a:pPr algn="r" indent="0" marL="0">
              <a:buNone/>
            </a:pPr>
            <a:r>
              <a:rPr lang="en-US" sz="900" dirty="0">
                <a:solidFill>
                  <a:srgbClr val="5B6470"/>
                </a:solidFill>
                <a:latin typeface="Segoe UI" pitchFamily="34" charset="0"/>
                <a:ea typeface="Segoe UI" pitchFamily="34" charset="-122"/>
                <a:cs typeface="Segoe UI" pitchFamily="34" charset="-120"/>
              </a:rPr>
              <a:t>Built with</a:t>
            </a:r>
            <a:endParaRPr lang="en-US" sz="900" dirty="0"/>
          </a:p>
        </p:txBody>
      </p:sp>
      <p:sp>
        <p:nvSpPr>
          <p:cNvPr id="4" name="Text 1"/>
          <p:cNvSpPr/>
          <p:nvPr/>
        </p:nvSpPr>
        <p:spPr>
          <a:xfrm>
            <a:off x="548640" y="384048"/>
            <a:ext cx="11094415" cy="274320"/>
          </a:xfrm>
          <a:prstGeom prst="rect">
            <a:avLst/>
          </a:prstGeom>
          <a:noFill/>
          <a:ln/>
        </p:spPr>
        <p:txBody>
          <a:bodyPr wrap="square" lIns="0" tIns="0" rIns="0" bIns="0" rtlCol="0" anchor="ctr"/>
          <a:lstStyle/>
          <a:p>
            <a:pPr indent="0" marL="0">
              <a:buNone/>
            </a:pPr>
            <a:r>
              <a:rPr lang="en-US" sz="1100" spc="200" kern="0" dirty="0">
                <a:solidFill>
                  <a:srgbClr val="0B5CAD"/>
                </a:solidFill>
                <a:latin typeface="Segoe UI Semibold" pitchFamily="34" charset="0"/>
                <a:ea typeface="Segoe UI Semibold" pitchFamily="34" charset="-122"/>
                <a:cs typeface="Segoe UI Semibold" pitchFamily="34" charset="-120"/>
              </a:rPr>
              <a:t>04   WHY KARNATAKA FIRST</a:t>
            </a:r>
            <a:endParaRPr lang="en-US" sz="1100" dirty="0"/>
          </a:p>
        </p:txBody>
      </p:sp>
      <p:sp>
        <p:nvSpPr>
          <p:cNvPr id="5" name="Text 2"/>
          <p:cNvSpPr/>
          <p:nvPr/>
        </p:nvSpPr>
        <p:spPr>
          <a:xfrm>
            <a:off x="548640" y="676656"/>
            <a:ext cx="11094415" cy="685800"/>
          </a:xfrm>
          <a:prstGeom prst="rect">
            <a:avLst/>
          </a:prstGeom>
          <a:noFill/>
          <a:ln/>
        </p:spPr>
        <p:txBody>
          <a:bodyPr wrap="square" lIns="0" tIns="0" rIns="0" bIns="0" rtlCol="0" anchor="t"/>
          <a:lstStyle/>
          <a:p>
            <a:pPr indent="0" marL="0">
              <a:buNone/>
            </a:pPr>
            <a:r>
              <a:rPr lang="en-US" sz="2800" dirty="0">
                <a:solidFill>
                  <a:srgbClr val="1B1F24"/>
                </a:solidFill>
                <a:latin typeface="Segoe UI Semibold" pitchFamily="34" charset="0"/>
                <a:ea typeface="Segoe UI Semibold" pitchFamily="34" charset="-122"/>
                <a:cs typeface="Segoe UI Semibold" pitchFamily="34" charset="-120"/>
              </a:rPr>
              <a:t>The rights and the filing channel exist. The evidence doesn't.</a:t>
            </a:r>
            <a:endParaRPr lang="en-US" sz="2800" dirty="0"/>
          </a:p>
        </p:txBody>
      </p:sp>
      <p:sp>
        <p:nvSpPr>
          <p:cNvPr id="6" name="Shape 3"/>
          <p:cNvSpPr/>
          <p:nvPr/>
        </p:nvSpPr>
        <p:spPr>
          <a:xfrm>
            <a:off x="548640" y="6437376"/>
            <a:ext cx="82296" cy="82296"/>
          </a:xfrm>
          <a:prstGeom prst="rect">
            <a:avLst/>
          </a:prstGeom>
          <a:solidFill>
            <a:srgbClr val="0B5CAD"/>
          </a:solidFill>
          <a:ln w="12700">
            <a:solidFill>
              <a:srgbClr val="FFFFFF">
                <a:alpha val="0"/>
              </a:srgbClr>
            </a:solidFill>
            <a:prstDash val="solid"/>
          </a:ln>
        </p:spPr>
      </p:sp>
      <p:sp>
        <p:nvSpPr>
          <p:cNvPr id="7" name="Text 4"/>
          <p:cNvSpPr/>
          <p:nvPr/>
        </p:nvSpPr>
        <p:spPr>
          <a:xfrm>
            <a:off x="731520" y="6364224"/>
            <a:ext cx="5486400" cy="228600"/>
          </a:xfrm>
          <a:prstGeom prst="rect">
            <a:avLst/>
          </a:prstGeom>
          <a:noFill/>
          <a:ln/>
        </p:spPr>
        <p:txBody>
          <a:bodyPr wrap="square" lIns="0" tIns="0" rIns="0" bIns="0" rtlCol="0" anchor="ctr"/>
          <a:lstStyle/>
          <a:p>
            <a:pPr indent="0" marL="0">
              <a:buNone/>
            </a:pPr>
            <a:r>
              <a:rPr lang="en-US" sz="900" dirty="0">
                <a:solidFill>
                  <a:srgbClr val="5B6470"/>
                </a:solidFill>
                <a:latin typeface="Segoe UI" pitchFamily="34" charset="0"/>
                <a:ea typeface="Segoe UI" pitchFamily="34" charset="-122"/>
                <a:cs typeface="Segoe UI" pitchFamily="34" charset="-120"/>
              </a:rPr>
              <a:t>Nyaya-Ledger  ·  Cline AI Builder Hackathon</a:t>
            </a:r>
            <a:endParaRPr lang="en-US" sz="900" dirty="0"/>
          </a:p>
        </p:txBody>
      </p:sp>
      <p:sp>
        <p:nvSpPr>
          <p:cNvPr id="8" name="Text 5"/>
          <p:cNvSpPr/>
          <p:nvPr/>
        </p:nvSpPr>
        <p:spPr>
          <a:xfrm>
            <a:off x="10271455" y="6364224"/>
            <a:ext cx="1371600" cy="228600"/>
          </a:xfrm>
          <a:prstGeom prst="rect">
            <a:avLst/>
          </a:prstGeom>
          <a:noFill/>
          <a:ln/>
        </p:spPr>
        <p:txBody>
          <a:bodyPr wrap="square" lIns="0" tIns="0" rIns="0" bIns="0" rtlCol="0" anchor="ctr"/>
          <a:lstStyle/>
          <a:p>
            <a:pPr algn="r" indent="0" marL="0">
              <a:buNone/>
            </a:pPr>
            <a:r>
              <a:rPr lang="en-US" sz="900" dirty="0">
                <a:solidFill>
                  <a:srgbClr val="5B6470"/>
                </a:solidFill>
                <a:latin typeface="Segoe UI" pitchFamily="34" charset="0"/>
                <a:ea typeface="Segoe UI" pitchFamily="34" charset="-122"/>
                <a:cs typeface="Segoe UI" pitchFamily="34" charset="-120"/>
              </a:rPr>
              <a:t>4 / 11</a:t>
            </a:r>
            <a:endParaRPr lang="en-US" sz="900" dirty="0"/>
          </a:p>
        </p:txBody>
      </p:sp>
      <p:sp>
        <p:nvSpPr>
          <p:cNvPr id="9" name="Text 6"/>
          <p:cNvSpPr/>
          <p:nvPr/>
        </p:nvSpPr>
        <p:spPr>
          <a:xfrm>
            <a:off x="548640" y="1600200"/>
            <a:ext cx="6400800" cy="256032"/>
          </a:xfrm>
          <a:prstGeom prst="rect">
            <a:avLst/>
          </a:prstGeom>
          <a:noFill/>
          <a:ln/>
        </p:spPr>
        <p:txBody>
          <a:bodyPr wrap="square" lIns="0" tIns="0" rIns="0" bIns="0" rtlCol="0" anchor="ctr"/>
          <a:lstStyle/>
          <a:p>
            <a:pPr indent="0" marL="0">
              <a:buNone/>
            </a:pPr>
            <a:r>
              <a:rPr lang="en-US" sz="1050" spc="200" kern="0" dirty="0">
                <a:solidFill>
                  <a:srgbClr val="0B5CAD"/>
                </a:solidFill>
                <a:latin typeface="Segoe UI Semibold" pitchFamily="34" charset="0"/>
                <a:ea typeface="Segoe UI Semibold" pitchFamily="34" charset="-122"/>
                <a:cs typeface="Segoe UI Semibold" pitchFamily="34" charset="-120"/>
              </a:rPr>
              <a:t>KARNATAKA PLATFORM BASED GIG WORKERS ACT, 2025</a:t>
            </a:r>
            <a:endParaRPr lang="en-US" sz="1050" dirty="0"/>
          </a:p>
        </p:txBody>
      </p:sp>
      <p:sp>
        <p:nvSpPr>
          <p:cNvPr id="10" name="Text 7"/>
          <p:cNvSpPr/>
          <p:nvPr/>
        </p:nvSpPr>
        <p:spPr>
          <a:xfrm>
            <a:off x="548640" y="2029968"/>
            <a:ext cx="960120" cy="329184"/>
          </a:xfrm>
          <a:prstGeom prst="roundRect">
            <a:avLst>
              <a:gd name="adj" fmla="val 50000"/>
            </a:avLst>
          </a:prstGeom>
          <a:solidFill>
            <a:srgbClr val="EAF2FB"/>
          </a:solidFill>
          <a:ln>
            <a:solidFill>
              <a:srgbClr val="FFFFFF">
                <a:alpha val="0"/>
              </a:srgbClr>
            </a:solidFill>
          </a:ln>
        </p:spPr>
        <p:txBody>
          <a:bodyPr wrap="square" lIns="0" tIns="0" rIns="0" bIns="0" rtlCol="0" anchor="ctr"/>
          <a:lstStyle/>
          <a:p>
            <a:pPr algn="ctr" indent="0" marL="0">
              <a:buNone/>
            </a:pPr>
            <a:r>
              <a:rPr lang="en-US" sz="1100" dirty="0">
                <a:solidFill>
                  <a:srgbClr val="0B5CAD"/>
                </a:solidFill>
                <a:latin typeface="Consolas" pitchFamily="34" charset="0"/>
                <a:ea typeface="Consolas" pitchFamily="34" charset="-122"/>
                <a:cs typeface="Consolas" pitchFamily="34" charset="-120"/>
              </a:rPr>
              <a:t>s.15(1)</a:t>
            </a:r>
            <a:endParaRPr lang="en-US" sz="1100" dirty="0"/>
          </a:p>
        </p:txBody>
      </p:sp>
      <p:sp>
        <p:nvSpPr>
          <p:cNvPr id="11" name="Text 8"/>
          <p:cNvSpPr/>
          <p:nvPr/>
        </p:nvSpPr>
        <p:spPr>
          <a:xfrm>
            <a:off x="1691640" y="1965960"/>
            <a:ext cx="5852160" cy="457200"/>
          </a:xfrm>
          <a:prstGeom prst="rect">
            <a:avLst/>
          </a:prstGeom>
          <a:noFill/>
          <a:ln/>
        </p:spPr>
        <p:txBody>
          <a:bodyPr wrap="square" lIns="0" tIns="0" rIns="0" bIns="0" rtlCol="0" anchor="ctr"/>
          <a:lstStyle/>
          <a:p>
            <a:pPr indent="0" marL="0">
              <a:buNone/>
            </a:pPr>
            <a:r>
              <a:rPr lang="en-US" sz="1300" dirty="0">
                <a:solidFill>
                  <a:srgbClr val="1B1F24"/>
                </a:solidFill>
                <a:latin typeface="Segoe UI" pitchFamily="34" charset="0"/>
                <a:ea typeface="Segoe UI" pitchFamily="34" charset="-122"/>
                <a:cs typeface="Segoe UI" pitchFamily="34" charset="-120"/>
              </a:rPr>
              <a:t>Reasons for every deduction, stated in the invoice; pay as per contract</a:t>
            </a:r>
            <a:endParaRPr lang="en-US" sz="1300" dirty="0"/>
          </a:p>
        </p:txBody>
      </p:sp>
      <p:sp>
        <p:nvSpPr>
          <p:cNvPr id="12" name="Text 9"/>
          <p:cNvSpPr/>
          <p:nvPr/>
        </p:nvSpPr>
        <p:spPr>
          <a:xfrm>
            <a:off x="548640" y="2651760"/>
            <a:ext cx="960120" cy="329184"/>
          </a:xfrm>
          <a:prstGeom prst="roundRect">
            <a:avLst>
              <a:gd name="adj" fmla="val 50000"/>
            </a:avLst>
          </a:prstGeom>
          <a:solidFill>
            <a:srgbClr val="EAF2FB"/>
          </a:solidFill>
          <a:ln>
            <a:solidFill>
              <a:srgbClr val="FFFFFF">
                <a:alpha val="0"/>
              </a:srgbClr>
            </a:solidFill>
          </a:ln>
        </p:spPr>
        <p:txBody>
          <a:bodyPr wrap="square" lIns="0" tIns="0" rIns="0" bIns="0" rtlCol="0" anchor="ctr"/>
          <a:lstStyle/>
          <a:p>
            <a:pPr algn="ctr" indent="0" marL="0">
              <a:buNone/>
            </a:pPr>
            <a:r>
              <a:rPr lang="en-US" sz="1100" dirty="0">
                <a:solidFill>
                  <a:srgbClr val="0B5CAD"/>
                </a:solidFill>
                <a:latin typeface="Consolas" pitchFamily="34" charset="0"/>
                <a:ea typeface="Consolas" pitchFamily="34" charset="-122"/>
                <a:cs typeface="Consolas" pitchFamily="34" charset="-120"/>
              </a:rPr>
              <a:t>s.15(2)</a:t>
            </a:r>
            <a:endParaRPr lang="en-US" sz="1100" dirty="0"/>
          </a:p>
        </p:txBody>
      </p:sp>
      <p:sp>
        <p:nvSpPr>
          <p:cNvPr id="13" name="Text 10"/>
          <p:cNvSpPr/>
          <p:nvPr/>
        </p:nvSpPr>
        <p:spPr>
          <a:xfrm>
            <a:off x="1691640" y="2587752"/>
            <a:ext cx="5852160" cy="457200"/>
          </a:xfrm>
          <a:prstGeom prst="rect">
            <a:avLst/>
          </a:prstGeom>
          <a:noFill/>
          <a:ln/>
        </p:spPr>
        <p:txBody>
          <a:bodyPr wrap="square" lIns="0" tIns="0" rIns="0" bIns="0" rtlCol="0" anchor="ctr"/>
          <a:lstStyle/>
          <a:p>
            <a:pPr indent="0" marL="0">
              <a:buNone/>
            </a:pPr>
            <a:r>
              <a:rPr lang="en-US" sz="1300" dirty="0">
                <a:solidFill>
                  <a:srgbClr val="1B1F24"/>
                </a:solidFill>
                <a:latin typeface="Segoe UI" pitchFamily="34" charset="0"/>
                <a:ea typeface="Segoe UI" pitchFamily="34" charset="-122"/>
                <a:cs typeface="Segoe UI" pitchFamily="34" charset="-120"/>
              </a:rPr>
              <a:t>Pay at least weekly, with no delay</a:t>
            </a:r>
            <a:endParaRPr lang="en-US" sz="1300" dirty="0"/>
          </a:p>
        </p:txBody>
      </p:sp>
      <p:sp>
        <p:nvSpPr>
          <p:cNvPr id="14" name="Text 11"/>
          <p:cNvSpPr/>
          <p:nvPr/>
        </p:nvSpPr>
        <p:spPr>
          <a:xfrm>
            <a:off x="548640" y="3273552"/>
            <a:ext cx="960120" cy="329184"/>
          </a:xfrm>
          <a:prstGeom prst="roundRect">
            <a:avLst>
              <a:gd name="adj" fmla="val 50000"/>
            </a:avLst>
          </a:prstGeom>
          <a:solidFill>
            <a:srgbClr val="EAF2FB"/>
          </a:solidFill>
          <a:ln>
            <a:solidFill>
              <a:srgbClr val="FFFFFF">
                <a:alpha val="0"/>
              </a:srgbClr>
            </a:solidFill>
          </a:ln>
        </p:spPr>
        <p:txBody>
          <a:bodyPr wrap="square" lIns="0" tIns="0" rIns="0" bIns="0" rtlCol="0" anchor="ctr"/>
          <a:lstStyle/>
          <a:p>
            <a:pPr algn="ctr" indent="0" marL="0">
              <a:buNone/>
            </a:pPr>
            <a:r>
              <a:rPr lang="en-US" sz="1100" dirty="0">
                <a:solidFill>
                  <a:srgbClr val="0B5CAD"/>
                </a:solidFill>
                <a:latin typeface="Consolas" pitchFamily="34" charset="0"/>
                <a:ea typeface="Consolas" pitchFamily="34" charset="-122"/>
                <a:cs typeface="Consolas" pitchFamily="34" charset="-120"/>
              </a:rPr>
              <a:t>s.14(2)</a:t>
            </a:r>
            <a:endParaRPr lang="en-US" sz="1100" dirty="0"/>
          </a:p>
        </p:txBody>
      </p:sp>
      <p:sp>
        <p:nvSpPr>
          <p:cNvPr id="15" name="Text 12"/>
          <p:cNvSpPr/>
          <p:nvPr/>
        </p:nvSpPr>
        <p:spPr>
          <a:xfrm>
            <a:off x="1691640" y="3209544"/>
            <a:ext cx="5852160" cy="457200"/>
          </a:xfrm>
          <a:prstGeom prst="rect">
            <a:avLst/>
          </a:prstGeom>
          <a:noFill/>
          <a:ln/>
        </p:spPr>
        <p:txBody>
          <a:bodyPr wrap="square" lIns="0" tIns="0" rIns="0" bIns="0" rtlCol="0" anchor="ctr"/>
          <a:lstStyle/>
          <a:p>
            <a:pPr indent="0" marL="0">
              <a:buNone/>
            </a:pPr>
            <a:r>
              <a:rPr lang="en-US" sz="1300" dirty="0">
                <a:solidFill>
                  <a:srgbClr val="1B1F24"/>
                </a:solidFill>
                <a:latin typeface="Segoe UI" pitchFamily="34" charset="0"/>
                <a:ea typeface="Segoe UI" pitchFamily="34" charset="-122"/>
                <a:cs typeface="Segoe UI" pitchFamily="34" charset="-120"/>
              </a:rPr>
              <a:t>No deactivation without written reasons and 14 days' notice</a:t>
            </a:r>
            <a:endParaRPr lang="en-US" sz="1300" dirty="0"/>
          </a:p>
        </p:txBody>
      </p:sp>
      <p:sp>
        <p:nvSpPr>
          <p:cNvPr id="16" name="Text 13"/>
          <p:cNvSpPr/>
          <p:nvPr/>
        </p:nvSpPr>
        <p:spPr>
          <a:xfrm>
            <a:off x="548640" y="3895344"/>
            <a:ext cx="960120" cy="329184"/>
          </a:xfrm>
          <a:prstGeom prst="roundRect">
            <a:avLst>
              <a:gd name="adj" fmla="val 50000"/>
            </a:avLst>
          </a:prstGeom>
          <a:solidFill>
            <a:srgbClr val="EAF2FB"/>
          </a:solidFill>
          <a:ln>
            <a:solidFill>
              <a:srgbClr val="FFFFFF">
                <a:alpha val="0"/>
              </a:srgbClr>
            </a:solidFill>
          </a:ln>
        </p:spPr>
        <p:txBody>
          <a:bodyPr wrap="square" lIns="0" tIns="0" rIns="0" bIns="0" rtlCol="0" anchor="ctr"/>
          <a:lstStyle/>
          <a:p>
            <a:pPr algn="ctr" indent="0" marL="0">
              <a:buNone/>
            </a:pPr>
            <a:r>
              <a:rPr lang="en-US" sz="1100" dirty="0">
                <a:solidFill>
                  <a:srgbClr val="0B5CAD"/>
                </a:solidFill>
                <a:latin typeface="Consolas" pitchFamily="34" charset="0"/>
                <a:ea typeface="Consolas" pitchFamily="34" charset="-122"/>
                <a:cs typeface="Consolas" pitchFamily="34" charset="-120"/>
              </a:rPr>
              <a:t>s.13(1)</a:t>
            </a:r>
            <a:endParaRPr lang="en-US" sz="1100" dirty="0"/>
          </a:p>
        </p:txBody>
      </p:sp>
      <p:sp>
        <p:nvSpPr>
          <p:cNvPr id="17" name="Text 14"/>
          <p:cNvSpPr/>
          <p:nvPr/>
        </p:nvSpPr>
        <p:spPr>
          <a:xfrm>
            <a:off x="1691640" y="3831336"/>
            <a:ext cx="5852160" cy="457200"/>
          </a:xfrm>
          <a:prstGeom prst="rect">
            <a:avLst/>
          </a:prstGeom>
          <a:noFill/>
          <a:ln/>
        </p:spPr>
        <p:txBody>
          <a:bodyPr wrap="square" lIns="0" tIns="0" rIns="0" bIns="0" rtlCol="0" anchor="ctr"/>
          <a:lstStyle/>
          <a:p>
            <a:pPr indent="0" marL="0">
              <a:buNone/>
            </a:pPr>
            <a:r>
              <a:rPr lang="en-US" sz="1300" dirty="0">
                <a:solidFill>
                  <a:srgbClr val="1B1F24"/>
                </a:solidFill>
                <a:latin typeface="Segoe UI" pitchFamily="34" charset="0"/>
                <a:ea typeface="Segoe UI" pitchFamily="34" charset="-122"/>
                <a:cs typeface="Segoe UI" pitchFamily="34" charset="-120"/>
              </a:rPr>
              <a:t>Right to ask how automated systems affect earnings</a:t>
            </a:r>
            <a:endParaRPr lang="en-US" sz="1300" dirty="0"/>
          </a:p>
        </p:txBody>
      </p:sp>
      <p:sp>
        <p:nvSpPr>
          <p:cNvPr id="18" name="Text 15"/>
          <p:cNvSpPr/>
          <p:nvPr/>
        </p:nvSpPr>
        <p:spPr>
          <a:xfrm>
            <a:off x="548640" y="4517136"/>
            <a:ext cx="960120" cy="329184"/>
          </a:xfrm>
          <a:prstGeom prst="roundRect">
            <a:avLst>
              <a:gd name="adj" fmla="val 50000"/>
            </a:avLst>
          </a:prstGeom>
          <a:solidFill>
            <a:srgbClr val="EAF2FB"/>
          </a:solidFill>
          <a:ln>
            <a:solidFill>
              <a:srgbClr val="FFFFFF">
                <a:alpha val="0"/>
              </a:srgbClr>
            </a:solidFill>
          </a:ln>
        </p:spPr>
        <p:txBody>
          <a:bodyPr wrap="square" lIns="0" tIns="0" rIns="0" bIns="0" rtlCol="0" anchor="ctr"/>
          <a:lstStyle/>
          <a:p>
            <a:pPr algn="ctr" indent="0" marL="0">
              <a:buNone/>
            </a:pPr>
            <a:r>
              <a:rPr lang="en-US" sz="1100" dirty="0">
                <a:solidFill>
                  <a:srgbClr val="0B5CAD"/>
                </a:solidFill>
                <a:latin typeface="Consolas" pitchFamily="34" charset="0"/>
                <a:ea typeface="Consolas" pitchFamily="34" charset="-122"/>
                <a:cs typeface="Consolas" pitchFamily="34" charset="-120"/>
              </a:rPr>
              <a:t>s.22(2)</a:t>
            </a:r>
            <a:endParaRPr lang="en-US" sz="1100" dirty="0"/>
          </a:p>
        </p:txBody>
      </p:sp>
      <p:sp>
        <p:nvSpPr>
          <p:cNvPr id="19" name="Text 16"/>
          <p:cNvSpPr/>
          <p:nvPr/>
        </p:nvSpPr>
        <p:spPr>
          <a:xfrm>
            <a:off x="1691640" y="4453128"/>
            <a:ext cx="5852160" cy="457200"/>
          </a:xfrm>
          <a:prstGeom prst="rect">
            <a:avLst/>
          </a:prstGeom>
          <a:noFill/>
          <a:ln/>
        </p:spPr>
        <p:txBody>
          <a:bodyPr wrap="square" lIns="0" tIns="0" rIns="0" bIns="0" rtlCol="0" anchor="ctr"/>
          <a:lstStyle/>
          <a:p>
            <a:pPr indent="0" marL="0">
              <a:buNone/>
            </a:pPr>
            <a:r>
              <a:rPr lang="en-US" sz="1300" dirty="0">
                <a:solidFill>
                  <a:srgbClr val="1B1F24"/>
                </a:solidFill>
                <a:latin typeface="Segoe UI" pitchFamily="34" charset="0"/>
                <a:ea typeface="Segoe UI" pitchFamily="34" charset="-122"/>
                <a:cs typeface="Segoe UI" pitchFamily="34" charset="-120"/>
              </a:rPr>
              <a:t>Grievance on payouts, deductions or termination to the platform's IDRC</a:t>
            </a:r>
            <a:endParaRPr lang="en-US" sz="1300" dirty="0"/>
          </a:p>
        </p:txBody>
      </p:sp>
      <p:sp>
        <p:nvSpPr>
          <p:cNvPr id="20" name="Text 17"/>
          <p:cNvSpPr/>
          <p:nvPr/>
        </p:nvSpPr>
        <p:spPr>
          <a:xfrm>
            <a:off x="8001000" y="1600200"/>
            <a:ext cx="3657600" cy="256032"/>
          </a:xfrm>
          <a:prstGeom prst="rect">
            <a:avLst/>
          </a:prstGeom>
          <a:noFill/>
          <a:ln/>
        </p:spPr>
        <p:txBody>
          <a:bodyPr wrap="square" lIns="0" tIns="0" rIns="0" bIns="0" rtlCol="0" anchor="ctr"/>
          <a:lstStyle/>
          <a:p>
            <a:pPr indent="0" marL="0">
              <a:buNone/>
            </a:pPr>
            <a:r>
              <a:rPr lang="en-US" sz="1050" spc="200" kern="0" dirty="0">
                <a:solidFill>
                  <a:srgbClr val="0B5CAD"/>
                </a:solidFill>
                <a:latin typeface="Segoe UI Semibold" pitchFamily="34" charset="0"/>
                <a:ea typeface="Segoe UI Semibold" pitchFamily="34" charset="-122"/>
                <a:cs typeface="Segoe UI Semibold" pitchFamily="34" charset="-120"/>
              </a:rPr>
              <a:t>TIMELINE</a:t>
            </a:r>
            <a:endParaRPr lang="en-US" sz="1050" dirty="0"/>
          </a:p>
        </p:txBody>
      </p:sp>
      <p:sp>
        <p:nvSpPr>
          <p:cNvPr id="21" name="Shape 18"/>
          <p:cNvSpPr/>
          <p:nvPr/>
        </p:nvSpPr>
        <p:spPr>
          <a:xfrm>
            <a:off x="8083296" y="2103120"/>
            <a:ext cx="0" cy="1600200"/>
          </a:xfrm>
          <a:prstGeom prst="line">
            <a:avLst/>
          </a:prstGeom>
          <a:noFill/>
          <a:ln w="19050">
            <a:solidFill>
              <a:srgbClr val="B9D3EE"/>
            </a:solidFill>
            <a:prstDash val="solid"/>
          </a:ln>
        </p:spPr>
      </p:sp>
      <p:sp>
        <p:nvSpPr>
          <p:cNvPr id="22" name="Shape 19"/>
          <p:cNvSpPr/>
          <p:nvPr/>
        </p:nvSpPr>
        <p:spPr>
          <a:xfrm>
            <a:off x="8001000" y="2020824"/>
            <a:ext cx="164592" cy="164592"/>
          </a:xfrm>
          <a:prstGeom prst="ellipse">
            <a:avLst/>
          </a:prstGeom>
          <a:solidFill>
            <a:srgbClr val="0B5CAD"/>
          </a:solidFill>
          <a:ln w="12700">
            <a:solidFill>
              <a:srgbClr val="FFFFFF">
                <a:alpha val="0"/>
              </a:srgbClr>
            </a:solidFill>
            <a:prstDash val="solid"/>
          </a:ln>
        </p:spPr>
      </p:sp>
      <p:sp>
        <p:nvSpPr>
          <p:cNvPr id="23" name="Text 20"/>
          <p:cNvSpPr/>
          <p:nvPr/>
        </p:nvSpPr>
        <p:spPr>
          <a:xfrm>
            <a:off x="8321040" y="1965960"/>
            <a:ext cx="3322015" cy="713232"/>
          </a:xfrm>
          <a:prstGeom prst="rect">
            <a:avLst/>
          </a:prstGeom>
          <a:noFill/>
          <a:ln/>
        </p:spPr>
        <p:txBody>
          <a:bodyPr wrap="square" lIns="0" tIns="0" rIns="0" bIns="0" rtlCol="0" anchor="t"/>
          <a:lstStyle/>
          <a:p>
            <a:pPr indent="0" marL="0">
              <a:buNone/>
            </a:pPr>
            <a:r>
              <a:rPr lang="en-US" sz="1200" dirty="0">
                <a:solidFill>
                  <a:srgbClr val="1B1F24"/>
                </a:solidFill>
                <a:latin typeface="Segoe UI Semibold" pitchFamily="34" charset="0"/>
                <a:ea typeface="Segoe UI Semibold" pitchFamily="34" charset="-122"/>
                <a:cs typeface="Segoe UI Semibold" pitchFamily="34" charset="-120"/>
              </a:rPr>
              <a:t>30 May 2025</a:t>
            </a:r>
            <a:endParaRPr lang="en-US" sz="1200" dirty="0"/>
          </a:p>
          <a:p>
            <a:pPr indent="0" marL="0">
              <a:buNone/>
            </a:pPr>
            <a:r>
              <a:rPr lang="en-US" sz="1100" dirty="0">
                <a:solidFill>
                  <a:srgbClr val="5B6470"/>
                </a:solidFill>
                <a:latin typeface="Segoe UI" pitchFamily="34" charset="0"/>
                <a:ea typeface="Segoe UI" pitchFamily="34" charset="-122"/>
                <a:cs typeface="Segoe UI" pitchFamily="34" charset="-120"/>
              </a:rPr>
              <a:t>Act in force</a:t>
            </a:r>
            <a:endParaRPr lang="en-US" sz="1200" dirty="0"/>
          </a:p>
        </p:txBody>
      </p:sp>
      <p:sp>
        <p:nvSpPr>
          <p:cNvPr id="24" name="Shape 21"/>
          <p:cNvSpPr/>
          <p:nvPr/>
        </p:nvSpPr>
        <p:spPr>
          <a:xfrm>
            <a:off x="8001000" y="2798064"/>
            <a:ext cx="164592" cy="164592"/>
          </a:xfrm>
          <a:prstGeom prst="ellipse">
            <a:avLst/>
          </a:prstGeom>
          <a:solidFill>
            <a:srgbClr val="0B5CAD"/>
          </a:solidFill>
          <a:ln w="12700">
            <a:solidFill>
              <a:srgbClr val="FFFFFF">
                <a:alpha val="0"/>
              </a:srgbClr>
            </a:solidFill>
            <a:prstDash val="solid"/>
          </a:ln>
        </p:spPr>
      </p:sp>
      <p:sp>
        <p:nvSpPr>
          <p:cNvPr id="25" name="Text 22"/>
          <p:cNvSpPr/>
          <p:nvPr/>
        </p:nvSpPr>
        <p:spPr>
          <a:xfrm>
            <a:off x="8321040" y="2743200"/>
            <a:ext cx="3322015" cy="713232"/>
          </a:xfrm>
          <a:prstGeom prst="rect">
            <a:avLst/>
          </a:prstGeom>
          <a:noFill/>
          <a:ln/>
        </p:spPr>
        <p:txBody>
          <a:bodyPr wrap="square" lIns="0" tIns="0" rIns="0" bIns="0" rtlCol="0" anchor="t"/>
          <a:lstStyle/>
          <a:p>
            <a:pPr indent="0" marL="0">
              <a:buNone/>
            </a:pPr>
            <a:r>
              <a:rPr lang="en-US" sz="1200" dirty="0">
                <a:solidFill>
                  <a:srgbClr val="1B1F24"/>
                </a:solidFill>
                <a:latin typeface="Segoe UI Semibold" pitchFamily="34" charset="0"/>
                <a:ea typeface="Segoe UI Semibold" pitchFamily="34" charset="-122"/>
                <a:cs typeface="Segoe UI Semibold" pitchFamily="34" charset="-120"/>
              </a:rPr>
              <a:t>1 May 2026</a:t>
            </a:r>
            <a:endParaRPr lang="en-US" sz="1200" dirty="0"/>
          </a:p>
          <a:p>
            <a:pPr indent="0" marL="0">
              <a:buNone/>
            </a:pPr>
            <a:r>
              <a:rPr lang="en-US" sz="1100" dirty="0">
                <a:solidFill>
                  <a:srgbClr val="5B6470"/>
                </a:solidFill>
                <a:latin typeface="Segoe UI" pitchFamily="34" charset="0"/>
                <a:ea typeface="Segoe UI" pitchFamily="34" charset="-122"/>
                <a:cs typeface="Segoe UI" pitchFamily="34" charset="-120"/>
              </a:rPr>
              <a:t>Grievances filed via IPGRS, routed to the IDRC</a:t>
            </a:r>
            <a:endParaRPr lang="en-US" sz="1200" dirty="0"/>
          </a:p>
        </p:txBody>
      </p:sp>
      <p:sp>
        <p:nvSpPr>
          <p:cNvPr id="26" name="Shape 23"/>
          <p:cNvSpPr/>
          <p:nvPr/>
        </p:nvSpPr>
        <p:spPr>
          <a:xfrm>
            <a:off x="8001000" y="3575304"/>
            <a:ext cx="164592" cy="164592"/>
          </a:xfrm>
          <a:prstGeom prst="ellipse">
            <a:avLst/>
          </a:prstGeom>
          <a:solidFill>
            <a:srgbClr val="0B5CAD"/>
          </a:solidFill>
          <a:ln w="12700">
            <a:solidFill>
              <a:srgbClr val="FFFFFF">
                <a:alpha val="0"/>
              </a:srgbClr>
            </a:solidFill>
            <a:prstDash val="solid"/>
          </a:ln>
        </p:spPr>
      </p:sp>
      <p:sp>
        <p:nvSpPr>
          <p:cNvPr id="27" name="Text 24"/>
          <p:cNvSpPr/>
          <p:nvPr/>
        </p:nvSpPr>
        <p:spPr>
          <a:xfrm>
            <a:off x="8321040" y="3520440"/>
            <a:ext cx="3322015" cy="713232"/>
          </a:xfrm>
          <a:prstGeom prst="rect">
            <a:avLst/>
          </a:prstGeom>
          <a:noFill/>
          <a:ln/>
        </p:spPr>
        <p:txBody>
          <a:bodyPr wrap="square" lIns="0" tIns="0" rIns="0" bIns="0" rtlCol="0" anchor="t"/>
          <a:lstStyle/>
          <a:p>
            <a:pPr indent="0" marL="0">
              <a:buNone/>
            </a:pPr>
            <a:r>
              <a:rPr lang="en-US" sz="1200" dirty="0">
                <a:solidFill>
                  <a:srgbClr val="1B1F24"/>
                </a:solidFill>
                <a:latin typeface="Segoe UI Semibold" pitchFamily="34" charset="0"/>
                <a:ea typeface="Segoe UI Semibold" pitchFamily="34" charset="-122"/>
                <a:cs typeface="Segoe UI Semibold" pitchFamily="34" charset="-120"/>
              </a:rPr>
              <a:t>3 Jul 2026</a:t>
            </a:r>
            <a:endParaRPr lang="en-US" sz="1200" dirty="0"/>
          </a:p>
          <a:p>
            <a:pPr indent="0" marL="0">
              <a:buNone/>
            </a:pPr>
            <a:r>
              <a:rPr lang="en-US" sz="1100" dirty="0">
                <a:solidFill>
                  <a:srgbClr val="5B6470"/>
                </a:solidFill>
                <a:latin typeface="Segoe UI" pitchFamily="34" charset="0"/>
                <a:ea typeface="Segoe UI" pitchFamily="34" charset="-122"/>
                <a:cs typeface="Segoe UI" pitchFamily="34" charset="-120"/>
              </a:rPr>
              <a:t>High Court declines to stay the Act; case pending</a:t>
            </a:r>
            <a:endParaRPr lang="en-US" sz="1200" dirty="0"/>
          </a:p>
        </p:txBody>
      </p:sp>
      <p:sp>
        <p:nvSpPr>
          <p:cNvPr id="28" name="Text 25"/>
          <p:cNvSpPr/>
          <p:nvPr/>
        </p:nvSpPr>
        <p:spPr>
          <a:xfrm>
            <a:off x="8001000" y="4434840"/>
            <a:ext cx="3642055" cy="1234440"/>
          </a:xfrm>
          <a:prstGeom prst="roundRect">
            <a:avLst>
              <a:gd name="adj" fmla="val 5926"/>
            </a:avLst>
          </a:prstGeom>
          <a:solidFill>
            <a:srgbClr val="FEF3F2"/>
          </a:solidFill>
          <a:ln w="12700">
            <a:solidFill>
              <a:srgbClr val="F4C7C3"/>
            </a:solidFill>
          </a:ln>
        </p:spPr>
        <p:txBody>
          <a:bodyPr wrap="square" lIns="152400" tIns="152400" rIns="152400" bIns="152400" rtlCol="0" anchor="ctr"/>
          <a:lstStyle/>
          <a:p>
            <a:pPr indent="0" marL="0">
              <a:spcAft>
                <a:spcPts val="400"/>
              </a:spcAft>
              <a:buNone/>
            </a:pPr>
            <a:r>
              <a:rPr lang="en-US" sz="1400" dirty="0">
                <a:solidFill>
                  <a:srgbClr val="B42318"/>
                </a:solidFill>
                <a:latin typeface="Segoe UI Semibold" pitchFamily="34" charset="0"/>
                <a:ea typeface="Segoe UI Semibold" pitchFamily="34" charset="-122"/>
                <a:cs typeface="Segoe UI Semibold" pitchFamily="34" charset="-120"/>
              </a:rPr>
              <a:t>Missing: the evidence</a:t>
            </a:r>
            <a:endParaRPr lang="en-US" sz="1400" dirty="0"/>
          </a:p>
          <a:p>
            <a:pPr indent="0" marL="0">
              <a:spcAft>
                <a:spcPts val="400"/>
              </a:spcAft>
              <a:buNone/>
            </a:pPr>
            <a:r>
              <a:rPr lang="en-US" sz="1150" dirty="0">
                <a:solidFill>
                  <a:srgbClr val="1B1F24"/>
                </a:solidFill>
                <a:latin typeface="Segoe UI" pitchFamily="34" charset="0"/>
                <a:ea typeface="Segoe UI" pitchFamily="34" charset="-122"/>
                <a:cs typeface="Segoe UI" pitchFamily="34" charset="-120"/>
              </a:rPr>
              <a:t>It sits in the worker's gallery and SMS inbox, and nobody reconciles it by hand.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Cline logo">    </p:cNvPr>
          <p:cNvPicPr>
            <a:picLocks noChangeAspect="1"/>
          </p:cNvPicPr>
          <p:nvPr/>
        </p:nvPicPr>
        <p:blipFill>
          <a:blip r:embed="rId1"/>
          <a:stretch>
            <a:fillRect/>
          </a:stretch>
        </p:blipFill>
        <p:spPr>
          <a:xfrm>
            <a:off x="10537269" y="402336"/>
            <a:ext cx="1105786" cy="237744"/>
          </a:xfrm>
          <a:prstGeom prst="rect">
            <a:avLst/>
          </a:prstGeom>
        </p:spPr>
      </p:pic>
      <p:sp>
        <p:nvSpPr>
          <p:cNvPr id="3" name="Text 0"/>
          <p:cNvSpPr/>
          <p:nvPr/>
        </p:nvSpPr>
        <p:spPr>
          <a:xfrm>
            <a:off x="9622869" y="402336"/>
            <a:ext cx="822960" cy="237744"/>
          </a:xfrm>
          <a:prstGeom prst="rect">
            <a:avLst/>
          </a:prstGeom>
          <a:noFill/>
          <a:ln/>
        </p:spPr>
        <p:txBody>
          <a:bodyPr wrap="square" lIns="0" tIns="0" rIns="0" bIns="0" rtlCol="0" anchor="ctr"/>
          <a:lstStyle/>
          <a:p>
            <a:pPr algn="r" indent="0" marL="0">
              <a:buNone/>
            </a:pPr>
            <a:r>
              <a:rPr lang="en-US" sz="900" dirty="0">
                <a:solidFill>
                  <a:srgbClr val="5B6470"/>
                </a:solidFill>
                <a:latin typeface="Segoe UI" pitchFamily="34" charset="0"/>
                <a:ea typeface="Segoe UI" pitchFamily="34" charset="-122"/>
                <a:cs typeface="Segoe UI" pitchFamily="34" charset="-120"/>
              </a:rPr>
              <a:t>Built with</a:t>
            </a:r>
            <a:endParaRPr lang="en-US" sz="900" dirty="0"/>
          </a:p>
        </p:txBody>
      </p:sp>
      <p:sp>
        <p:nvSpPr>
          <p:cNvPr id="4" name="Text 1"/>
          <p:cNvSpPr/>
          <p:nvPr/>
        </p:nvSpPr>
        <p:spPr>
          <a:xfrm>
            <a:off x="548640" y="384048"/>
            <a:ext cx="11094415" cy="274320"/>
          </a:xfrm>
          <a:prstGeom prst="rect">
            <a:avLst/>
          </a:prstGeom>
          <a:noFill/>
          <a:ln/>
        </p:spPr>
        <p:txBody>
          <a:bodyPr wrap="square" lIns="0" tIns="0" rIns="0" bIns="0" rtlCol="0" anchor="ctr"/>
          <a:lstStyle/>
          <a:p>
            <a:pPr indent="0" marL="0">
              <a:buNone/>
            </a:pPr>
            <a:r>
              <a:rPr lang="en-US" sz="1100" spc="200" kern="0" dirty="0">
                <a:solidFill>
                  <a:srgbClr val="0B5CAD"/>
                </a:solidFill>
                <a:latin typeface="Segoe UI Semibold" pitchFamily="34" charset="0"/>
                <a:ea typeface="Segoe UI Semibold" pitchFamily="34" charset="-122"/>
                <a:cs typeface="Segoe UI Semibold" pitchFamily="34" charset="-120"/>
              </a:rPr>
              <a:t>05   THE SOLUTION</a:t>
            </a:r>
            <a:endParaRPr lang="en-US" sz="1100" dirty="0"/>
          </a:p>
        </p:txBody>
      </p:sp>
      <p:sp>
        <p:nvSpPr>
          <p:cNvPr id="5" name="Text 2"/>
          <p:cNvSpPr/>
          <p:nvPr/>
        </p:nvSpPr>
        <p:spPr>
          <a:xfrm>
            <a:off x="548640" y="676656"/>
            <a:ext cx="11094415" cy="685800"/>
          </a:xfrm>
          <a:prstGeom prst="rect">
            <a:avLst/>
          </a:prstGeom>
          <a:noFill/>
          <a:ln/>
        </p:spPr>
        <p:txBody>
          <a:bodyPr wrap="square" lIns="0" tIns="0" rIns="0" bIns="0" rtlCol="0" anchor="t"/>
          <a:lstStyle/>
          <a:p>
            <a:pPr indent="0" marL="0">
              <a:buNone/>
            </a:pPr>
            <a:r>
              <a:rPr lang="en-US" sz="2800" dirty="0">
                <a:solidFill>
                  <a:srgbClr val="1B1F24"/>
                </a:solidFill>
                <a:latin typeface="Segoe UI Semibold" pitchFamily="34" charset="0"/>
                <a:ea typeface="Segoe UI Semibold" pitchFamily="34" charset="-122"/>
                <a:cs typeface="Segoe UI Semibold" pitchFamily="34" charset="-120"/>
              </a:rPr>
              <a:t>From a pile of screenshots to a docket a committee can act on</a:t>
            </a:r>
            <a:endParaRPr lang="en-US" sz="2800" dirty="0"/>
          </a:p>
        </p:txBody>
      </p:sp>
      <p:sp>
        <p:nvSpPr>
          <p:cNvPr id="6" name="Shape 3"/>
          <p:cNvSpPr/>
          <p:nvPr/>
        </p:nvSpPr>
        <p:spPr>
          <a:xfrm>
            <a:off x="548640" y="6437376"/>
            <a:ext cx="82296" cy="82296"/>
          </a:xfrm>
          <a:prstGeom prst="rect">
            <a:avLst/>
          </a:prstGeom>
          <a:solidFill>
            <a:srgbClr val="0B5CAD"/>
          </a:solidFill>
          <a:ln w="12700">
            <a:solidFill>
              <a:srgbClr val="FFFFFF">
                <a:alpha val="0"/>
              </a:srgbClr>
            </a:solidFill>
            <a:prstDash val="solid"/>
          </a:ln>
        </p:spPr>
      </p:sp>
      <p:sp>
        <p:nvSpPr>
          <p:cNvPr id="7" name="Text 4"/>
          <p:cNvSpPr/>
          <p:nvPr/>
        </p:nvSpPr>
        <p:spPr>
          <a:xfrm>
            <a:off x="731520" y="6364224"/>
            <a:ext cx="5486400" cy="228600"/>
          </a:xfrm>
          <a:prstGeom prst="rect">
            <a:avLst/>
          </a:prstGeom>
          <a:noFill/>
          <a:ln/>
        </p:spPr>
        <p:txBody>
          <a:bodyPr wrap="square" lIns="0" tIns="0" rIns="0" bIns="0" rtlCol="0" anchor="ctr"/>
          <a:lstStyle/>
          <a:p>
            <a:pPr indent="0" marL="0">
              <a:buNone/>
            </a:pPr>
            <a:r>
              <a:rPr lang="en-US" sz="900" dirty="0">
                <a:solidFill>
                  <a:srgbClr val="5B6470"/>
                </a:solidFill>
                <a:latin typeface="Segoe UI" pitchFamily="34" charset="0"/>
                <a:ea typeface="Segoe UI" pitchFamily="34" charset="-122"/>
                <a:cs typeface="Segoe UI" pitchFamily="34" charset="-120"/>
              </a:rPr>
              <a:t>Nyaya-Ledger  ·  Cline AI Builder Hackathon</a:t>
            </a:r>
            <a:endParaRPr lang="en-US" sz="900" dirty="0"/>
          </a:p>
        </p:txBody>
      </p:sp>
      <p:sp>
        <p:nvSpPr>
          <p:cNvPr id="8" name="Text 5"/>
          <p:cNvSpPr/>
          <p:nvPr/>
        </p:nvSpPr>
        <p:spPr>
          <a:xfrm>
            <a:off x="10271455" y="6364224"/>
            <a:ext cx="1371600" cy="228600"/>
          </a:xfrm>
          <a:prstGeom prst="rect">
            <a:avLst/>
          </a:prstGeom>
          <a:noFill/>
          <a:ln/>
        </p:spPr>
        <p:txBody>
          <a:bodyPr wrap="square" lIns="0" tIns="0" rIns="0" bIns="0" rtlCol="0" anchor="ctr"/>
          <a:lstStyle/>
          <a:p>
            <a:pPr algn="r" indent="0" marL="0">
              <a:buNone/>
            </a:pPr>
            <a:r>
              <a:rPr lang="en-US" sz="900" dirty="0">
                <a:solidFill>
                  <a:srgbClr val="5B6470"/>
                </a:solidFill>
                <a:latin typeface="Segoe UI" pitchFamily="34" charset="0"/>
                <a:ea typeface="Segoe UI" pitchFamily="34" charset="-122"/>
                <a:cs typeface="Segoe UI" pitchFamily="34" charset="-120"/>
              </a:rPr>
              <a:t>5 / 11</a:t>
            </a:r>
            <a:endParaRPr lang="en-US" sz="900" dirty="0"/>
          </a:p>
        </p:txBody>
      </p:sp>
      <p:sp>
        <p:nvSpPr>
          <p:cNvPr id="9" name="Text 6"/>
          <p:cNvSpPr/>
          <p:nvPr/>
        </p:nvSpPr>
        <p:spPr>
          <a:xfrm>
            <a:off x="548640" y="1463040"/>
            <a:ext cx="11094415" cy="320040"/>
          </a:xfrm>
          <a:prstGeom prst="rect">
            <a:avLst/>
          </a:prstGeom>
          <a:noFill/>
          <a:ln/>
        </p:spPr>
        <p:txBody>
          <a:bodyPr wrap="square" lIns="0" tIns="0" rIns="0" bIns="0" rtlCol="0" anchor="ctr"/>
          <a:lstStyle/>
          <a:p>
            <a:pPr indent="0" marL="0">
              <a:buNone/>
            </a:pPr>
            <a:r>
              <a:rPr lang="en-US" sz="1300" dirty="0">
                <a:solidFill>
                  <a:srgbClr val="5B6470"/>
                </a:solidFill>
                <a:latin typeface="Segoe UI" pitchFamily="34" charset="0"/>
                <a:ea typeface="Segoe UI" pitchFamily="34" charset="-122"/>
                <a:cs typeface="Segoe UI" pitchFamily="34" charset="-120"/>
              </a:rPr>
              <a:t>Upload payout screenshots, paste bank SMS, add hours and fuel cost. Nyaya-Ledger does the rest:</a:t>
            </a:r>
            <a:endParaRPr lang="en-US" sz="1300" dirty="0"/>
          </a:p>
        </p:txBody>
      </p:sp>
      <p:sp>
        <p:nvSpPr>
          <p:cNvPr id="10" name="Shape 7"/>
          <p:cNvSpPr/>
          <p:nvPr/>
        </p:nvSpPr>
        <p:spPr>
          <a:xfrm>
            <a:off x="548640" y="2011680"/>
            <a:ext cx="1635709" cy="1965960"/>
          </a:xfrm>
          <a:prstGeom prst="roundRect">
            <a:avLst>
              <a:gd name="adj" fmla="val 5590"/>
            </a:avLst>
          </a:prstGeom>
          <a:solidFill>
            <a:srgbClr val="EAF2FB"/>
          </a:solidFill>
          <a:ln w="12700">
            <a:solidFill>
              <a:srgbClr val="B9D3EE"/>
            </a:solidFill>
            <a:prstDash val="solid"/>
          </a:ln>
        </p:spPr>
      </p:sp>
      <p:sp>
        <p:nvSpPr>
          <p:cNvPr id="11" name="Text 8"/>
          <p:cNvSpPr/>
          <p:nvPr/>
        </p:nvSpPr>
        <p:spPr>
          <a:xfrm>
            <a:off x="713232" y="2121408"/>
            <a:ext cx="548640" cy="457200"/>
          </a:xfrm>
          <a:prstGeom prst="rect">
            <a:avLst/>
          </a:prstGeom>
          <a:noFill/>
          <a:ln/>
        </p:spPr>
        <p:txBody>
          <a:bodyPr wrap="square" lIns="0" tIns="0" rIns="0" bIns="0" rtlCol="0" anchor="ctr"/>
          <a:lstStyle/>
          <a:p>
            <a:pPr indent="0" marL="0">
              <a:buNone/>
            </a:pPr>
            <a:r>
              <a:rPr lang="en-US" sz="2600" dirty="0">
                <a:solidFill>
                  <a:srgbClr val="0B5CAD"/>
                </a:solidFill>
                <a:latin typeface="Segoe UI Light" pitchFamily="34" charset="0"/>
                <a:ea typeface="Segoe UI Light" pitchFamily="34" charset="-122"/>
                <a:cs typeface="Segoe UI Light" pitchFamily="34" charset="-120"/>
              </a:rPr>
              <a:t>1</a:t>
            </a:r>
            <a:endParaRPr lang="en-US" sz="2600" dirty="0"/>
          </a:p>
        </p:txBody>
      </p:sp>
      <p:sp>
        <p:nvSpPr>
          <p:cNvPr id="12" name="Text 9"/>
          <p:cNvSpPr/>
          <p:nvPr/>
        </p:nvSpPr>
        <p:spPr>
          <a:xfrm>
            <a:off x="713232" y="2651760"/>
            <a:ext cx="1343101" cy="1234440"/>
          </a:xfrm>
          <a:prstGeom prst="rect">
            <a:avLst/>
          </a:prstGeom>
          <a:noFill/>
          <a:ln/>
        </p:spPr>
        <p:txBody>
          <a:bodyPr wrap="square" lIns="0" tIns="0" rIns="0" bIns="0" rtlCol="0" anchor="t"/>
          <a:lstStyle/>
          <a:p>
            <a:pPr indent="0" marL="0">
              <a:spcAft>
                <a:spcPts val="400"/>
              </a:spcAft>
              <a:buNone/>
            </a:pPr>
            <a:r>
              <a:rPr lang="en-US" sz="1500" dirty="0">
                <a:solidFill>
                  <a:srgbClr val="1B1F24"/>
                </a:solidFill>
                <a:latin typeface="Segoe UI Semibold" pitchFamily="34" charset="0"/>
                <a:ea typeface="Segoe UI Semibold" pitchFamily="34" charset="-122"/>
                <a:cs typeface="Segoe UI Semibold" pitchFamily="34" charset="-120"/>
              </a:rPr>
              <a:t>Read</a:t>
            </a:r>
            <a:endParaRPr lang="en-US" sz="1500" dirty="0"/>
          </a:p>
          <a:p>
            <a:pPr indent="0" marL="0">
              <a:spcAft>
                <a:spcPts val="400"/>
              </a:spcAft>
              <a:buNone/>
            </a:pPr>
            <a:r>
              <a:rPr lang="en-US" sz="1050" dirty="0">
                <a:solidFill>
                  <a:srgbClr val="5B6470"/>
                </a:solidFill>
                <a:latin typeface="Segoe UI" pitchFamily="34" charset="0"/>
                <a:ea typeface="Segoe UI" pitchFamily="34" charset="-122"/>
                <a:cs typeface="Segoe UI" pitchFamily="34" charset="-120"/>
              </a:rPr>
              <a:t>Vision model reads each screenshot. SMS parsed by plain code, no AI</a:t>
            </a:r>
            <a:endParaRPr lang="en-US" sz="1500" dirty="0"/>
          </a:p>
        </p:txBody>
      </p:sp>
      <p:sp>
        <p:nvSpPr>
          <p:cNvPr id="13" name="Shape 10"/>
          <p:cNvSpPr/>
          <p:nvPr/>
        </p:nvSpPr>
        <p:spPr>
          <a:xfrm>
            <a:off x="2211781" y="2990088"/>
            <a:ext cx="201168" cy="0"/>
          </a:xfrm>
          <a:prstGeom prst="line">
            <a:avLst/>
          </a:prstGeom>
          <a:noFill/>
          <a:ln w="15875">
            <a:solidFill>
              <a:srgbClr val="9AA4B2"/>
            </a:solidFill>
            <a:prstDash val="solid"/>
            <a:tailEnd type="triangle"/>
          </a:ln>
        </p:spPr>
      </p:sp>
      <p:sp>
        <p:nvSpPr>
          <p:cNvPr id="14" name="Shape 11"/>
          <p:cNvSpPr/>
          <p:nvPr/>
        </p:nvSpPr>
        <p:spPr>
          <a:xfrm>
            <a:off x="2440381" y="2011680"/>
            <a:ext cx="1635709" cy="1965960"/>
          </a:xfrm>
          <a:prstGeom prst="roundRect">
            <a:avLst>
              <a:gd name="adj" fmla="val 5590"/>
            </a:avLst>
          </a:prstGeom>
          <a:solidFill>
            <a:srgbClr val="ECFDF3"/>
          </a:solidFill>
          <a:ln w="12700">
            <a:solidFill>
              <a:srgbClr val="A6E3C1"/>
            </a:solidFill>
            <a:prstDash val="solid"/>
          </a:ln>
        </p:spPr>
      </p:sp>
      <p:sp>
        <p:nvSpPr>
          <p:cNvPr id="15" name="Text 12"/>
          <p:cNvSpPr/>
          <p:nvPr/>
        </p:nvSpPr>
        <p:spPr>
          <a:xfrm>
            <a:off x="2604973" y="2121408"/>
            <a:ext cx="548640" cy="457200"/>
          </a:xfrm>
          <a:prstGeom prst="rect">
            <a:avLst/>
          </a:prstGeom>
          <a:noFill/>
          <a:ln/>
        </p:spPr>
        <p:txBody>
          <a:bodyPr wrap="square" lIns="0" tIns="0" rIns="0" bIns="0" rtlCol="0" anchor="ctr"/>
          <a:lstStyle/>
          <a:p>
            <a:pPr indent="0" marL="0">
              <a:buNone/>
            </a:pPr>
            <a:r>
              <a:rPr lang="en-US" sz="2600" dirty="0">
                <a:solidFill>
                  <a:srgbClr val="067647"/>
                </a:solidFill>
                <a:latin typeface="Segoe UI Light" pitchFamily="34" charset="0"/>
                <a:ea typeface="Segoe UI Light" pitchFamily="34" charset="-122"/>
                <a:cs typeface="Segoe UI Light" pitchFamily="34" charset="-120"/>
              </a:rPr>
              <a:t>2</a:t>
            </a:r>
            <a:endParaRPr lang="en-US" sz="2600" dirty="0"/>
          </a:p>
        </p:txBody>
      </p:sp>
      <p:sp>
        <p:nvSpPr>
          <p:cNvPr id="16" name="Text 13"/>
          <p:cNvSpPr/>
          <p:nvPr/>
        </p:nvSpPr>
        <p:spPr>
          <a:xfrm>
            <a:off x="2604973" y="2651760"/>
            <a:ext cx="1343101" cy="1234440"/>
          </a:xfrm>
          <a:prstGeom prst="rect">
            <a:avLst/>
          </a:prstGeom>
          <a:noFill/>
          <a:ln/>
        </p:spPr>
        <p:txBody>
          <a:bodyPr wrap="square" lIns="0" tIns="0" rIns="0" bIns="0" rtlCol="0" anchor="t"/>
          <a:lstStyle/>
          <a:p>
            <a:pPr indent="0" marL="0">
              <a:spcAft>
                <a:spcPts val="400"/>
              </a:spcAft>
              <a:buNone/>
            </a:pPr>
            <a:r>
              <a:rPr lang="en-US" sz="1500" dirty="0">
                <a:solidFill>
                  <a:srgbClr val="1B1F24"/>
                </a:solidFill>
                <a:latin typeface="Segoe UI Semibold" pitchFamily="34" charset="0"/>
                <a:ea typeface="Segoe UI Semibold" pitchFamily="34" charset="-122"/>
                <a:cs typeface="Segoe UI Semibold" pitchFamily="34" charset="-120"/>
              </a:rPr>
              <a:t>Confirm</a:t>
            </a:r>
            <a:endParaRPr lang="en-US" sz="1500" dirty="0"/>
          </a:p>
          <a:p>
            <a:pPr indent="0" marL="0">
              <a:spcAft>
                <a:spcPts val="400"/>
              </a:spcAft>
              <a:buNone/>
            </a:pPr>
            <a:r>
              <a:rPr lang="en-US" sz="1050" dirty="0">
                <a:solidFill>
                  <a:srgbClr val="5B6470"/>
                </a:solidFill>
                <a:latin typeface="Segoe UI" pitchFamily="34" charset="0"/>
                <a:ea typeface="Segoe UI" pitchFamily="34" charset="-122"/>
                <a:cs typeface="Segoe UI" pitchFamily="34" charset="-120"/>
              </a:rPr>
              <a:t>Worker checks and corrects every number</a:t>
            </a:r>
            <a:endParaRPr lang="en-US" sz="1500" dirty="0"/>
          </a:p>
        </p:txBody>
      </p:sp>
      <p:sp>
        <p:nvSpPr>
          <p:cNvPr id="17" name="Shape 14"/>
          <p:cNvSpPr/>
          <p:nvPr/>
        </p:nvSpPr>
        <p:spPr>
          <a:xfrm>
            <a:off x="4103522" y="2990088"/>
            <a:ext cx="201168" cy="0"/>
          </a:xfrm>
          <a:prstGeom prst="line">
            <a:avLst/>
          </a:prstGeom>
          <a:noFill/>
          <a:ln w="15875">
            <a:solidFill>
              <a:srgbClr val="9AA4B2"/>
            </a:solidFill>
            <a:prstDash val="solid"/>
            <a:tailEnd type="triangle"/>
          </a:ln>
        </p:spPr>
      </p:sp>
      <p:sp>
        <p:nvSpPr>
          <p:cNvPr id="18" name="Shape 15"/>
          <p:cNvSpPr/>
          <p:nvPr/>
        </p:nvSpPr>
        <p:spPr>
          <a:xfrm>
            <a:off x="4332122" y="2011680"/>
            <a:ext cx="1635709" cy="1965960"/>
          </a:xfrm>
          <a:prstGeom prst="roundRect">
            <a:avLst>
              <a:gd name="adj" fmla="val 5590"/>
            </a:avLst>
          </a:prstGeom>
          <a:solidFill>
            <a:srgbClr val="F6F7F9"/>
          </a:solidFill>
          <a:ln w="12700">
            <a:solidFill>
              <a:srgbClr val="D9DEE4"/>
            </a:solidFill>
            <a:prstDash val="solid"/>
          </a:ln>
        </p:spPr>
      </p:sp>
      <p:sp>
        <p:nvSpPr>
          <p:cNvPr id="19" name="Text 16"/>
          <p:cNvSpPr/>
          <p:nvPr/>
        </p:nvSpPr>
        <p:spPr>
          <a:xfrm>
            <a:off x="4496714" y="2121408"/>
            <a:ext cx="548640" cy="457200"/>
          </a:xfrm>
          <a:prstGeom prst="rect">
            <a:avLst/>
          </a:prstGeom>
          <a:noFill/>
          <a:ln/>
        </p:spPr>
        <p:txBody>
          <a:bodyPr wrap="square" lIns="0" tIns="0" rIns="0" bIns="0" rtlCol="0" anchor="ctr"/>
          <a:lstStyle/>
          <a:p>
            <a:pPr indent="0" marL="0">
              <a:buNone/>
            </a:pPr>
            <a:r>
              <a:rPr lang="en-US" sz="2600" dirty="0">
                <a:solidFill>
                  <a:srgbClr val="1B1F24"/>
                </a:solidFill>
                <a:latin typeface="Segoe UI Light" pitchFamily="34" charset="0"/>
                <a:ea typeface="Segoe UI Light" pitchFamily="34" charset="-122"/>
                <a:cs typeface="Segoe UI Light" pitchFamily="34" charset="-120"/>
              </a:rPr>
              <a:t>3</a:t>
            </a:r>
            <a:endParaRPr lang="en-US" sz="2600" dirty="0"/>
          </a:p>
        </p:txBody>
      </p:sp>
      <p:sp>
        <p:nvSpPr>
          <p:cNvPr id="20" name="Text 17"/>
          <p:cNvSpPr/>
          <p:nvPr/>
        </p:nvSpPr>
        <p:spPr>
          <a:xfrm>
            <a:off x="4496714" y="2651760"/>
            <a:ext cx="1343101" cy="1234440"/>
          </a:xfrm>
          <a:prstGeom prst="rect">
            <a:avLst/>
          </a:prstGeom>
          <a:noFill/>
          <a:ln/>
        </p:spPr>
        <p:txBody>
          <a:bodyPr wrap="square" lIns="0" tIns="0" rIns="0" bIns="0" rtlCol="0" anchor="t"/>
          <a:lstStyle/>
          <a:p>
            <a:pPr indent="0" marL="0">
              <a:spcAft>
                <a:spcPts val="400"/>
              </a:spcAft>
              <a:buNone/>
            </a:pPr>
            <a:r>
              <a:rPr lang="en-US" sz="1500" dirty="0">
                <a:solidFill>
                  <a:srgbClr val="1B1F24"/>
                </a:solidFill>
                <a:latin typeface="Segoe UI Semibold" pitchFamily="34" charset="0"/>
                <a:ea typeface="Segoe UI Semibold" pitchFamily="34" charset="-122"/>
                <a:cs typeface="Segoe UI Semibold" pitchFamily="34" charset="-120"/>
              </a:rPr>
              <a:t>Check</a:t>
            </a:r>
            <a:endParaRPr lang="en-US" sz="1500" dirty="0"/>
          </a:p>
          <a:p>
            <a:pPr indent="0" marL="0">
              <a:spcAft>
                <a:spcPts val="400"/>
              </a:spcAft>
              <a:buNone/>
            </a:pPr>
            <a:r>
              <a:rPr lang="en-US" sz="1050" dirty="0">
                <a:solidFill>
                  <a:srgbClr val="5B6470"/>
                </a:solidFill>
                <a:latin typeface="Segoe UI" pitchFamily="34" charset="0"/>
                <a:ea typeface="Segoe UI" pitchFamily="34" charset="-122"/>
                <a:cs typeface="Segoe UI" pitchFamily="34" charset="-120"/>
              </a:rPr>
              <a:t>Deterministic, unit-tested audit checks</a:t>
            </a:r>
            <a:endParaRPr lang="en-US" sz="1500" dirty="0"/>
          </a:p>
        </p:txBody>
      </p:sp>
      <p:sp>
        <p:nvSpPr>
          <p:cNvPr id="21" name="Shape 18"/>
          <p:cNvSpPr/>
          <p:nvPr/>
        </p:nvSpPr>
        <p:spPr>
          <a:xfrm>
            <a:off x="5995264" y="2990088"/>
            <a:ext cx="201168" cy="0"/>
          </a:xfrm>
          <a:prstGeom prst="line">
            <a:avLst/>
          </a:prstGeom>
          <a:noFill/>
          <a:ln w="15875">
            <a:solidFill>
              <a:srgbClr val="9AA4B2"/>
            </a:solidFill>
            <a:prstDash val="solid"/>
            <a:tailEnd type="triangle"/>
          </a:ln>
        </p:spPr>
      </p:sp>
      <p:sp>
        <p:nvSpPr>
          <p:cNvPr id="22" name="Shape 19"/>
          <p:cNvSpPr/>
          <p:nvPr/>
        </p:nvSpPr>
        <p:spPr>
          <a:xfrm>
            <a:off x="6223864" y="2011680"/>
            <a:ext cx="1635709" cy="1965960"/>
          </a:xfrm>
          <a:prstGeom prst="roundRect">
            <a:avLst>
              <a:gd name="adj" fmla="val 5590"/>
            </a:avLst>
          </a:prstGeom>
          <a:solidFill>
            <a:srgbClr val="F6F7F9"/>
          </a:solidFill>
          <a:ln w="12700">
            <a:solidFill>
              <a:srgbClr val="D9DEE4"/>
            </a:solidFill>
            <a:prstDash val="solid"/>
          </a:ln>
        </p:spPr>
      </p:sp>
      <p:sp>
        <p:nvSpPr>
          <p:cNvPr id="23" name="Text 20"/>
          <p:cNvSpPr/>
          <p:nvPr/>
        </p:nvSpPr>
        <p:spPr>
          <a:xfrm>
            <a:off x="6388456" y="2121408"/>
            <a:ext cx="548640" cy="457200"/>
          </a:xfrm>
          <a:prstGeom prst="rect">
            <a:avLst/>
          </a:prstGeom>
          <a:noFill/>
          <a:ln/>
        </p:spPr>
        <p:txBody>
          <a:bodyPr wrap="square" lIns="0" tIns="0" rIns="0" bIns="0" rtlCol="0" anchor="ctr"/>
          <a:lstStyle/>
          <a:p>
            <a:pPr indent="0" marL="0">
              <a:buNone/>
            </a:pPr>
            <a:r>
              <a:rPr lang="en-US" sz="2600" dirty="0">
                <a:solidFill>
                  <a:srgbClr val="1B1F24"/>
                </a:solidFill>
                <a:latin typeface="Segoe UI Light" pitchFamily="34" charset="0"/>
                <a:ea typeface="Segoe UI Light" pitchFamily="34" charset="-122"/>
                <a:cs typeface="Segoe UI Light" pitchFamily="34" charset="-120"/>
              </a:rPr>
              <a:t>4</a:t>
            </a:r>
            <a:endParaRPr lang="en-US" sz="2600" dirty="0"/>
          </a:p>
        </p:txBody>
      </p:sp>
      <p:sp>
        <p:nvSpPr>
          <p:cNvPr id="24" name="Text 21"/>
          <p:cNvSpPr/>
          <p:nvPr/>
        </p:nvSpPr>
        <p:spPr>
          <a:xfrm>
            <a:off x="6388456" y="2651760"/>
            <a:ext cx="1343101" cy="1234440"/>
          </a:xfrm>
          <a:prstGeom prst="rect">
            <a:avLst/>
          </a:prstGeom>
          <a:noFill/>
          <a:ln/>
        </p:spPr>
        <p:txBody>
          <a:bodyPr wrap="square" lIns="0" tIns="0" rIns="0" bIns="0" rtlCol="0" anchor="t"/>
          <a:lstStyle/>
          <a:p>
            <a:pPr indent="0" marL="0">
              <a:spcAft>
                <a:spcPts val="400"/>
              </a:spcAft>
              <a:buNone/>
            </a:pPr>
            <a:r>
              <a:rPr lang="en-US" sz="1500" dirty="0">
                <a:solidFill>
                  <a:srgbClr val="1B1F24"/>
                </a:solidFill>
                <a:latin typeface="Segoe UI Semibold" pitchFamily="34" charset="0"/>
                <a:ea typeface="Segoe UI Semibold" pitchFamily="34" charset="-122"/>
                <a:cs typeface="Segoe UI Semibold" pitchFamily="34" charset="-120"/>
              </a:rPr>
              <a:t>Quote</a:t>
            </a:r>
            <a:endParaRPr lang="en-US" sz="1500" dirty="0"/>
          </a:p>
          <a:p>
            <a:pPr indent="0" marL="0">
              <a:spcAft>
                <a:spcPts val="400"/>
              </a:spcAft>
              <a:buNone/>
            </a:pPr>
            <a:r>
              <a:rPr lang="en-US" sz="1050" dirty="0">
                <a:solidFill>
                  <a:srgbClr val="5B6470"/>
                </a:solidFill>
                <a:latin typeface="Segoe UI" pitchFamily="34" charset="0"/>
                <a:ea typeface="Segoe UI" pitchFamily="34" charset="-122"/>
                <a:cs typeface="Segoe UI" pitchFamily="34" charset="-120"/>
              </a:rPr>
              <a:t>Exact clause text from a bundled copy of the Act</a:t>
            </a:r>
            <a:endParaRPr lang="en-US" sz="1500" dirty="0"/>
          </a:p>
        </p:txBody>
      </p:sp>
      <p:sp>
        <p:nvSpPr>
          <p:cNvPr id="25" name="Shape 22"/>
          <p:cNvSpPr/>
          <p:nvPr/>
        </p:nvSpPr>
        <p:spPr>
          <a:xfrm>
            <a:off x="7887005" y="2990088"/>
            <a:ext cx="201168" cy="0"/>
          </a:xfrm>
          <a:prstGeom prst="line">
            <a:avLst/>
          </a:prstGeom>
          <a:noFill/>
          <a:ln w="15875">
            <a:solidFill>
              <a:srgbClr val="9AA4B2"/>
            </a:solidFill>
            <a:prstDash val="solid"/>
            <a:tailEnd type="triangle"/>
          </a:ln>
        </p:spPr>
      </p:sp>
      <p:sp>
        <p:nvSpPr>
          <p:cNvPr id="26" name="Shape 23"/>
          <p:cNvSpPr/>
          <p:nvPr/>
        </p:nvSpPr>
        <p:spPr>
          <a:xfrm>
            <a:off x="8115605" y="2011680"/>
            <a:ext cx="1635709" cy="1965960"/>
          </a:xfrm>
          <a:prstGeom prst="roundRect">
            <a:avLst>
              <a:gd name="adj" fmla="val 5590"/>
            </a:avLst>
          </a:prstGeom>
          <a:solidFill>
            <a:srgbClr val="EAF2FB"/>
          </a:solidFill>
          <a:ln w="12700">
            <a:solidFill>
              <a:srgbClr val="B9D3EE"/>
            </a:solidFill>
            <a:prstDash val="solid"/>
          </a:ln>
        </p:spPr>
      </p:sp>
      <p:sp>
        <p:nvSpPr>
          <p:cNvPr id="27" name="Text 24"/>
          <p:cNvSpPr/>
          <p:nvPr/>
        </p:nvSpPr>
        <p:spPr>
          <a:xfrm>
            <a:off x="8280197" y="2121408"/>
            <a:ext cx="548640" cy="457200"/>
          </a:xfrm>
          <a:prstGeom prst="rect">
            <a:avLst/>
          </a:prstGeom>
          <a:noFill/>
          <a:ln/>
        </p:spPr>
        <p:txBody>
          <a:bodyPr wrap="square" lIns="0" tIns="0" rIns="0" bIns="0" rtlCol="0" anchor="ctr"/>
          <a:lstStyle/>
          <a:p>
            <a:pPr indent="0" marL="0">
              <a:buNone/>
            </a:pPr>
            <a:r>
              <a:rPr lang="en-US" sz="2600" dirty="0">
                <a:solidFill>
                  <a:srgbClr val="0B5CAD"/>
                </a:solidFill>
                <a:latin typeface="Segoe UI Light" pitchFamily="34" charset="0"/>
                <a:ea typeface="Segoe UI Light" pitchFamily="34" charset="-122"/>
                <a:cs typeface="Segoe UI Light" pitchFamily="34" charset="-120"/>
              </a:rPr>
              <a:t>5</a:t>
            </a:r>
            <a:endParaRPr lang="en-US" sz="2600" dirty="0"/>
          </a:p>
        </p:txBody>
      </p:sp>
      <p:sp>
        <p:nvSpPr>
          <p:cNvPr id="28" name="Text 25"/>
          <p:cNvSpPr/>
          <p:nvPr/>
        </p:nvSpPr>
        <p:spPr>
          <a:xfrm>
            <a:off x="8280197" y="2651760"/>
            <a:ext cx="1343101" cy="1234440"/>
          </a:xfrm>
          <a:prstGeom prst="rect">
            <a:avLst/>
          </a:prstGeom>
          <a:noFill/>
          <a:ln/>
        </p:spPr>
        <p:txBody>
          <a:bodyPr wrap="square" lIns="0" tIns="0" rIns="0" bIns="0" rtlCol="0" anchor="t"/>
          <a:lstStyle/>
          <a:p>
            <a:pPr indent="0" marL="0">
              <a:spcAft>
                <a:spcPts val="400"/>
              </a:spcAft>
              <a:buNone/>
            </a:pPr>
            <a:r>
              <a:rPr lang="en-US" sz="1500" dirty="0">
                <a:solidFill>
                  <a:srgbClr val="1B1F24"/>
                </a:solidFill>
                <a:latin typeface="Segoe UI Semibold" pitchFamily="34" charset="0"/>
                <a:ea typeface="Segoe UI Semibold" pitchFamily="34" charset="-122"/>
                <a:cs typeface="Segoe UI Semibold" pitchFamily="34" charset="-120"/>
              </a:rPr>
              <a:t>Draft</a:t>
            </a:r>
            <a:endParaRPr lang="en-US" sz="1500" dirty="0"/>
          </a:p>
          <a:p>
            <a:pPr indent="0" marL="0">
              <a:spcAft>
                <a:spcPts val="400"/>
              </a:spcAft>
              <a:buNone/>
            </a:pPr>
            <a:r>
              <a:rPr lang="en-US" sz="1050" dirty="0">
                <a:solidFill>
                  <a:srgbClr val="5B6470"/>
                </a:solidFill>
                <a:latin typeface="Segoe UI" pitchFamily="34" charset="0"/>
                <a:ea typeface="Segoe UI" pitchFamily="34" charset="-122"/>
                <a:cs typeface="Segoe UI" pitchFamily="34" charset="-120"/>
              </a:rPr>
              <a:t>Grievance letter + s.13 request in Kannada, Hindi or English</a:t>
            </a:r>
            <a:endParaRPr lang="en-US" sz="1500" dirty="0"/>
          </a:p>
        </p:txBody>
      </p:sp>
      <p:sp>
        <p:nvSpPr>
          <p:cNvPr id="29" name="Shape 26"/>
          <p:cNvSpPr/>
          <p:nvPr/>
        </p:nvSpPr>
        <p:spPr>
          <a:xfrm>
            <a:off x="9778746" y="2990088"/>
            <a:ext cx="201168" cy="0"/>
          </a:xfrm>
          <a:prstGeom prst="line">
            <a:avLst/>
          </a:prstGeom>
          <a:noFill/>
          <a:ln w="15875">
            <a:solidFill>
              <a:srgbClr val="9AA4B2"/>
            </a:solidFill>
            <a:prstDash val="solid"/>
            <a:tailEnd type="triangle"/>
          </a:ln>
        </p:spPr>
      </p:sp>
      <p:sp>
        <p:nvSpPr>
          <p:cNvPr id="30" name="Shape 27"/>
          <p:cNvSpPr/>
          <p:nvPr/>
        </p:nvSpPr>
        <p:spPr>
          <a:xfrm>
            <a:off x="10007346" y="2011680"/>
            <a:ext cx="1635709" cy="1965960"/>
          </a:xfrm>
          <a:prstGeom prst="roundRect">
            <a:avLst>
              <a:gd name="adj" fmla="val 5590"/>
            </a:avLst>
          </a:prstGeom>
          <a:solidFill>
            <a:srgbClr val="ECFDF3"/>
          </a:solidFill>
          <a:ln w="12700">
            <a:solidFill>
              <a:srgbClr val="A6E3C1"/>
            </a:solidFill>
            <a:prstDash val="solid"/>
          </a:ln>
        </p:spPr>
      </p:sp>
      <p:sp>
        <p:nvSpPr>
          <p:cNvPr id="31" name="Text 28"/>
          <p:cNvSpPr/>
          <p:nvPr/>
        </p:nvSpPr>
        <p:spPr>
          <a:xfrm>
            <a:off x="10171938" y="2121408"/>
            <a:ext cx="548640" cy="457200"/>
          </a:xfrm>
          <a:prstGeom prst="rect">
            <a:avLst/>
          </a:prstGeom>
          <a:noFill/>
          <a:ln/>
        </p:spPr>
        <p:txBody>
          <a:bodyPr wrap="square" lIns="0" tIns="0" rIns="0" bIns="0" rtlCol="0" anchor="ctr"/>
          <a:lstStyle/>
          <a:p>
            <a:pPr indent="0" marL="0">
              <a:buNone/>
            </a:pPr>
            <a:r>
              <a:rPr lang="en-US" sz="2600" dirty="0">
                <a:solidFill>
                  <a:srgbClr val="067647"/>
                </a:solidFill>
                <a:latin typeface="Segoe UI Light" pitchFamily="34" charset="0"/>
                <a:ea typeface="Segoe UI Light" pitchFamily="34" charset="-122"/>
                <a:cs typeface="Segoe UI Light" pitchFamily="34" charset="-120"/>
              </a:rPr>
              <a:t>6</a:t>
            </a:r>
            <a:endParaRPr lang="en-US" sz="2600" dirty="0"/>
          </a:p>
        </p:txBody>
      </p:sp>
      <p:sp>
        <p:nvSpPr>
          <p:cNvPr id="32" name="Text 29"/>
          <p:cNvSpPr/>
          <p:nvPr/>
        </p:nvSpPr>
        <p:spPr>
          <a:xfrm>
            <a:off x="10171938" y="2651760"/>
            <a:ext cx="1343101" cy="1234440"/>
          </a:xfrm>
          <a:prstGeom prst="rect">
            <a:avLst/>
          </a:prstGeom>
          <a:noFill/>
          <a:ln/>
        </p:spPr>
        <p:txBody>
          <a:bodyPr wrap="square" lIns="0" tIns="0" rIns="0" bIns="0" rtlCol="0" anchor="t"/>
          <a:lstStyle/>
          <a:p>
            <a:pPr indent="0" marL="0">
              <a:spcAft>
                <a:spcPts val="400"/>
              </a:spcAft>
              <a:buNone/>
            </a:pPr>
            <a:r>
              <a:rPr lang="en-US" sz="1500" dirty="0">
                <a:solidFill>
                  <a:srgbClr val="1B1F24"/>
                </a:solidFill>
                <a:latin typeface="Segoe UI Semibold" pitchFamily="34" charset="0"/>
                <a:ea typeface="Segoe UI Semibold" pitchFamily="34" charset="-122"/>
                <a:cs typeface="Segoe UI Semibold" pitchFamily="34" charset="-120"/>
              </a:rPr>
              <a:t>Docket</a:t>
            </a:r>
            <a:endParaRPr lang="en-US" sz="1500" dirty="0"/>
          </a:p>
          <a:p>
            <a:pPr indent="0" marL="0">
              <a:spcAft>
                <a:spcPts val="400"/>
              </a:spcAft>
              <a:buNone/>
            </a:pPr>
            <a:r>
              <a:rPr lang="en-US" sz="1050" dirty="0">
                <a:solidFill>
                  <a:srgbClr val="5B6470"/>
                </a:solidFill>
                <a:latin typeface="Segoe UI" pitchFamily="34" charset="0"/>
                <a:ea typeface="Segoe UI" pitchFamily="34" charset="-122"/>
                <a:cs typeface="Segoe UI" pitchFamily="34" charset="-120"/>
              </a:rPr>
              <a:t>PDF evidence docket, ready for IPGRS</a:t>
            </a:r>
            <a:endParaRPr lang="en-US" sz="1500" dirty="0"/>
          </a:p>
        </p:txBody>
      </p:sp>
      <p:sp>
        <p:nvSpPr>
          <p:cNvPr id="33" name="Shape 30"/>
          <p:cNvSpPr/>
          <p:nvPr/>
        </p:nvSpPr>
        <p:spPr>
          <a:xfrm>
            <a:off x="548640" y="4160520"/>
            <a:ext cx="201168" cy="201168"/>
          </a:xfrm>
          <a:prstGeom prst="roundRect">
            <a:avLst>
              <a:gd name="adj" fmla="val 18182"/>
            </a:avLst>
          </a:prstGeom>
          <a:solidFill>
            <a:srgbClr val="EAF2FB"/>
          </a:solidFill>
          <a:ln w="12700">
            <a:solidFill>
              <a:srgbClr val="B9D3EE"/>
            </a:solidFill>
            <a:prstDash val="solid"/>
          </a:ln>
        </p:spPr>
      </p:sp>
      <p:sp>
        <p:nvSpPr>
          <p:cNvPr id="34" name="Text 31"/>
          <p:cNvSpPr/>
          <p:nvPr/>
        </p:nvSpPr>
        <p:spPr>
          <a:xfrm>
            <a:off x="822960" y="4114800"/>
            <a:ext cx="1188720" cy="292608"/>
          </a:xfrm>
          <a:prstGeom prst="rect">
            <a:avLst/>
          </a:prstGeom>
          <a:noFill/>
          <a:ln/>
        </p:spPr>
        <p:txBody>
          <a:bodyPr wrap="square" lIns="0" tIns="0" rIns="0" bIns="0" rtlCol="0" anchor="ctr"/>
          <a:lstStyle/>
          <a:p>
            <a:pPr indent="0" marL="0">
              <a:buNone/>
            </a:pPr>
            <a:r>
              <a:rPr lang="en-US" sz="1050" dirty="0">
                <a:solidFill>
                  <a:srgbClr val="5B6470"/>
                </a:solidFill>
                <a:latin typeface="Segoe UI" pitchFamily="34" charset="0"/>
                <a:ea typeface="Segoe UI" pitchFamily="34" charset="-122"/>
                <a:cs typeface="Segoe UI" pitchFamily="34" charset="-120"/>
              </a:rPr>
              <a:t>AI model</a:t>
            </a:r>
            <a:endParaRPr lang="en-US" sz="1050" dirty="0"/>
          </a:p>
        </p:txBody>
      </p:sp>
      <p:sp>
        <p:nvSpPr>
          <p:cNvPr id="35" name="Shape 32"/>
          <p:cNvSpPr/>
          <p:nvPr/>
        </p:nvSpPr>
        <p:spPr>
          <a:xfrm>
            <a:off x="2103120" y="4160520"/>
            <a:ext cx="201168" cy="201168"/>
          </a:xfrm>
          <a:prstGeom prst="roundRect">
            <a:avLst>
              <a:gd name="adj" fmla="val 18182"/>
            </a:avLst>
          </a:prstGeom>
          <a:solidFill>
            <a:srgbClr val="F6F7F9"/>
          </a:solidFill>
          <a:ln w="12700">
            <a:solidFill>
              <a:srgbClr val="D9DEE4"/>
            </a:solidFill>
            <a:prstDash val="solid"/>
          </a:ln>
        </p:spPr>
      </p:sp>
      <p:sp>
        <p:nvSpPr>
          <p:cNvPr id="36" name="Text 33"/>
          <p:cNvSpPr/>
          <p:nvPr/>
        </p:nvSpPr>
        <p:spPr>
          <a:xfrm>
            <a:off x="2377440" y="4114800"/>
            <a:ext cx="1188720" cy="292608"/>
          </a:xfrm>
          <a:prstGeom prst="rect">
            <a:avLst/>
          </a:prstGeom>
          <a:noFill/>
          <a:ln/>
        </p:spPr>
        <p:txBody>
          <a:bodyPr wrap="square" lIns="0" tIns="0" rIns="0" bIns="0" rtlCol="0" anchor="ctr"/>
          <a:lstStyle/>
          <a:p>
            <a:pPr indent="0" marL="0">
              <a:buNone/>
            </a:pPr>
            <a:r>
              <a:rPr lang="en-US" sz="1050" dirty="0">
                <a:solidFill>
                  <a:srgbClr val="5B6470"/>
                </a:solidFill>
                <a:latin typeface="Segoe UI" pitchFamily="34" charset="0"/>
                <a:ea typeface="Segoe UI" pitchFamily="34" charset="-122"/>
                <a:cs typeface="Segoe UI" pitchFamily="34" charset="-120"/>
              </a:rPr>
              <a:t>Plain code</a:t>
            </a:r>
            <a:endParaRPr lang="en-US" sz="1050" dirty="0"/>
          </a:p>
        </p:txBody>
      </p:sp>
      <p:sp>
        <p:nvSpPr>
          <p:cNvPr id="37" name="Shape 34"/>
          <p:cNvSpPr/>
          <p:nvPr/>
        </p:nvSpPr>
        <p:spPr>
          <a:xfrm>
            <a:off x="3657600" y="4160520"/>
            <a:ext cx="201168" cy="201168"/>
          </a:xfrm>
          <a:prstGeom prst="roundRect">
            <a:avLst>
              <a:gd name="adj" fmla="val 18182"/>
            </a:avLst>
          </a:prstGeom>
          <a:solidFill>
            <a:srgbClr val="ECFDF3"/>
          </a:solidFill>
          <a:ln w="12700">
            <a:solidFill>
              <a:srgbClr val="A6E3C1"/>
            </a:solidFill>
            <a:prstDash val="solid"/>
          </a:ln>
        </p:spPr>
      </p:sp>
      <p:sp>
        <p:nvSpPr>
          <p:cNvPr id="38" name="Text 35"/>
          <p:cNvSpPr/>
          <p:nvPr/>
        </p:nvSpPr>
        <p:spPr>
          <a:xfrm>
            <a:off x="3931920" y="4114800"/>
            <a:ext cx="1188720" cy="292608"/>
          </a:xfrm>
          <a:prstGeom prst="rect">
            <a:avLst/>
          </a:prstGeom>
          <a:noFill/>
          <a:ln/>
        </p:spPr>
        <p:txBody>
          <a:bodyPr wrap="square" lIns="0" tIns="0" rIns="0" bIns="0" rtlCol="0" anchor="ctr"/>
          <a:lstStyle/>
          <a:p>
            <a:pPr indent="0" marL="0">
              <a:buNone/>
            </a:pPr>
            <a:r>
              <a:rPr lang="en-US" sz="1050" dirty="0">
                <a:solidFill>
                  <a:srgbClr val="5B6470"/>
                </a:solidFill>
                <a:latin typeface="Segoe UI" pitchFamily="34" charset="0"/>
                <a:ea typeface="Segoe UI" pitchFamily="34" charset="-122"/>
                <a:cs typeface="Segoe UI" pitchFamily="34" charset="-120"/>
              </a:rPr>
              <a:t>Worker</a:t>
            </a:r>
            <a:endParaRPr lang="en-US" sz="1050" dirty="0"/>
          </a:p>
        </p:txBody>
      </p:sp>
      <p:sp>
        <p:nvSpPr>
          <p:cNvPr id="39" name="Shape 36"/>
          <p:cNvSpPr/>
          <p:nvPr/>
        </p:nvSpPr>
        <p:spPr>
          <a:xfrm>
            <a:off x="548640" y="4663440"/>
            <a:ext cx="11094415" cy="0"/>
          </a:xfrm>
          <a:prstGeom prst="line">
            <a:avLst/>
          </a:prstGeom>
          <a:noFill/>
          <a:ln w="9525">
            <a:solidFill>
              <a:srgbClr val="D9DEE4"/>
            </a:solidFill>
            <a:prstDash val="solid"/>
          </a:ln>
        </p:spPr>
      </p:sp>
      <p:sp>
        <p:nvSpPr>
          <p:cNvPr id="40" name="Text 37"/>
          <p:cNvSpPr/>
          <p:nvPr/>
        </p:nvSpPr>
        <p:spPr>
          <a:xfrm>
            <a:off x="548640" y="4846320"/>
            <a:ext cx="4572000" cy="256032"/>
          </a:xfrm>
          <a:prstGeom prst="rect">
            <a:avLst/>
          </a:prstGeom>
          <a:noFill/>
          <a:ln/>
        </p:spPr>
        <p:txBody>
          <a:bodyPr wrap="square" lIns="0" tIns="0" rIns="0" bIns="0" rtlCol="0" anchor="ctr"/>
          <a:lstStyle/>
          <a:p>
            <a:pPr indent="0" marL="0">
              <a:buNone/>
            </a:pPr>
            <a:r>
              <a:rPr lang="en-US" sz="1050" spc="200" kern="0" dirty="0">
                <a:solidFill>
                  <a:srgbClr val="B42318"/>
                </a:solidFill>
                <a:latin typeface="Segoe UI Semibold" pitchFamily="34" charset="0"/>
                <a:ea typeface="Segoe UI Semibold" pitchFamily="34" charset="-122"/>
                <a:cs typeface="Segoe UI Semibold" pitchFamily="34" charset="-120"/>
              </a:rPr>
              <a:t>WHAT IT DOES NOT CLAIM</a:t>
            </a:r>
            <a:endParaRPr lang="en-US" sz="1050" dirty="0"/>
          </a:p>
        </p:txBody>
      </p:sp>
      <p:sp>
        <p:nvSpPr>
          <p:cNvPr id="41" name="Text 38"/>
          <p:cNvSpPr/>
          <p:nvPr/>
        </p:nvSpPr>
        <p:spPr>
          <a:xfrm>
            <a:off x="548640" y="5166360"/>
            <a:ext cx="3515258" cy="914400"/>
          </a:xfrm>
          <a:prstGeom prst="rect">
            <a:avLst/>
          </a:prstGeom>
          <a:noFill/>
          <a:ln/>
        </p:spPr>
        <p:txBody>
          <a:bodyPr wrap="square" lIns="0" tIns="0" rIns="0" bIns="0" rtlCol="0" anchor="t"/>
          <a:lstStyle/>
          <a:p>
            <a:pPr indent="0" marL="0">
              <a:spcAft>
                <a:spcPts val="300"/>
              </a:spcAft>
              <a:buNone/>
            </a:pPr>
            <a:r>
              <a:rPr lang="en-US" sz="1250" dirty="0">
                <a:solidFill>
                  <a:srgbClr val="1B1F24"/>
                </a:solidFill>
                <a:latin typeface="Segoe UI Semibold" pitchFamily="34" charset="0"/>
                <a:ea typeface="Segoe UI Semibold" pitchFamily="34" charset="-122"/>
                <a:cs typeface="Segoe UI Semibold" pitchFamily="34" charset="-120"/>
              </a:rPr>
              <a:t>Not a verdict</a:t>
            </a:r>
            <a:endParaRPr lang="en-US" sz="1250" dirty="0"/>
          </a:p>
          <a:p>
            <a:pPr indent="0" marL="0">
              <a:spcAft>
                <a:spcPts val="300"/>
              </a:spcAft>
              <a:buNone/>
            </a:pPr>
            <a:r>
              <a:rPr lang="en-US" sz="1100" dirty="0">
                <a:solidFill>
                  <a:srgbClr val="5B6470"/>
                </a:solidFill>
                <a:latin typeface="Segoe UI" pitchFamily="34" charset="0"/>
                <a:ea typeface="Segoe UI" pitchFamily="34" charset="-122"/>
                <a:cs typeface="Segoe UI" pitchFamily="34" charset="-120"/>
              </a:rPr>
              <a:t>Findings say "possible issue for review", with the arithmetic shown</a:t>
            </a:r>
            <a:endParaRPr lang="en-US" sz="1250" dirty="0"/>
          </a:p>
        </p:txBody>
      </p:sp>
      <p:sp>
        <p:nvSpPr>
          <p:cNvPr id="42" name="Text 39"/>
          <p:cNvSpPr/>
          <p:nvPr/>
        </p:nvSpPr>
        <p:spPr>
          <a:xfrm>
            <a:off x="4338218" y="5166360"/>
            <a:ext cx="3515258" cy="914400"/>
          </a:xfrm>
          <a:prstGeom prst="rect">
            <a:avLst/>
          </a:prstGeom>
          <a:noFill/>
          <a:ln/>
        </p:spPr>
        <p:txBody>
          <a:bodyPr wrap="square" lIns="0" tIns="0" rIns="0" bIns="0" rtlCol="0" anchor="t"/>
          <a:lstStyle/>
          <a:p>
            <a:pPr indent="0" marL="0">
              <a:spcAft>
                <a:spcPts val="300"/>
              </a:spcAft>
              <a:buNone/>
            </a:pPr>
            <a:r>
              <a:rPr lang="en-US" sz="1250" dirty="0">
                <a:solidFill>
                  <a:srgbClr val="1B1F24"/>
                </a:solidFill>
                <a:latin typeface="Segoe UI Semibold" pitchFamily="34" charset="0"/>
                <a:ea typeface="Segoe UI Semibold" pitchFamily="34" charset="-122"/>
                <a:cs typeface="Segoe UI Semibold" pitchFamily="34" charset="-120"/>
              </a:rPr>
              <a:t>Not legal advice</a:t>
            </a:r>
            <a:endParaRPr lang="en-US" sz="1250" dirty="0"/>
          </a:p>
          <a:p>
            <a:pPr indent="0" marL="0">
              <a:spcAft>
                <a:spcPts val="300"/>
              </a:spcAft>
              <a:buNone/>
            </a:pPr>
            <a:r>
              <a:rPr lang="en-US" sz="1100" dirty="0">
                <a:solidFill>
                  <a:srgbClr val="5B6470"/>
                </a:solidFill>
                <a:latin typeface="Segoe UI" pitchFamily="34" charset="0"/>
                <a:ea typeface="Segoe UI" pitchFamily="34" charset="-122"/>
                <a:cs typeface="Segoe UI" pitchFamily="34" charset="-120"/>
              </a:rPr>
              <a:t>Every docket says so, and notes the pending High Court case</a:t>
            </a:r>
            <a:endParaRPr lang="en-US" sz="1250" dirty="0"/>
          </a:p>
        </p:txBody>
      </p:sp>
      <p:sp>
        <p:nvSpPr>
          <p:cNvPr id="43" name="Text 40"/>
          <p:cNvSpPr/>
          <p:nvPr/>
        </p:nvSpPr>
        <p:spPr>
          <a:xfrm>
            <a:off x="8127797" y="5166360"/>
            <a:ext cx="3515258" cy="914400"/>
          </a:xfrm>
          <a:prstGeom prst="rect">
            <a:avLst/>
          </a:prstGeom>
          <a:noFill/>
          <a:ln/>
        </p:spPr>
        <p:txBody>
          <a:bodyPr wrap="square" lIns="0" tIns="0" rIns="0" bIns="0" rtlCol="0" anchor="t"/>
          <a:lstStyle/>
          <a:p>
            <a:pPr indent="0" marL="0">
              <a:spcAft>
                <a:spcPts val="300"/>
              </a:spcAft>
              <a:buNone/>
            </a:pPr>
            <a:r>
              <a:rPr lang="en-US" sz="1250" dirty="0">
                <a:solidFill>
                  <a:srgbClr val="1B1F24"/>
                </a:solidFill>
                <a:latin typeface="Segoe UI Semibold" pitchFamily="34" charset="0"/>
                <a:ea typeface="Segoe UI Semibold" pitchFamily="34" charset="-122"/>
                <a:cs typeface="Segoe UI Semibold" pitchFamily="34" charset="-120"/>
              </a:rPr>
              <a:t>No platform login</a:t>
            </a:r>
            <a:endParaRPr lang="en-US" sz="1250" dirty="0"/>
          </a:p>
          <a:p>
            <a:pPr indent="0" marL="0">
              <a:spcAft>
                <a:spcPts val="300"/>
              </a:spcAft>
              <a:buNone/>
            </a:pPr>
            <a:r>
              <a:rPr lang="en-US" sz="1100" dirty="0">
                <a:solidFill>
                  <a:srgbClr val="5B6470"/>
                </a:solidFill>
                <a:latin typeface="Segoe UI" pitchFamily="34" charset="0"/>
                <a:ea typeface="Segoe UI" pitchFamily="34" charset="-122"/>
                <a:cs typeface="Segoe UI" pitchFamily="34" charset="-120"/>
              </a:rPr>
              <a:t>No partner API exists; scraping could get the worker blocked</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Cline logo">    </p:cNvPr>
          <p:cNvPicPr>
            <a:picLocks noChangeAspect="1"/>
          </p:cNvPicPr>
          <p:nvPr/>
        </p:nvPicPr>
        <p:blipFill>
          <a:blip r:embed="rId1"/>
          <a:stretch>
            <a:fillRect/>
          </a:stretch>
        </p:blipFill>
        <p:spPr>
          <a:xfrm>
            <a:off x="10537269" y="402336"/>
            <a:ext cx="1105786" cy="237744"/>
          </a:xfrm>
          <a:prstGeom prst="rect">
            <a:avLst/>
          </a:prstGeom>
        </p:spPr>
      </p:pic>
      <p:sp>
        <p:nvSpPr>
          <p:cNvPr id="3" name="Text 0"/>
          <p:cNvSpPr/>
          <p:nvPr/>
        </p:nvSpPr>
        <p:spPr>
          <a:xfrm>
            <a:off x="9622869" y="402336"/>
            <a:ext cx="822960" cy="237744"/>
          </a:xfrm>
          <a:prstGeom prst="rect">
            <a:avLst/>
          </a:prstGeom>
          <a:noFill/>
          <a:ln/>
        </p:spPr>
        <p:txBody>
          <a:bodyPr wrap="square" lIns="0" tIns="0" rIns="0" bIns="0" rtlCol="0" anchor="ctr"/>
          <a:lstStyle/>
          <a:p>
            <a:pPr algn="r" indent="0" marL="0">
              <a:buNone/>
            </a:pPr>
            <a:r>
              <a:rPr lang="en-US" sz="900" dirty="0">
                <a:solidFill>
                  <a:srgbClr val="5B6470"/>
                </a:solidFill>
                <a:latin typeface="Segoe UI" pitchFamily="34" charset="0"/>
                <a:ea typeface="Segoe UI" pitchFamily="34" charset="-122"/>
                <a:cs typeface="Segoe UI" pitchFamily="34" charset="-120"/>
              </a:rPr>
              <a:t>Built with</a:t>
            </a:r>
            <a:endParaRPr lang="en-US" sz="900" dirty="0"/>
          </a:p>
        </p:txBody>
      </p:sp>
      <p:sp>
        <p:nvSpPr>
          <p:cNvPr id="4" name="Text 1"/>
          <p:cNvSpPr/>
          <p:nvPr/>
        </p:nvSpPr>
        <p:spPr>
          <a:xfrm>
            <a:off x="548640" y="384048"/>
            <a:ext cx="11094415" cy="274320"/>
          </a:xfrm>
          <a:prstGeom prst="rect">
            <a:avLst/>
          </a:prstGeom>
          <a:noFill/>
          <a:ln/>
        </p:spPr>
        <p:txBody>
          <a:bodyPr wrap="square" lIns="0" tIns="0" rIns="0" bIns="0" rtlCol="0" anchor="ctr"/>
          <a:lstStyle/>
          <a:p>
            <a:pPr indent="0" marL="0">
              <a:buNone/>
            </a:pPr>
            <a:r>
              <a:rPr lang="en-US" sz="1100" spc="200" kern="0" dirty="0">
                <a:solidFill>
                  <a:srgbClr val="0B5CAD"/>
                </a:solidFill>
                <a:latin typeface="Segoe UI Semibold" pitchFamily="34" charset="0"/>
                <a:ea typeface="Segoe UI Semibold" pitchFamily="34" charset="-122"/>
                <a:cs typeface="Segoe UI Semibold" pitchFamily="34" charset="-120"/>
              </a:rPr>
              <a:t>06   DEMO · RAVI'S WEEK</a:t>
            </a:r>
            <a:endParaRPr lang="en-US" sz="1100" dirty="0"/>
          </a:p>
        </p:txBody>
      </p:sp>
      <p:sp>
        <p:nvSpPr>
          <p:cNvPr id="5" name="Text 2"/>
          <p:cNvSpPr/>
          <p:nvPr/>
        </p:nvSpPr>
        <p:spPr>
          <a:xfrm>
            <a:off x="548640" y="676656"/>
            <a:ext cx="11094415" cy="685800"/>
          </a:xfrm>
          <a:prstGeom prst="rect">
            <a:avLst/>
          </a:prstGeom>
          <a:noFill/>
          <a:ln/>
        </p:spPr>
        <p:txBody>
          <a:bodyPr wrap="square" lIns="0" tIns="0" rIns="0" bIns="0" rtlCol="0" anchor="t"/>
          <a:lstStyle/>
          <a:p>
            <a:pPr indent="0" marL="0">
              <a:buNone/>
            </a:pPr>
            <a:r>
              <a:rPr lang="en-US" sz="2800" dirty="0">
                <a:solidFill>
                  <a:srgbClr val="1B1F24"/>
                </a:solidFill>
                <a:latin typeface="Segoe UI Semibold" pitchFamily="34" charset="0"/>
                <a:ea typeface="Segoe UI Semibold" pitchFamily="34" charset="-122"/>
                <a:cs typeface="Segoe UI Semibold" pitchFamily="34" charset="-120"/>
              </a:rPr>
              <a:t>One week of evidence, audited in about 30 seconds</a:t>
            </a:r>
            <a:endParaRPr lang="en-US" sz="2800" dirty="0"/>
          </a:p>
        </p:txBody>
      </p:sp>
      <p:sp>
        <p:nvSpPr>
          <p:cNvPr id="6" name="Shape 3"/>
          <p:cNvSpPr/>
          <p:nvPr/>
        </p:nvSpPr>
        <p:spPr>
          <a:xfrm>
            <a:off x="548640" y="6437376"/>
            <a:ext cx="82296" cy="82296"/>
          </a:xfrm>
          <a:prstGeom prst="rect">
            <a:avLst/>
          </a:prstGeom>
          <a:solidFill>
            <a:srgbClr val="0B5CAD"/>
          </a:solidFill>
          <a:ln w="12700">
            <a:solidFill>
              <a:srgbClr val="FFFFFF">
                <a:alpha val="0"/>
              </a:srgbClr>
            </a:solidFill>
            <a:prstDash val="solid"/>
          </a:ln>
        </p:spPr>
      </p:sp>
      <p:sp>
        <p:nvSpPr>
          <p:cNvPr id="7" name="Text 4"/>
          <p:cNvSpPr/>
          <p:nvPr/>
        </p:nvSpPr>
        <p:spPr>
          <a:xfrm>
            <a:off x="731520" y="6364224"/>
            <a:ext cx="5486400" cy="228600"/>
          </a:xfrm>
          <a:prstGeom prst="rect">
            <a:avLst/>
          </a:prstGeom>
          <a:noFill/>
          <a:ln/>
        </p:spPr>
        <p:txBody>
          <a:bodyPr wrap="square" lIns="0" tIns="0" rIns="0" bIns="0" rtlCol="0" anchor="ctr"/>
          <a:lstStyle/>
          <a:p>
            <a:pPr indent="0" marL="0">
              <a:buNone/>
            </a:pPr>
            <a:r>
              <a:rPr lang="en-US" sz="900" dirty="0">
                <a:solidFill>
                  <a:srgbClr val="5B6470"/>
                </a:solidFill>
                <a:latin typeface="Segoe UI" pitchFamily="34" charset="0"/>
                <a:ea typeface="Segoe UI" pitchFamily="34" charset="-122"/>
                <a:cs typeface="Segoe UI" pitchFamily="34" charset="-120"/>
              </a:rPr>
              <a:t>Nyaya-Ledger  ·  Cline AI Builder Hackathon</a:t>
            </a:r>
            <a:endParaRPr lang="en-US" sz="900" dirty="0"/>
          </a:p>
        </p:txBody>
      </p:sp>
      <p:sp>
        <p:nvSpPr>
          <p:cNvPr id="8" name="Text 5"/>
          <p:cNvSpPr/>
          <p:nvPr/>
        </p:nvSpPr>
        <p:spPr>
          <a:xfrm>
            <a:off x="10271455" y="6364224"/>
            <a:ext cx="1371600" cy="228600"/>
          </a:xfrm>
          <a:prstGeom prst="rect">
            <a:avLst/>
          </a:prstGeom>
          <a:noFill/>
          <a:ln/>
        </p:spPr>
        <p:txBody>
          <a:bodyPr wrap="square" lIns="0" tIns="0" rIns="0" bIns="0" rtlCol="0" anchor="ctr"/>
          <a:lstStyle/>
          <a:p>
            <a:pPr algn="r" indent="0" marL="0">
              <a:buNone/>
            </a:pPr>
            <a:r>
              <a:rPr lang="en-US" sz="900" dirty="0">
                <a:solidFill>
                  <a:srgbClr val="5B6470"/>
                </a:solidFill>
                <a:latin typeface="Segoe UI" pitchFamily="34" charset="0"/>
                <a:ea typeface="Segoe UI" pitchFamily="34" charset="-122"/>
                <a:cs typeface="Segoe UI" pitchFamily="34" charset="-120"/>
              </a:rPr>
              <a:t>6 / 11</a:t>
            </a:r>
            <a:endParaRPr lang="en-US" sz="900" dirty="0"/>
          </a:p>
        </p:txBody>
      </p:sp>
      <p:pic>
        <p:nvPicPr>
          <p:cNvPr id="9" name="Image 1" descr="Collect">    </p:cNvPr>
          <p:cNvPicPr>
            <a:picLocks noChangeAspect="1"/>
          </p:cNvPicPr>
          <p:nvPr/>
        </p:nvPicPr>
        <p:blipFill>
          <a:blip r:embed="rId2"/>
          <a:srcRect l="0" r="0" t="0" b="0"/>
          <a:stretch/>
        </p:blipFill>
        <p:spPr>
          <a:xfrm>
            <a:off x="548640" y="1783080"/>
            <a:ext cx="2011680" cy="3562691"/>
          </a:xfrm>
          <a:prstGeom prst="rect">
            <a:avLst/>
          </a:prstGeom>
        </p:spPr>
      </p:pic>
      <p:sp>
        <p:nvSpPr>
          <p:cNvPr id="10" name="Shape 6"/>
          <p:cNvSpPr/>
          <p:nvPr/>
        </p:nvSpPr>
        <p:spPr>
          <a:xfrm>
            <a:off x="548640" y="1783080"/>
            <a:ext cx="2011680" cy="3562691"/>
          </a:xfrm>
          <a:prstGeom prst="rect">
            <a:avLst/>
          </a:prstGeom>
          <a:solidFill>
            <a:srgbClr val="FFFFFF">
              <a:alpha val="0"/>
            </a:srgbClr>
          </a:solidFill>
          <a:ln w="9525">
            <a:solidFill>
              <a:srgbClr val="D9DEE4"/>
            </a:solidFill>
            <a:prstDash val="solid"/>
          </a:ln>
        </p:spPr>
      </p:sp>
      <p:sp>
        <p:nvSpPr>
          <p:cNvPr id="11" name="Text 7"/>
          <p:cNvSpPr/>
          <p:nvPr/>
        </p:nvSpPr>
        <p:spPr>
          <a:xfrm>
            <a:off x="548640" y="5437211"/>
            <a:ext cx="2011680" cy="274320"/>
          </a:xfrm>
          <a:prstGeom prst="rect">
            <a:avLst/>
          </a:prstGeom>
          <a:noFill/>
          <a:ln/>
        </p:spPr>
        <p:txBody>
          <a:bodyPr wrap="square" lIns="0" tIns="0" rIns="0" bIns="0" rtlCol="0" anchor="ctr"/>
          <a:lstStyle/>
          <a:p>
            <a:pPr algn="ctr" indent="0" marL="0">
              <a:buNone/>
            </a:pPr>
            <a:r>
              <a:rPr lang="en-US" sz="1100" dirty="0">
                <a:solidFill>
                  <a:srgbClr val="5B6470"/>
                </a:solidFill>
                <a:latin typeface="Segoe UI Semibold" pitchFamily="34" charset="0"/>
                <a:ea typeface="Segoe UI Semibold" pitchFamily="34" charset="-122"/>
                <a:cs typeface="Segoe UI Semibold" pitchFamily="34" charset="-120"/>
              </a:rPr>
              <a:t>1  Collect</a:t>
            </a:r>
            <a:endParaRPr lang="en-US" sz="1100" dirty="0"/>
          </a:p>
        </p:txBody>
      </p:sp>
      <p:pic>
        <p:nvPicPr>
          <p:cNvPr id="12" name="Image 2" descr="Confirm">    </p:cNvPr>
          <p:cNvPicPr>
            <a:picLocks noChangeAspect="1"/>
          </p:cNvPicPr>
          <p:nvPr/>
        </p:nvPicPr>
        <p:blipFill>
          <a:blip r:embed="rId3"/>
          <a:srcRect l="0" r="0" t="0" b="0"/>
          <a:stretch/>
        </p:blipFill>
        <p:spPr>
          <a:xfrm>
            <a:off x="2788920" y="1783080"/>
            <a:ext cx="2011680" cy="3562691"/>
          </a:xfrm>
          <a:prstGeom prst="rect">
            <a:avLst/>
          </a:prstGeom>
        </p:spPr>
      </p:pic>
      <p:sp>
        <p:nvSpPr>
          <p:cNvPr id="13" name="Shape 8"/>
          <p:cNvSpPr/>
          <p:nvPr/>
        </p:nvSpPr>
        <p:spPr>
          <a:xfrm>
            <a:off x="2788920" y="1783080"/>
            <a:ext cx="2011680" cy="3562691"/>
          </a:xfrm>
          <a:prstGeom prst="rect">
            <a:avLst/>
          </a:prstGeom>
          <a:solidFill>
            <a:srgbClr val="FFFFFF">
              <a:alpha val="0"/>
            </a:srgbClr>
          </a:solidFill>
          <a:ln w="9525">
            <a:solidFill>
              <a:srgbClr val="D9DEE4"/>
            </a:solidFill>
            <a:prstDash val="solid"/>
          </a:ln>
        </p:spPr>
      </p:sp>
      <p:sp>
        <p:nvSpPr>
          <p:cNvPr id="14" name="Text 9"/>
          <p:cNvSpPr/>
          <p:nvPr/>
        </p:nvSpPr>
        <p:spPr>
          <a:xfrm>
            <a:off x="2788920" y="5437211"/>
            <a:ext cx="2011680" cy="274320"/>
          </a:xfrm>
          <a:prstGeom prst="rect">
            <a:avLst/>
          </a:prstGeom>
          <a:noFill/>
          <a:ln/>
        </p:spPr>
        <p:txBody>
          <a:bodyPr wrap="square" lIns="0" tIns="0" rIns="0" bIns="0" rtlCol="0" anchor="ctr"/>
          <a:lstStyle/>
          <a:p>
            <a:pPr algn="ctr" indent="0" marL="0">
              <a:buNone/>
            </a:pPr>
            <a:r>
              <a:rPr lang="en-US" sz="1100" dirty="0">
                <a:solidFill>
                  <a:srgbClr val="5B6470"/>
                </a:solidFill>
                <a:latin typeface="Segoe UI Semibold" pitchFamily="34" charset="0"/>
                <a:ea typeface="Segoe UI Semibold" pitchFamily="34" charset="-122"/>
                <a:cs typeface="Segoe UI Semibold" pitchFamily="34" charset="-120"/>
              </a:rPr>
              <a:t>2  Confirm</a:t>
            </a:r>
            <a:endParaRPr lang="en-US" sz="1100" dirty="0"/>
          </a:p>
        </p:txBody>
      </p:sp>
      <p:pic>
        <p:nvPicPr>
          <p:cNvPr id="15" name="Image 3" descr="Docket">    </p:cNvPr>
          <p:cNvPicPr>
            <a:picLocks noChangeAspect="1"/>
          </p:cNvPicPr>
          <p:nvPr/>
        </p:nvPicPr>
        <p:blipFill>
          <a:blip r:embed="rId4"/>
          <a:srcRect l="0" r="0" t="0" b="0"/>
          <a:stretch/>
        </p:blipFill>
        <p:spPr>
          <a:xfrm>
            <a:off x="5029200" y="1783080"/>
            <a:ext cx="2011680" cy="3562691"/>
          </a:xfrm>
          <a:prstGeom prst="rect">
            <a:avLst/>
          </a:prstGeom>
        </p:spPr>
      </p:pic>
      <p:sp>
        <p:nvSpPr>
          <p:cNvPr id="16" name="Shape 10"/>
          <p:cNvSpPr/>
          <p:nvPr/>
        </p:nvSpPr>
        <p:spPr>
          <a:xfrm>
            <a:off x="5029200" y="1783080"/>
            <a:ext cx="2011680" cy="3562691"/>
          </a:xfrm>
          <a:prstGeom prst="rect">
            <a:avLst/>
          </a:prstGeom>
          <a:solidFill>
            <a:srgbClr val="FFFFFF">
              <a:alpha val="0"/>
            </a:srgbClr>
          </a:solidFill>
          <a:ln w="9525">
            <a:solidFill>
              <a:srgbClr val="D9DEE4"/>
            </a:solidFill>
            <a:prstDash val="solid"/>
          </a:ln>
        </p:spPr>
      </p:sp>
      <p:sp>
        <p:nvSpPr>
          <p:cNvPr id="17" name="Text 11"/>
          <p:cNvSpPr/>
          <p:nvPr/>
        </p:nvSpPr>
        <p:spPr>
          <a:xfrm>
            <a:off x="5029200" y="5437211"/>
            <a:ext cx="2011680" cy="274320"/>
          </a:xfrm>
          <a:prstGeom prst="rect">
            <a:avLst/>
          </a:prstGeom>
          <a:noFill/>
          <a:ln/>
        </p:spPr>
        <p:txBody>
          <a:bodyPr wrap="square" lIns="0" tIns="0" rIns="0" bIns="0" rtlCol="0" anchor="ctr"/>
          <a:lstStyle/>
          <a:p>
            <a:pPr algn="ctr" indent="0" marL="0">
              <a:buNone/>
            </a:pPr>
            <a:r>
              <a:rPr lang="en-US" sz="1100" dirty="0">
                <a:solidFill>
                  <a:srgbClr val="5B6470"/>
                </a:solidFill>
                <a:latin typeface="Segoe UI Semibold" pitchFamily="34" charset="0"/>
                <a:ea typeface="Segoe UI Semibold" pitchFamily="34" charset="-122"/>
                <a:cs typeface="Segoe UI Semibold" pitchFamily="34" charset="-120"/>
              </a:rPr>
              <a:t>3  Docket</a:t>
            </a:r>
            <a:endParaRPr lang="en-US" sz="1100" dirty="0"/>
          </a:p>
        </p:txBody>
      </p:sp>
      <p:sp>
        <p:nvSpPr>
          <p:cNvPr id="18" name="Text 12"/>
          <p:cNvSpPr/>
          <p:nvPr/>
        </p:nvSpPr>
        <p:spPr>
          <a:xfrm>
            <a:off x="7498080" y="1600200"/>
            <a:ext cx="4144975" cy="256032"/>
          </a:xfrm>
          <a:prstGeom prst="rect">
            <a:avLst/>
          </a:prstGeom>
          <a:noFill/>
          <a:ln/>
        </p:spPr>
        <p:txBody>
          <a:bodyPr wrap="square" lIns="0" tIns="0" rIns="0" bIns="0" rtlCol="0" anchor="ctr"/>
          <a:lstStyle/>
          <a:p>
            <a:pPr indent="0" marL="0">
              <a:buNone/>
            </a:pPr>
            <a:r>
              <a:rPr lang="en-US" sz="1050" spc="200" kern="0" dirty="0">
                <a:solidFill>
                  <a:srgbClr val="0B5CAD"/>
                </a:solidFill>
                <a:latin typeface="Segoe UI Semibold" pitchFamily="34" charset="0"/>
                <a:ea typeface="Segoe UI Semibold" pitchFamily="34" charset="-122"/>
                <a:cs typeface="Segoe UI Semibold" pitchFamily="34" charset="-120"/>
              </a:rPr>
              <a:t>WHAT IT FOUND  (SYNTHETIC DATA)</a:t>
            </a:r>
            <a:endParaRPr lang="en-US" sz="1050" dirty="0"/>
          </a:p>
        </p:txBody>
      </p:sp>
      <p:sp>
        <p:nvSpPr>
          <p:cNvPr id="19" name="Text 13"/>
          <p:cNvSpPr/>
          <p:nvPr/>
        </p:nvSpPr>
        <p:spPr>
          <a:xfrm>
            <a:off x="7498080" y="2075688"/>
            <a:ext cx="457200" cy="274320"/>
          </a:xfrm>
          <a:prstGeom prst="roundRect">
            <a:avLst>
              <a:gd name="adj" fmla="val 50000"/>
            </a:avLst>
          </a:prstGeom>
          <a:solidFill>
            <a:srgbClr val="FEF3F2"/>
          </a:solidFill>
          <a:ln>
            <a:solidFill>
              <a:srgbClr val="FFFFFF">
                <a:alpha val="0"/>
              </a:srgbClr>
            </a:solidFill>
          </a:ln>
        </p:spPr>
        <p:txBody>
          <a:bodyPr wrap="square" lIns="0" tIns="0" rIns="0" bIns="0" rtlCol="0" anchor="ctr"/>
          <a:lstStyle/>
          <a:p>
            <a:pPr algn="ctr" indent="0" marL="0">
              <a:buNone/>
            </a:pPr>
            <a:r>
              <a:rPr lang="en-US" sz="950" dirty="0">
                <a:solidFill>
                  <a:srgbClr val="B42318"/>
                </a:solidFill>
                <a:latin typeface="Consolas" pitchFamily="34" charset="0"/>
                <a:ea typeface="Consolas" pitchFamily="34" charset="-122"/>
                <a:cs typeface="Consolas" pitchFamily="34" charset="-120"/>
              </a:rPr>
              <a:t>C1</a:t>
            </a:r>
            <a:endParaRPr lang="en-US" sz="950" dirty="0"/>
          </a:p>
        </p:txBody>
      </p:sp>
      <p:sp>
        <p:nvSpPr>
          <p:cNvPr id="20" name="Text 14"/>
          <p:cNvSpPr/>
          <p:nvPr/>
        </p:nvSpPr>
        <p:spPr>
          <a:xfrm>
            <a:off x="8092440" y="1965960"/>
            <a:ext cx="3550615" cy="530352"/>
          </a:xfrm>
          <a:prstGeom prst="rect">
            <a:avLst/>
          </a:prstGeom>
          <a:noFill/>
          <a:ln/>
        </p:spPr>
        <p:txBody>
          <a:bodyPr wrap="square" lIns="0" tIns="0" rIns="0" bIns="0" rtlCol="0" anchor="ctr"/>
          <a:lstStyle/>
          <a:p>
            <a:pPr indent="0" marL="0">
              <a:buNone/>
            </a:pPr>
            <a:r>
              <a:rPr lang="en-US" sz="1600" dirty="0">
                <a:solidFill>
                  <a:srgbClr val="B42318"/>
                </a:solidFill>
                <a:latin typeface="Segoe UI Semibold" pitchFamily="34" charset="0"/>
                <a:ea typeface="Segoe UI Semibold" pitchFamily="34" charset="-122"/>
                <a:cs typeface="Segoe UI Semibold" pitchFamily="34" charset="-120"/>
              </a:rPr>
              <a:t>₹275  </a:t>
            </a:r>
            <a:pPr indent="0" marL="0">
              <a:buNone/>
            </a:pPr>
            <a:r>
              <a:rPr lang="en-US" sz="1150" dirty="0">
                <a:solidFill>
                  <a:srgbClr val="1B1F24"/>
                </a:solidFill>
                <a:latin typeface="Segoe UI" pitchFamily="34" charset="0"/>
                <a:ea typeface="Segoe UI" pitchFamily="34" charset="-122"/>
                <a:cs typeface="Segoe UI" pitchFamily="34" charset="-120"/>
              </a:rPr>
              <a:t>of deductions with only a vague label</a:t>
            </a:r>
            <a:endParaRPr lang="en-US" sz="1600" dirty="0"/>
          </a:p>
        </p:txBody>
      </p:sp>
      <p:sp>
        <p:nvSpPr>
          <p:cNvPr id="21" name="Text 15"/>
          <p:cNvSpPr/>
          <p:nvPr/>
        </p:nvSpPr>
        <p:spPr>
          <a:xfrm>
            <a:off x="7498080" y="2679192"/>
            <a:ext cx="457200" cy="274320"/>
          </a:xfrm>
          <a:prstGeom prst="roundRect">
            <a:avLst>
              <a:gd name="adj" fmla="val 50000"/>
            </a:avLst>
          </a:prstGeom>
          <a:solidFill>
            <a:srgbClr val="FEF3F2"/>
          </a:solidFill>
          <a:ln>
            <a:solidFill>
              <a:srgbClr val="FFFFFF">
                <a:alpha val="0"/>
              </a:srgbClr>
            </a:solidFill>
          </a:ln>
        </p:spPr>
        <p:txBody>
          <a:bodyPr wrap="square" lIns="0" tIns="0" rIns="0" bIns="0" rtlCol="0" anchor="ctr"/>
          <a:lstStyle/>
          <a:p>
            <a:pPr algn="ctr" indent="0" marL="0">
              <a:buNone/>
            </a:pPr>
            <a:r>
              <a:rPr lang="en-US" sz="950" dirty="0">
                <a:solidFill>
                  <a:srgbClr val="B42318"/>
                </a:solidFill>
                <a:latin typeface="Consolas" pitchFamily="34" charset="0"/>
                <a:ea typeface="Consolas" pitchFamily="34" charset="-122"/>
                <a:cs typeface="Consolas" pitchFamily="34" charset="-120"/>
              </a:rPr>
              <a:t>C2</a:t>
            </a:r>
            <a:endParaRPr lang="en-US" sz="950" dirty="0"/>
          </a:p>
        </p:txBody>
      </p:sp>
      <p:sp>
        <p:nvSpPr>
          <p:cNvPr id="22" name="Text 16"/>
          <p:cNvSpPr/>
          <p:nvPr/>
        </p:nvSpPr>
        <p:spPr>
          <a:xfrm>
            <a:off x="8092440" y="2569464"/>
            <a:ext cx="3550615" cy="530352"/>
          </a:xfrm>
          <a:prstGeom prst="rect">
            <a:avLst/>
          </a:prstGeom>
          <a:noFill/>
          <a:ln/>
        </p:spPr>
        <p:txBody>
          <a:bodyPr wrap="square" lIns="0" tIns="0" rIns="0" bIns="0" rtlCol="0" anchor="ctr"/>
          <a:lstStyle/>
          <a:p>
            <a:pPr indent="0" marL="0">
              <a:buNone/>
            </a:pPr>
            <a:r>
              <a:rPr lang="en-US" sz="1600" dirty="0">
                <a:solidFill>
                  <a:srgbClr val="B42318"/>
                </a:solidFill>
                <a:latin typeface="Segoe UI Semibold" pitchFamily="34" charset="0"/>
                <a:ea typeface="Segoe UI Semibold" pitchFamily="34" charset="-122"/>
                <a:cs typeface="Segoe UI Semibold" pitchFamily="34" charset="-120"/>
              </a:rPr>
              <a:t>₹120  </a:t>
            </a:r>
            <a:pPr indent="0" marL="0">
              <a:buNone/>
            </a:pPr>
            <a:r>
              <a:rPr lang="en-US" sz="1150" dirty="0">
                <a:solidFill>
                  <a:srgbClr val="1B1F24"/>
                </a:solidFill>
                <a:latin typeface="Segoe UI" pitchFamily="34" charset="0"/>
                <a:ea typeface="Segoe UI" pitchFamily="34" charset="-122"/>
                <a:cs typeface="Segoe UI" pitchFamily="34" charset="-120"/>
              </a:rPr>
              <a:t>gap: ₹6,650 − ₹425 ≠ ₹6,105 shown</a:t>
            </a:r>
            <a:endParaRPr lang="en-US" sz="1600" dirty="0"/>
          </a:p>
        </p:txBody>
      </p:sp>
      <p:sp>
        <p:nvSpPr>
          <p:cNvPr id="23" name="Text 17"/>
          <p:cNvSpPr/>
          <p:nvPr/>
        </p:nvSpPr>
        <p:spPr>
          <a:xfrm>
            <a:off x="7498080" y="3282696"/>
            <a:ext cx="457200" cy="274320"/>
          </a:xfrm>
          <a:prstGeom prst="roundRect">
            <a:avLst>
              <a:gd name="adj" fmla="val 50000"/>
            </a:avLst>
          </a:prstGeom>
          <a:solidFill>
            <a:srgbClr val="FEF3F2"/>
          </a:solidFill>
          <a:ln>
            <a:solidFill>
              <a:srgbClr val="FFFFFF">
                <a:alpha val="0"/>
              </a:srgbClr>
            </a:solidFill>
          </a:ln>
        </p:spPr>
        <p:txBody>
          <a:bodyPr wrap="square" lIns="0" tIns="0" rIns="0" bIns="0" rtlCol="0" anchor="ctr"/>
          <a:lstStyle/>
          <a:p>
            <a:pPr algn="ctr" indent="0" marL="0">
              <a:buNone/>
            </a:pPr>
            <a:r>
              <a:rPr lang="en-US" sz="950" dirty="0">
                <a:solidFill>
                  <a:srgbClr val="B42318"/>
                </a:solidFill>
                <a:latin typeface="Consolas" pitchFamily="34" charset="0"/>
                <a:ea typeface="Consolas" pitchFamily="34" charset="-122"/>
                <a:cs typeface="Consolas" pitchFamily="34" charset="-120"/>
              </a:rPr>
              <a:t>C3</a:t>
            </a:r>
            <a:endParaRPr lang="en-US" sz="950" dirty="0"/>
          </a:p>
        </p:txBody>
      </p:sp>
      <p:sp>
        <p:nvSpPr>
          <p:cNvPr id="24" name="Text 18"/>
          <p:cNvSpPr/>
          <p:nvPr/>
        </p:nvSpPr>
        <p:spPr>
          <a:xfrm>
            <a:off x="8092440" y="3172968"/>
            <a:ext cx="3550615" cy="530352"/>
          </a:xfrm>
          <a:prstGeom prst="rect">
            <a:avLst/>
          </a:prstGeom>
          <a:noFill/>
          <a:ln/>
        </p:spPr>
        <p:txBody>
          <a:bodyPr wrap="square" lIns="0" tIns="0" rIns="0" bIns="0" rtlCol="0" anchor="ctr"/>
          <a:lstStyle/>
          <a:p>
            <a:pPr indent="0" marL="0">
              <a:buNone/>
            </a:pPr>
            <a:r>
              <a:rPr lang="en-US" sz="1600" dirty="0">
                <a:solidFill>
                  <a:srgbClr val="B42318"/>
                </a:solidFill>
                <a:latin typeface="Segoe UI Semibold" pitchFamily="34" charset="0"/>
                <a:ea typeface="Segoe UI Semibold" pitchFamily="34" charset="-122"/>
                <a:cs typeface="Segoe UI Semibold" pitchFamily="34" charset="-120"/>
              </a:rPr>
              <a:t>0 days  </a:t>
            </a:r>
            <a:pPr indent="0" marL="0">
              <a:buNone/>
            </a:pPr>
            <a:r>
              <a:rPr lang="en-US" sz="1150" dirty="0">
                <a:solidFill>
                  <a:srgbClr val="1B1F24"/>
                </a:solidFill>
                <a:latin typeface="Segoe UI" pitchFamily="34" charset="0"/>
                <a:ea typeface="Segoe UI" pitchFamily="34" charset="-122"/>
                <a:cs typeface="Segoe UI" pitchFamily="34" charset="-120"/>
              </a:rPr>
              <a:t>notice and no reason for an ID block</a:t>
            </a:r>
            <a:endParaRPr lang="en-US" sz="1600" dirty="0"/>
          </a:p>
        </p:txBody>
      </p:sp>
      <p:sp>
        <p:nvSpPr>
          <p:cNvPr id="25" name="Text 19"/>
          <p:cNvSpPr/>
          <p:nvPr/>
        </p:nvSpPr>
        <p:spPr>
          <a:xfrm>
            <a:off x="7498080" y="3886200"/>
            <a:ext cx="457200" cy="274320"/>
          </a:xfrm>
          <a:prstGeom prst="roundRect">
            <a:avLst>
              <a:gd name="adj" fmla="val 50000"/>
            </a:avLst>
          </a:prstGeom>
          <a:solidFill>
            <a:srgbClr val="FEF3F2"/>
          </a:solidFill>
          <a:ln>
            <a:solidFill>
              <a:srgbClr val="FFFFFF">
                <a:alpha val="0"/>
              </a:srgbClr>
            </a:solidFill>
          </a:ln>
        </p:spPr>
        <p:txBody>
          <a:bodyPr wrap="square" lIns="0" tIns="0" rIns="0" bIns="0" rtlCol="0" anchor="ctr"/>
          <a:lstStyle/>
          <a:p>
            <a:pPr algn="ctr" indent="0" marL="0">
              <a:buNone/>
            </a:pPr>
            <a:r>
              <a:rPr lang="en-US" sz="950" dirty="0">
                <a:solidFill>
                  <a:srgbClr val="B42318"/>
                </a:solidFill>
                <a:latin typeface="Consolas" pitchFamily="34" charset="0"/>
                <a:ea typeface="Consolas" pitchFamily="34" charset="-122"/>
                <a:cs typeface="Consolas" pitchFamily="34" charset="-120"/>
              </a:rPr>
              <a:t>C7</a:t>
            </a:r>
            <a:endParaRPr lang="en-US" sz="950" dirty="0"/>
          </a:p>
        </p:txBody>
      </p:sp>
      <p:sp>
        <p:nvSpPr>
          <p:cNvPr id="26" name="Text 20"/>
          <p:cNvSpPr/>
          <p:nvPr/>
        </p:nvSpPr>
        <p:spPr>
          <a:xfrm>
            <a:off x="8092440" y="3776472"/>
            <a:ext cx="3550615" cy="530352"/>
          </a:xfrm>
          <a:prstGeom prst="rect">
            <a:avLst/>
          </a:prstGeom>
          <a:noFill/>
          <a:ln/>
        </p:spPr>
        <p:txBody>
          <a:bodyPr wrap="square" lIns="0" tIns="0" rIns="0" bIns="0" rtlCol="0" anchor="ctr"/>
          <a:lstStyle/>
          <a:p>
            <a:pPr indent="0" marL="0">
              <a:buNone/>
            </a:pPr>
            <a:r>
              <a:rPr lang="en-US" sz="1600" dirty="0">
                <a:solidFill>
                  <a:srgbClr val="B42318"/>
                </a:solidFill>
                <a:latin typeface="Segoe UI Semibold" pitchFamily="34" charset="0"/>
                <a:ea typeface="Segoe UI Semibold" pitchFamily="34" charset="-122"/>
                <a:cs typeface="Segoe UI Semibold" pitchFamily="34" charset="-120"/>
              </a:rPr>
              <a:t>₹100  </a:t>
            </a:r>
            <a:pPr indent="0" marL="0">
              <a:buNone/>
            </a:pPr>
            <a:r>
              <a:rPr lang="en-US" sz="1150" dirty="0">
                <a:solidFill>
                  <a:srgbClr val="1B1F24"/>
                </a:solidFill>
                <a:latin typeface="Segoe UI" pitchFamily="34" charset="0"/>
                <a:ea typeface="Segoe UI" pitchFamily="34" charset="-122"/>
                <a:cs typeface="Segoe UI" pitchFamily="34" charset="-120"/>
              </a:rPr>
              <a:t>less reached the bank than the app showed</a:t>
            </a:r>
            <a:endParaRPr lang="en-US" sz="1600" dirty="0"/>
          </a:p>
        </p:txBody>
      </p:sp>
      <p:sp>
        <p:nvSpPr>
          <p:cNvPr id="27" name="Text 21"/>
          <p:cNvSpPr/>
          <p:nvPr/>
        </p:nvSpPr>
        <p:spPr>
          <a:xfrm>
            <a:off x="7498080" y="4489704"/>
            <a:ext cx="457200" cy="274320"/>
          </a:xfrm>
          <a:prstGeom prst="roundRect">
            <a:avLst>
              <a:gd name="adj" fmla="val 50000"/>
            </a:avLst>
          </a:prstGeom>
          <a:solidFill>
            <a:srgbClr val="F2F4F7"/>
          </a:solidFill>
          <a:ln>
            <a:solidFill>
              <a:srgbClr val="FFFFFF">
                <a:alpha val="0"/>
              </a:srgbClr>
            </a:solidFill>
          </a:ln>
        </p:spPr>
        <p:txBody>
          <a:bodyPr wrap="square" lIns="0" tIns="0" rIns="0" bIns="0" rtlCol="0" anchor="ctr"/>
          <a:lstStyle/>
          <a:p>
            <a:pPr algn="ctr" indent="0" marL="0">
              <a:buNone/>
            </a:pPr>
            <a:r>
              <a:rPr lang="en-US" sz="950" dirty="0">
                <a:solidFill>
                  <a:srgbClr val="5B6470"/>
                </a:solidFill>
                <a:latin typeface="Consolas" pitchFamily="34" charset="0"/>
                <a:ea typeface="Consolas" pitchFamily="34" charset="-122"/>
                <a:cs typeface="Consolas" pitchFamily="34" charset="-120"/>
              </a:rPr>
              <a:t>C5</a:t>
            </a:r>
            <a:endParaRPr lang="en-US" sz="950" dirty="0"/>
          </a:p>
        </p:txBody>
      </p:sp>
      <p:sp>
        <p:nvSpPr>
          <p:cNvPr id="28" name="Text 22"/>
          <p:cNvSpPr/>
          <p:nvPr/>
        </p:nvSpPr>
        <p:spPr>
          <a:xfrm>
            <a:off x="8092440" y="4379976"/>
            <a:ext cx="3550615" cy="530352"/>
          </a:xfrm>
          <a:prstGeom prst="rect">
            <a:avLst/>
          </a:prstGeom>
          <a:noFill/>
          <a:ln/>
        </p:spPr>
        <p:txBody>
          <a:bodyPr wrap="square" lIns="0" tIns="0" rIns="0" bIns="0" rtlCol="0" anchor="ctr"/>
          <a:lstStyle/>
          <a:p>
            <a:pPr indent="0" marL="0">
              <a:buNone/>
            </a:pPr>
            <a:r>
              <a:rPr lang="en-US" sz="1600" dirty="0">
                <a:solidFill>
                  <a:srgbClr val="1B1F24"/>
                </a:solidFill>
                <a:latin typeface="Segoe UI Semibold" pitchFamily="34" charset="0"/>
                <a:ea typeface="Segoe UI Semibold" pitchFamily="34" charset="-122"/>
                <a:cs typeface="Segoe UI Semibold" pitchFamily="34" charset="-120"/>
              </a:rPr>
              <a:t>₹90/h  </a:t>
            </a:r>
            <a:pPr indent="0" marL="0">
              <a:buNone/>
            </a:pPr>
            <a:r>
              <a:rPr lang="en-US" sz="1150" dirty="0">
                <a:solidFill>
                  <a:srgbClr val="1B1F24"/>
                </a:solidFill>
                <a:latin typeface="Segoe UI" pitchFamily="34" charset="0"/>
                <a:ea typeface="Segoe UI" pitchFamily="34" charset="-122"/>
                <a:cs typeface="Segoe UI" pitchFamily="34" charset="-120"/>
              </a:rPr>
              <a:t>real earnings after fuel, against ₹128/h gross</a:t>
            </a:r>
            <a:endParaRPr lang="en-US" sz="1600" dirty="0"/>
          </a:p>
        </p:txBody>
      </p:sp>
      <p:sp>
        <p:nvSpPr>
          <p:cNvPr id="29" name="Shape 23"/>
          <p:cNvSpPr/>
          <p:nvPr/>
        </p:nvSpPr>
        <p:spPr>
          <a:xfrm>
            <a:off x="7498080" y="5074920"/>
            <a:ext cx="4144975" cy="0"/>
          </a:xfrm>
          <a:prstGeom prst="line">
            <a:avLst/>
          </a:prstGeom>
          <a:noFill/>
          <a:ln w="9525">
            <a:solidFill>
              <a:srgbClr val="D9DEE4"/>
            </a:solidFill>
            <a:prstDash val="solid"/>
          </a:ln>
        </p:spPr>
      </p:sp>
      <p:sp>
        <p:nvSpPr>
          <p:cNvPr id="30" name="Text 24"/>
          <p:cNvSpPr/>
          <p:nvPr/>
        </p:nvSpPr>
        <p:spPr>
          <a:xfrm>
            <a:off x="7498080" y="5166360"/>
            <a:ext cx="4144975" cy="822960"/>
          </a:xfrm>
          <a:prstGeom prst="rect">
            <a:avLst/>
          </a:prstGeom>
          <a:noFill/>
          <a:ln/>
        </p:spPr>
        <p:txBody>
          <a:bodyPr wrap="square" lIns="0" tIns="0" rIns="0" bIns="0" rtlCol="0" anchor="t"/>
          <a:lstStyle/>
          <a:p>
            <a:pPr indent="0" marL="0">
              <a:spcAft>
                <a:spcPts val="400"/>
              </a:spcAft>
              <a:buNone/>
            </a:pPr>
            <a:r>
              <a:rPr lang="en-US" sz="1100" dirty="0">
                <a:solidFill>
                  <a:srgbClr val="067647"/>
                </a:solidFill>
                <a:latin typeface="Segoe UI Semibold" pitchFamily="34" charset="0"/>
                <a:ea typeface="Segoe UI Semibold" pitchFamily="34" charset="-122"/>
                <a:cs typeface="Segoe UI Semibold" pitchFamily="34" charset="-120"/>
              </a:rPr>
              <a:t>C4 OK</a:t>
            </a:r>
            <a:pPr indent="0" marL="0">
              <a:spcAft>
                <a:spcPts val="400"/>
              </a:spcAft>
              <a:buNone/>
            </a:pPr>
            <a:r>
              <a:rPr lang="en-US" sz="1100" dirty="0">
                <a:solidFill>
                  <a:srgbClr val="5B6470"/>
                </a:solidFill>
                <a:latin typeface="Segoe UI" pitchFamily="34" charset="0"/>
                <a:ea typeface="Segoe UI" pitchFamily="34" charset="-122"/>
                <a:cs typeface="Segoe UI" pitchFamily="34" charset="-120"/>
              </a:rPr>
              <a:t>  weekly payouts.  OTP and fuel-debit SMS skipped automatically.</a:t>
            </a:r>
            <a:endParaRPr lang="en-US" sz="1100" dirty="0"/>
          </a:p>
          <a:p>
            <a:pPr indent="0" marL="0">
              <a:spcAft>
                <a:spcPts val="400"/>
              </a:spcAft>
              <a:buNone/>
            </a:pPr>
            <a:r>
              <a:rPr lang="en-US" sz="1100" dirty="0">
                <a:solidFill>
                  <a:srgbClr val="1B1F24"/>
                </a:solidFill>
                <a:latin typeface="Segoe UI Semibold" pitchFamily="34" charset="0"/>
                <a:ea typeface="Segoe UI Semibold" pitchFamily="34" charset="-122"/>
                <a:cs typeface="Segoe UI Semibold" pitchFamily="34" charset="-120"/>
              </a:rPr>
              <a:t>Output: </a:t>
            </a:r>
            <a:pPr indent="0" marL="0">
              <a:spcAft>
                <a:spcPts val="400"/>
              </a:spcAft>
              <a:buNone/>
            </a:pPr>
            <a:r>
              <a:rPr lang="en-US" sz="1100" dirty="0">
                <a:solidFill>
                  <a:srgbClr val="5B6470"/>
                </a:solidFill>
                <a:latin typeface="Segoe UI" pitchFamily="34" charset="0"/>
                <a:ea typeface="Segoe UI" pitchFamily="34" charset="-122"/>
                <a:cs typeface="Segoe UI" pitchFamily="34" charset="-120"/>
              </a:rPr>
              <a:t>5 possible issues, grievance letter, s.13 request, PDF docket.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Cline logo">    </p:cNvPr>
          <p:cNvPicPr>
            <a:picLocks noChangeAspect="1"/>
          </p:cNvPicPr>
          <p:nvPr/>
        </p:nvPicPr>
        <p:blipFill>
          <a:blip r:embed="rId1"/>
          <a:stretch>
            <a:fillRect/>
          </a:stretch>
        </p:blipFill>
        <p:spPr>
          <a:xfrm>
            <a:off x="10537269" y="402336"/>
            <a:ext cx="1105786" cy="237744"/>
          </a:xfrm>
          <a:prstGeom prst="rect">
            <a:avLst/>
          </a:prstGeom>
        </p:spPr>
      </p:pic>
      <p:sp>
        <p:nvSpPr>
          <p:cNvPr id="3" name="Text 0"/>
          <p:cNvSpPr/>
          <p:nvPr/>
        </p:nvSpPr>
        <p:spPr>
          <a:xfrm>
            <a:off x="9622869" y="402336"/>
            <a:ext cx="822960" cy="237744"/>
          </a:xfrm>
          <a:prstGeom prst="rect">
            <a:avLst/>
          </a:prstGeom>
          <a:noFill/>
          <a:ln/>
        </p:spPr>
        <p:txBody>
          <a:bodyPr wrap="square" lIns="0" tIns="0" rIns="0" bIns="0" rtlCol="0" anchor="ctr"/>
          <a:lstStyle/>
          <a:p>
            <a:pPr algn="r" indent="0" marL="0">
              <a:buNone/>
            </a:pPr>
            <a:r>
              <a:rPr lang="en-US" sz="900" dirty="0">
                <a:solidFill>
                  <a:srgbClr val="5B6470"/>
                </a:solidFill>
                <a:latin typeface="Segoe UI" pitchFamily="34" charset="0"/>
                <a:ea typeface="Segoe UI" pitchFamily="34" charset="-122"/>
                <a:cs typeface="Segoe UI" pitchFamily="34" charset="-120"/>
              </a:rPr>
              <a:t>Built with</a:t>
            </a:r>
            <a:endParaRPr lang="en-US" sz="900" dirty="0"/>
          </a:p>
        </p:txBody>
      </p:sp>
      <p:sp>
        <p:nvSpPr>
          <p:cNvPr id="4" name="Text 1"/>
          <p:cNvSpPr/>
          <p:nvPr/>
        </p:nvSpPr>
        <p:spPr>
          <a:xfrm>
            <a:off x="548640" y="384048"/>
            <a:ext cx="11094415" cy="274320"/>
          </a:xfrm>
          <a:prstGeom prst="rect">
            <a:avLst/>
          </a:prstGeom>
          <a:noFill/>
          <a:ln/>
        </p:spPr>
        <p:txBody>
          <a:bodyPr wrap="square" lIns="0" tIns="0" rIns="0" bIns="0" rtlCol="0" anchor="ctr"/>
          <a:lstStyle/>
          <a:p>
            <a:pPr indent="0" marL="0">
              <a:buNone/>
            </a:pPr>
            <a:r>
              <a:rPr lang="en-US" sz="1100" spc="200" kern="0" dirty="0">
                <a:solidFill>
                  <a:srgbClr val="0B5CAD"/>
                </a:solidFill>
                <a:latin typeface="Segoe UI Semibold" pitchFamily="34" charset="0"/>
                <a:ea typeface="Segoe UI Semibold" pitchFamily="34" charset="-122"/>
                <a:cs typeface="Segoe UI Semibold" pitchFamily="34" charset="-120"/>
              </a:rPr>
              <a:t>07   ARCHITECTURE</a:t>
            </a:r>
            <a:endParaRPr lang="en-US" sz="1100" dirty="0"/>
          </a:p>
        </p:txBody>
      </p:sp>
      <p:sp>
        <p:nvSpPr>
          <p:cNvPr id="5" name="Text 2"/>
          <p:cNvSpPr/>
          <p:nvPr/>
        </p:nvSpPr>
        <p:spPr>
          <a:xfrm>
            <a:off x="548640" y="676656"/>
            <a:ext cx="11094415" cy="685800"/>
          </a:xfrm>
          <a:prstGeom prst="rect">
            <a:avLst/>
          </a:prstGeom>
          <a:noFill/>
          <a:ln/>
        </p:spPr>
        <p:txBody>
          <a:bodyPr wrap="square" lIns="0" tIns="0" rIns="0" bIns="0" rtlCol="0" anchor="t"/>
          <a:lstStyle/>
          <a:p>
            <a:pPr indent="0" marL="0">
              <a:buNone/>
            </a:pPr>
            <a:r>
              <a:rPr lang="en-US" sz="2800" dirty="0">
                <a:solidFill>
                  <a:srgbClr val="1B1F24"/>
                </a:solidFill>
                <a:latin typeface="Segoe UI Semibold" pitchFamily="34" charset="0"/>
                <a:ea typeface="Segoe UI Semibold" pitchFamily="34" charset="-122"/>
                <a:cs typeface="Segoe UI Semibold" pitchFamily="34" charset="-120"/>
              </a:rPr>
              <a:t>AI reads and writes. Code decides the numbers.</a:t>
            </a:r>
            <a:endParaRPr lang="en-US" sz="2800" dirty="0"/>
          </a:p>
        </p:txBody>
      </p:sp>
      <p:sp>
        <p:nvSpPr>
          <p:cNvPr id="6" name="Shape 3"/>
          <p:cNvSpPr/>
          <p:nvPr/>
        </p:nvSpPr>
        <p:spPr>
          <a:xfrm>
            <a:off x="548640" y="6437376"/>
            <a:ext cx="82296" cy="82296"/>
          </a:xfrm>
          <a:prstGeom prst="rect">
            <a:avLst/>
          </a:prstGeom>
          <a:solidFill>
            <a:srgbClr val="0B5CAD"/>
          </a:solidFill>
          <a:ln w="12700">
            <a:solidFill>
              <a:srgbClr val="FFFFFF">
                <a:alpha val="0"/>
              </a:srgbClr>
            </a:solidFill>
            <a:prstDash val="solid"/>
          </a:ln>
        </p:spPr>
      </p:sp>
      <p:sp>
        <p:nvSpPr>
          <p:cNvPr id="7" name="Text 4"/>
          <p:cNvSpPr/>
          <p:nvPr/>
        </p:nvSpPr>
        <p:spPr>
          <a:xfrm>
            <a:off x="731520" y="6364224"/>
            <a:ext cx="5486400" cy="228600"/>
          </a:xfrm>
          <a:prstGeom prst="rect">
            <a:avLst/>
          </a:prstGeom>
          <a:noFill/>
          <a:ln/>
        </p:spPr>
        <p:txBody>
          <a:bodyPr wrap="square" lIns="0" tIns="0" rIns="0" bIns="0" rtlCol="0" anchor="ctr"/>
          <a:lstStyle/>
          <a:p>
            <a:pPr indent="0" marL="0">
              <a:buNone/>
            </a:pPr>
            <a:r>
              <a:rPr lang="en-US" sz="900" dirty="0">
                <a:solidFill>
                  <a:srgbClr val="5B6470"/>
                </a:solidFill>
                <a:latin typeface="Segoe UI" pitchFamily="34" charset="0"/>
                <a:ea typeface="Segoe UI" pitchFamily="34" charset="-122"/>
                <a:cs typeface="Segoe UI" pitchFamily="34" charset="-120"/>
              </a:rPr>
              <a:t>Nyaya-Ledger  ·  Cline AI Builder Hackathon</a:t>
            </a:r>
            <a:endParaRPr lang="en-US" sz="900" dirty="0"/>
          </a:p>
        </p:txBody>
      </p:sp>
      <p:sp>
        <p:nvSpPr>
          <p:cNvPr id="8" name="Text 5"/>
          <p:cNvSpPr/>
          <p:nvPr/>
        </p:nvSpPr>
        <p:spPr>
          <a:xfrm>
            <a:off x="10271455" y="6364224"/>
            <a:ext cx="1371600" cy="228600"/>
          </a:xfrm>
          <a:prstGeom prst="rect">
            <a:avLst/>
          </a:prstGeom>
          <a:noFill/>
          <a:ln/>
        </p:spPr>
        <p:txBody>
          <a:bodyPr wrap="square" lIns="0" tIns="0" rIns="0" bIns="0" rtlCol="0" anchor="ctr"/>
          <a:lstStyle/>
          <a:p>
            <a:pPr algn="r" indent="0" marL="0">
              <a:buNone/>
            </a:pPr>
            <a:r>
              <a:rPr lang="en-US" sz="900" dirty="0">
                <a:solidFill>
                  <a:srgbClr val="5B6470"/>
                </a:solidFill>
                <a:latin typeface="Segoe UI" pitchFamily="34" charset="0"/>
                <a:ea typeface="Segoe UI" pitchFamily="34" charset="-122"/>
                <a:cs typeface="Segoe UI" pitchFamily="34" charset="-120"/>
              </a:rPr>
              <a:t>7 / 11</a:t>
            </a:r>
            <a:endParaRPr lang="en-US" sz="900" dirty="0"/>
          </a:p>
        </p:txBody>
      </p:sp>
      <p:sp>
        <p:nvSpPr>
          <p:cNvPr id="9" name="Shape 6"/>
          <p:cNvSpPr/>
          <p:nvPr/>
        </p:nvSpPr>
        <p:spPr>
          <a:xfrm>
            <a:off x="548640" y="1600200"/>
            <a:ext cx="2011680" cy="1463040"/>
          </a:xfrm>
          <a:prstGeom prst="roundRect">
            <a:avLst>
              <a:gd name="adj" fmla="val 5000"/>
            </a:avLst>
          </a:prstGeom>
          <a:solidFill>
            <a:srgbClr val="ECFDF3"/>
          </a:solidFill>
          <a:ln w="12700">
            <a:solidFill>
              <a:srgbClr val="A6E3C1"/>
            </a:solidFill>
            <a:prstDash val="solid"/>
          </a:ln>
        </p:spPr>
      </p:sp>
      <p:sp>
        <p:nvSpPr>
          <p:cNvPr id="10" name="Text 7"/>
          <p:cNvSpPr/>
          <p:nvPr/>
        </p:nvSpPr>
        <p:spPr>
          <a:xfrm>
            <a:off x="676656" y="1691640"/>
            <a:ext cx="1755648" cy="1280160"/>
          </a:xfrm>
          <a:prstGeom prst="rect">
            <a:avLst/>
          </a:prstGeom>
          <a:noFill/>
          <a:ln/>
        </p:spPr>
        <p:txBody>
          <a:bodyPr wrap="square" lIns="0" tIns="0" rIns="0" bIns="0" rtlCol="0" anchor="t"/>
          <a:lstStyle/>
          <a:p>
            <a:pPr algn="l" indent="0" marL="0">
              <a:spcAft>
                <a:spcPts val="300"/>
              </a:spcAft>
              <a:buNone/>
            </a:pPr>
            <a:r>
              <a:rPr lang="en-US" sz="1300" dirty="0">
                <a:solidFill>
                  <a:srgbClr val="067647"/>
                </a:solidFill>
                <a:latin typeface="Segoe UI Semibold" pitchFamily="34" charset="0"/>
                <a:ea typeface="Segoe UI Semibold" pitchFamily="34" charset="-122"/>
                <a:cs typeface="Segoe UI Semibold" pitchFamily="34" charset="-120"/>
              </a:rPr>
              <a:t>Worker</a:t>
            </a:r>
            <a:endParaRPr lang="en-US" sz="1300" dirty="0"/>
          </a:p>
          <a:p>
            <a:pPr algn="l" indent="0" marL="0">
              <a:spcAft>
                <a:spcPts val="300"/>
              </a:spcAft>
              <a:buNone/>
            </a:pPr>
            <a:r>
              <a:rPr lang="en-US" sz="1050" dirty="0">
                <a:solidFill>
                  <a:srgbClr val="5B6470"/>
                </a:solidFill>
                <a:latin typeface="Segoe UI" pitchFamily="34" charset="0"/>
                <a:ea typeface="Segoe UI" pitchFamily="34" charset="-122"/>
                <a:cs typeface="Segoe UI" pitchFamily="34" charset="-120"/>
              </a:rPr>
              <a:t>Phone browser, React + Vite. Kannada, Hindi or English</a:t>
            </a:r>
            <a:endParaRPr lang="en-US" sz="1300" dirty="0"/>
          </a:p>
        </p:txBody>
      </p:sp>
      <p:sp>
        <p:nvSpPr>
          <p:cNvPr id="11" name="Shape 8"/>
          <p:cNvSpPr/>
          <p:nvPr/>
        </p:nvSpPr>
        <p:spPr>
          <a:xfrm>
            <a:off x="3017520" y="1600200"/>
            <a:ext cx="2743200" cy="685800"/>
          </a:xfrm>
          <a:prstGeom prst="roundRect">
            <a:avLst>
              <a:gd name="adj" fmla="val 10667"/>
            </a:avLst>
          </a:prstGeom>
          <a:solidFill>
            <a:srgbClr val="EAF2FB"/>
          </a:solidFill>
          <a:ln w="12700">
            <a:solidFill>
              <a:srgbClr val="B9D3EE"/>
            </a:solidFill>
            <a:prstDash val="solid"/>
          </a:ln>
        </p:spPr>
      </p:sp>
      <p:sp>
        <p:nvSpPr>
          <p:cNvPr id="12" name="Text 9"/>
          <p:cNvSpPr/>
          <p:nvPr/>
        </p:nvSpPr>
        <p:spPr>
          <a:xfrm>
            <a:off x="3145536" y="1691640"/>
            <a:ext cx="2487168" cy="502920"/>
          </a:xfrm>
          <a:prstGeom prst="rect">
            <a:avLst/>
          </a:prstGeom>
          <a:noFill/>
          <a:ln/>
        </p:spPr>
        <p:txBody>
          <a:bodyPr wrap="square" lIns="0" tIns="0" rIns="0" bIns="0" rtlCol="0" anchor="t"/>
          <a:lstStyle/>
          <a:p>
            <a:pPr algn="l" indent="0" marL="0">
              <a:spcAft>
                <a:spcPts val="300"/>
              </a:spcAft>
              <a:buNone/>
            </a:pPr>
            <a:r>
              <a:rPr lang="en-US" sz="1200" dirty="0">
                <a:solidFill>
                  <a:srgbClr val="0B5CAD"/>
                </a:solidFill>
                <a:latin typeface="Segoe UI Semibold" pitchFamily="34" charset="0"/>
                <a:ea typeface="Segoe UI Semibold" pitchFamily="34" charset="-122"/>
                <a:cs typeface="Segoe UI Semibold" pitchFamily="34" charset="-120"/>
              </a:rPr>
              <a:t>Vision model</a:t>
            </a:r>
            <a:endParaRPr lang="en-US" sz="1200" dirty="0"/>
          </a:p>
          <a:p>
            <a:pPr algn="l" indent="0" marL="0">
              <a:spcAft>
                <a:spcPts val="300"/>
              </a:spcAft>
              <a:buNone/>
            </a:pPr>
            <a:r>
              <a:rPr lang="en-US" sz="1000" dirty="0">
                <a:solidFill>
                  <a:srgbClr val="5B6470"/>
                </a:solidFill>
                <a:latin typeface="Segoe UI" pitchFamily="34" charset="0"/>
                <a:ea typeface="Segoe UI" pitchFamily="34" charset="-122"/>
                <a:cs typeface="Segoe UI" pitchFamily="34" charset="-120"/>
              </a:rPr>
              <a:t>1 call per screenshot → zod-checked JSON</a:t>
            </a:r>
            <a:endParaRPr lang="en-US" sz="1200" dirty="0"/>
          </a:p>
        </p:txBody>
      </p:sp>
      <p:sp>
        <p:nvSpPr>
          <p:cNvPr id="13" name="Shape 10"/>
          <p:cNvSpPr/>
          <p:nvPr/>
        </p:nvSpPr>
        <p:spPr>
          <a:xfrm>
            <a:off x="3017520" y="2377440"/>
            <a:ext cx="2743200" cy="685800"/>
          </a:xfrm>
          <a:prstGeom prst="roundRect">
            <a:avLst>
              <a:gd name="adj" fmla="val 10667"/>
            </a:avLst>
          </a:prstGeom>
          <a:solidFill>
            <a:srgbClr val="F6F7F9"/>
          </a:solidFill>
          <a:ln w="12700">
            <a:solidFill>
              <a:srgbClr val="D9DEE4"/>
            </a:solidFill>
            <a:prstDash val="solid"/>
          </a:ln>
        </p:spPr>
      </p:sp>
      <p:sp>
        <p:nvSpPr>
          <p:cNvPr id="14" name="Text 11"/>
          <p:cNvSpPr/>
          <p:nvPr/>
        </p:nvSpPr>
        <p:spPr>
          <a:xfrm>
            <a:off x="3145536" y="2468880"/>
            <a:ext cx="2487168" cy="502920"/>
          </a:xfrm>
          <a:prstGeom prst="rect">
            <a:avLst/>
          </a:prstGeom>
          <a:noFill/>
          <a:ln/>
        </p:spPr>
        <p:txBody>
          <a:bodyPr wrap="square" lIns="0" tIns="0" rIns="0" bIns="0" rtlCol="0" anchor="t"/>
          <a:lstStyle/>
          <a:p>
            <a:pPr algn="l" indent="0" marL="0">
              <a:spcAft>
                <a:spcPts val="300"/>
              </a:spcAft>
              <a:buNone/>
            </a:pPr>
            <a:r>
              <a:rPr lang="en-US" sz="1200" dirty="0">
                <a:solidFill>
                  <a:srgbClr val="1B1F24"/>
                </a:solidFill>
                <a:latin typeface="Segoe UI Semibold" pitchFamily="34" charset="0"/>
                <a:ea typeface="Segoe UI Semibold" pitchFamily="34" charset="-122"/>
                <a:cs typeface="Segoe UI Semibold" pitchFamily="34" charset="-120"/>
              </a:rPr>
              <a:t>SMS parser  ·  no AI</a:t>
            </a:r>
            <a:endParaRPr lang="en-US" sz="1200" dirty="0"/>
          </a:p>
          <a:p>
            <a:pPr algn="l" indent="0" marL="0">
              <a:spcAft>
                <a:spcPts val="300"/>
              </a:spcAft>
              <a:buNone/>
            </a:pPr>
            <a:r>
              <a:rPr lang="en-US" sz="1000" dirty="0">
                <a:solidFill>
                  <a:srgbClr val="5B6470"/>
                </a:solidFill>
                <a:latin typeface="Segoe UI" pitchFamily="34" charset="0"/>
                <a:ea typeface="Segoe UI" pitchFamily="34" charset="-122"/>
                <a:cs typeface="Segoe UI" pitchFamily="34" charset="-120"/>
              </a:rPr>
              <a:t>Keeps bank credits, skips OTPs and debits</a:t>
            </a:r>
            <a:endParaRPr lang="en-US" sz="1200" dirty="0"/>
          </a:p>
        </p:txBody>
      </p:sp>
      <p:sp>
        <p:nvSpPr>
          <p:cNvPr id="15" name="Shape 12"/>
          <p:cNvSpPr/>
          <p:nvPr/>
        </p:nvSpPr>
        <p:spPr>
          <a:xfrm>
            <a:off x="6217920" y="1600200"/>
            <a:ext cx="2377440" cy="1463040"/>
          </a:xfrm>
          <a:prstGeom prst="roundRect">
            <a:avLst>
              <a:gd name="adj" fmla="val 5000"/>
            </a:avLst>
          </a:prstGeom>
          <a:solidFill>
            <a:srgbClr val="ECFDF3"/>
          </a:solidFill>
          <a:ln w="12700">
            <a:solidFill>
              <a:srgbClr val="A6E3C1"/>
            </a:solidFill>
            <a:prstDash val="solid"/>
          </a:ln>
        </p:spPr>
      </p:sp>
      <p:sp>
        <p:nvSpPr>
          <p:cNvPr id="16" name="Text 13"/>
          <p:cNvSpPr/>
          <p:nvPr/>
        </p:nvSpPr>
        <p:spPr>
          <a:xfrm>
            <a:off x="6345936" y="1691640"/>
            <a:ext cx="2121408" cy="1280160"/>
          </a:xfrm>
          <a:prstGeom prst="rect">
            <a:avLst/>
          </a:prstGeom>
          <a:noFill/>
          <a:ln/>
        </p:spPr>
        <p:txBody>
          <a:bodyPr wrap="square" lIns="0" tIns="0" rIns="0" bIns="0" rtlCol="0" anchor="t"/>
          <a:lstStyle/>
          <a:p>
            <a:pPr algn="l" indent="0" marL="0">
              <a:spcAft>
                <a:spcPts val="300"/>
              </a:spcAft>
              <a:buNone/>
            </a:pPr>
            <a:r>
              <a:rPr lang="en-US" sz="1300" dirty="0">
                <a:solidFill>
                  <a:srgbClr val="067647"/>
                </a:solidFill>
                <a:latin typeface="Segoe UI Semibold" pitchFamily="34" charset="0"/>
                <a:ea typeface="Segoe UI Semibold" pitchFamily="34" charset="-122"/>
                <a:cs typeface="Segoe UI Semibold" pitchFamily="34" charset="-120"/>
              </a:rPr>
              <a:t>Confirm</a:t>
            </a:r>
            <a:endParaRPr lang="en-US" sz="1300" dirty="0"/>
          </a:p>
          <a:p>
            <a:pPr algn="l" indent="0" marL="0">
              <a:spcAft>
                <a:spcPts val="300"/>
              </a:spcAft>
              <a:buNone/>
            </a:pPr>
            <a:r>
              <a:rPr lang="en-US" sz="1050" dirty="0">
                <a:solidFill>
                  <a:srgbClr val="5B6470"/>
                </a:solidFill>
                <a:latin typeface="Segoe UI" pitchFamily="34" charset="0"/>
                <a:ea typeface="Segoe UI" pitchFamily="34" charset="-122"/>
                <a:cs typeface="Segoe UI" pitchFamily="34" charset="-120"/>
              </a:rPr>
              <a:t>The worker checks and fixes every number. Only confirmed data goes on</a:t>
            </a:r>
            <a:endParaRPr lang="en-US" sz="1300" dirty="0"/>
          </a:p>
        </p:txBody>
      </p:sp>
      <p:sp>
        <p:nvSpPr>
          <p:cNvPr id="17" name="Shape 14"/>
          <p:cNvSpPr/>
          <p:nvPr/>
        </p:nvSpPr>
        <p:spPr>
          <a:xfrm>
            <a:off x="9052560" y="1600200"/>
            <a:ext cx="2590495" cy="1463040"/>
          </a:xfrm>
          <a:prstGeom prst="roundRect">
            <a:avLst>
              <a:gd name="adj" fmla="val 5000"/>
            </a:avLst>
          </a:prstGeom>
          <a:solidFill>
            <a:srgbClr val="ECFDF3"/>
          </a:solidFill>
          <a:ln w="12700">
            <a:solidFill>
              <a:srgbClr val="A6E3C1"/>
            </a:solidFill>
            <a:prstDash val="solid"/>
          </a:ln>
        </p:spPr>
      </p:sp>
      <p:sp>
        <p:nvSpPr>
          <p:cNvPr id="18" name="Text 15"/>
          <p:cNvSpPr/>
          <p:nvPr/>
        </p:nvSpPr>
        <p:spPr>
          <a:xfrm>
            <a:off x="9180576" y="1691640"/>
            <a:ext cx="2334463" cy="1280160"/>
          </a:xfrm>
          <a:prstGeom prst="rect">
            <a:avLst/>
          </a:prstGeom>
          <a:noFill/>
          <a:ln/>
        </p:spPr>
        <p:txBody>
          <a:bodyPr wrap="square" lIns="0" tIns="0" rIns="0" bIns="0" rtlCol="0" anchor="t"/>
          <a:lstStyle/>
          <a:p>
            <a:pPr algn="l" indent="0" marL="0">
              <a:spcAft>
                <a:spcPts val="300"/>
              </a:spcAft>
              <a:buNone/>
            </a:pPr>
            <a:r>
              <a:rPr lang="en-US" sz="1300" dirty="0">
                <a:solidFill>
                  <a:srgbClr val="067647"/>
                </a:solidFill>
                <a:latin typeface="Segoe UI Semibold" pitchFamily="34" charset="0"/>
                <a:ea typeface="Segoe UI Semibold" pitchFamily="34" charset="-122"/>
                <a:cs typeface="Segoe UI Semibold" pitchFamily="34" charset="-120"/>
              </a:rPr>
              <a:t>Docket</a:t>
            </a:r>
            <a:endParaRPr lang="en-US" sz="1300" dirty="0"/>
          </a:p>
          <a:p>
            <a:pPr algn="l" indent="0" marL="0">
              <a:spcAft>
                <a:spcPts val="300"/>
              </a:spcAft>
              <a:buNone/>
            </a:pPr>
            <a:r>
              <a:rPr lang="en-US" sz="1050" dirty="0">
                <a:solidFill>
                  <a:srgbClr val="5B6470"/>
                </a:solidFill>
                <a:latin typeface="Segoe UI" pitchFamily="34" charset="0"/>
                <a:ea typeface="Segoe UI" pitchFamily="34" charset="-122"/>
                <a:cs typeface="Segoe UI" pitchFamily="34" charset="-120"/>
              </a:rPr>
              <a:t>Findings, letter, s.13 request, quoted clauses. Browser "Save as PDF" with Noto fonts</a:t>
            </a:r>
            <a:endParaRPr lang="en-US" sz="1300" dirty="0"/>
          </a:p>
        </p:txBody>
      </p:sp>
      <p:sp>
        <p:nvSpPr>
          <p:cNvPr id="19" name="Shape 16"/>
          <p:cNvSpPr/>
          <p:nvPr/>
        </p:nvSpPr>
        <p:spPr>
          <a:xfrm>
            <a:off x="2560320" y="1938528"/>
            <a:ext cx="457200" cy="0"/>
          </a:xfrm>
          <a:prstGeom prst="line">
            <a:avLst/>
          </a:prstGeom>
          <a:noFill/>
          <a:ln w="15875">
            <a:solidFill>
              <a:srgbClr val="9AA4B2"/>
            </a:solidFill>
            <a:prstDash val="solid"/>
            <a:tailEnd type="triangle"/>
          </a:ln>
        </p:spPr>
      </p:sp>
      <p:sp>
        <p:nvSpPr>
          <p:cNvPr id="20" name="Shape 17"/>
          <p:cNvSpPr/>
          <p:nvPr/>
        </p:nvSpPr>
        <p:spPr>
          <a:xfrm>
            <a:off x="2560320" y="2715768"/>
            <a:ext cx="457200" cy="0"/>
          </a:xfrm>
          <a:prstGeom prst="line">
            <a:avLst/>
          </a:prstGeom>
          <a:noFill/>
          <a:ln w="15875">
            <a:solidFill>
              <a:srgbClr val="9AA4B2"/>
            </a:solidFill>
            <a:prstDash val="solid"/>
            <a:tailEnd type="triangle"/>
          </a:ln>
        </p:spPr>
      </p:sp>
      <p:sp>
        <p:nvSpPr>
          <p:cNvPr id="21" name="Shape 18"/>
          <p:cNvSpPr/>
          <p:nvPr/>
        </p:nvSpPr>
        <p:spPr>
          <a:xfrm>
            <a:off x="5760720" y="1938528"/>
            <a:ext cx="457200" cy="0"/>
          </a:xfrm>
          <a:prstGeom prst="line">
            <a:avLst/>
          </a:prstGeom>
          <a:noFill/>
          <a:ln w="15875">
            <a:solidFill>
              <a:srgbClr val="9AA4B2"/>
            </a:solidFill>
            <a:prstDash val="solid"/>
            <a:tailEnd type="triangle"/>
          </a:ln>
        </p:spPr>
      </p:sp>
      <p:sp>
        <p:nvSpPr>
          <p:cNvPr id="22" name="Shape 19"/>
          <p:cNvSpPr/>
          <p:nvPr/>
        </p:nvSpPr>
        <p:spPr>
          <a:xfrm>
            <a:off x="5760720" y="2715768"/>
            <a:ext cx="457200" cy="0"/>
          </a:xfrm>
          <a:prstGeom prst="line">
            <a:avLst/>
          </a:prstGeom>
          <a:noFill/>
          <a:ln w="15875">
            <a:solidFill>
              <a:srgbClr val="9AA4B2"/>
            </a:solidFill>
            <a:prstDash val="solid"/>
            <a:tailEnd type="triangle"/>
          </a:ln>
        </p:spPr>
      </p:sp>
      <p:sp>
        <p:nvSpPr>
          <p:cNvPr id="23" name="Shape 20"/>
          <p:cNvSpPr/>
          <p:nvPr/>
        </p:nvSpPr>
        <p:spPr>
          <a:xfrm>
            <a:off x="7406640" y="3063240"/>
            <a:ext cx="0" cy="548640"/>
          </a:xfrm>
          <a:prstGeom prst="line">
            <a:avLst/>
          </a:prstGeom>
          <a:noFill/>
          <a:ln w="15875">
            <a:solidFill>
              <a:srgbClr val="9AA4B2"/>
            </a:solidFill>
            <a:prstDash val="solid"/>
            <a:tailEnd type="triangle"/>
          </a:ln>
        </p:spPr>
      </p:sp>
      <p:sp>
        <p:nvSpPr>
          <p:cNvPr id="24" name="Shape 21"/>
          <p:cNvSpPr/>
          <p:nvPr/>
        </p:nvSpPr>
        <p:spPr>
          <a:xfrm>
            <a:off x="3017520" y="3611880"/>
            <a:ext cx="5577840" cy="1691640"/>
          </a:xfrm>
          <a:prstGeom prst="roundRect">
            <a:avLst>
              <a:gd name="adj" fmla="val 4324"/>
            </a:avLst>
          </a:prstGeom>
          <a:solidFill>
            <a:srgbClr val="EAF2FB"/>
          </a:solidFill>
          <a:ln w="19050">
            <a:solidFill>
              <a:srgbClr val="0B5CAD"/>
            </a:solidFill>
            <a:prstDash val="solid"/>
          </a:ln>
        </p:spPr>
      </p:sp>
      <p:sp>
        <p:nvSpPr>
          <p:cNvPr id="25" name="Text 22"/>
          <p:cNvSpPr/>
          <p:nvPr/>
        </p:nvSpPr>
        <p:spPr>
          <a:xfrm>
            <a:off x="3154680" y="3703320"/>
            <a:ext cx="3611880" cy="1051560"/>
          </a:xfrm>
          <a:prstGeom prst="rect">
            <a:avLst/>
          </a:prstGeom>
          <a:noFill/>
          <a:ln/>
        </p:spPr>
        <p:txBody>
          <a:bodyPr wrap="square" lIns="0" tIns="0" rIns="0" bIns="0" rtlCol="0" anchor="t"/>
          <a:lstStyle/>
          <a:p>
            <a:pPr indent="0" marL="0">
              <a:spcAft>
                <a:spcPts val="300"/>
              </a:spcAft>
              <a:buNone/>
            </a:pPr>
            <a:r>
              <a:rPr lang="en-US" sz="1400" dirty="0">
                <a:solidFill>
                  <a:srgbClr val="0B5CAD"/>
                </a:solidFill>
                <a:latin typeface="Segoe UI Semibold" pitchFamily="34" charset="0"/>
                <a:ea typeface="Segoe UI Semibold" pitchFamily="34" charset="-122"/>
                <a:cs typeface="Segoe UI Semibold" pitchFamily="34" charset="-120"/>
              </a:rPr>
              <a:t>Cline SDK Agent</a:t>
            </a:r>
            <a:endParaRPr lang="en-US" sz="1400" dirty="0"/>
          </a:p>
          <a:p>
            <a:pPr indent="0" marL="0">
              <a:spcAft>
                <a:spcPts val="300"/>
              </a:spcAft>
              <a:buNone/>
            </a:pPr>
            <a:r>
              <a:rPr lang="en-US" sz="1050" dirty="0">
                <a:solidFill>
                  <a:srgbClr val="5B6470"/>
                </a:solidFill>
                <a:latin typeface="Segoe UI" pitchFamily="34" charset="0"/>
                <a:ea typeface="Segoe UI" pitchFamily="34" charset="-122"/>
                <a:cs typeface="Segoe UI" pitchFamily="34" charset="-120"/>
              </a:rPr>
              <a:t>Picks the checks that apply, asks the worker if something is missing, explains the findings and writes the letter. Only 5 custom tools: no shell, file or web.</a:t>
            </a:r>
            <a:endParaRPr lang="en-US" sz="1400" dirty="0"/>
          </a:p>
        </p:txBody>
      </p:sp>
      <p:sp>
        <p:nvSpPr>
          <p:cNvPr id="26" name="Text 23"/>
          <p:cNvSpPr/>
          <p:nvPr/>
        </p:nvSpPr>
        <p:spPr>
          <a:xfrm>
            <a:off x="3154680" y="4846320"/>
            <a:ext cx="1606601" cy="274320"/>
          </a:xfrm>
          <a:prstGeom prst="roundRect">
            <a:avLst>
              <a:gd name="adj" fmla="val 50000"/>
            </a:avLst>
          </a:prstGeom>
          <a:solidFill>
            <a:srgbClr val="FFFFFF"/>
          </a:solidFill>
          <a:ln w="9525">
            <a:solidFill>
              <a:srgbClr val="B9D3EE"/>
            </a:solidFill>
          </a:ln>
        </p:spPr>
        <p:txBody>
          <a:bodyPr wrap="square" lIns="0" tIns="0" rIns="0" bIns="0" rtlCol="0" anchor="ctr"/>
          <a:lstStyle/>
          <a:p>
            <a:pPr algn="ctr" indent="0" marL="0">
              <a:buNone/>
            </a:pPr>
            <a:r>
              <a:rPr lang="en-US" sz="900" dirty="0">
                <a:solidFill>
                  <a:srgbClr val="0B5CAD"/>
                </a:solidFill>
                <a:latin typeface="Consolas" pitchFamily="34" charset="0"/>
                <a:ea typeface="Consolas" pitchFamily="34" charset="-122"/>
                <a:cs typeface="Consolas" pitchFamily="34" charset="-120"/>
              </a:rPr>
              <a:t>get_ledger_summary</a:t>
            </a:r>
            <a:endParaRPr lang="en-US" sz="900" dirty="0"/>
          </a:p>
        </p:txBody>
      </p:sp>
      <p:sp>
        <p:nvSpPr>
          <p:cNvPr id="27" name="Text 24"/>
          <p:cNvSpPr/>
          <p:nvPr/>
        </p:nvSpPr>
        <p:spPr>
          <a:xfrm>
            <a:off x="4834433" y="4846320"/>
            <a:ext cx="1046988" cy="274320"/>
          </a:xfrm>
          <a:prstGeom prst="roundRect">
            <a:avLst>
              <a:gd name="adj" fmla="val 50000"/>
            </a:avLst>
          </a:prstGeom>
          <a:solidFill>
            <a:srgbClr val="FFFFFF"/>
          </a:solidFill>
          <a:ln w="9525">
            <a:solidFill>
              <a:srgbClr val="B9D3EE"/>
            </a:solidFill>
          </a:ln>
        </p:spPr>
        <p:txBody>
          <a:bodyPr wrap="square" lIns="0" tIns="0" rIns="0" bIns="0" rtlCol="0" anchor="ctr"/>
          <a:lstStyle/>
          <a:p>
            <a:pPr algn="ctr" indent="0" marL="0">
              <a:buNone/>
            </a:pPr>
            <a:r>
              <a:rPr lang="en-US" sz="900" dirty="0">
                <a:solidFill>
                  <a:srgbClr val="0B5CAD"/>
                </a:solidFill>
                <a:latin typeface="Consolas" pitchFamily="34" charset="0"/>
                <a:ea typeface="Consolas" pitchFamily="34" charset="-122"/>
                <a:cs typeface="Consolas" pitchFamily="34" charset="-120"/>
              </a:rPr>
              <a:t>ask_worker</a:t>
            </a:r>
            <a:endParaRPr lang="en-US" sz="900" dirty="0"/>
          </a:p>
        </p:txBody>
      </p:sp>
      <p:sp>
        <p:nvSpPr>
          <p:cNvPr id="28" name="Text 25"/>
          <p:cNvSpPr/>
          <p:nvPr/>
        </p:nvSpPr>
        <p:spPr>
          <a:xfrm>
            <a:off x="6949440" y="3730752"/>
            <a:ext cx="1508760" cy="274320"/>
          </a:xfrm>
          <a:prstGeom prst="roundRect">
            <a:avLst>
              <a:gd name="adj" fmla="val 50000"/>
            </a:avLst>
          </a:prstGeom>
          <a:solidFill>
            <a:srgbClr val="FFFFFF"/>
          </a:solidFill>
          <a:ln w="9525">
            <a:solidFill>
              <a:srgbClr val="B9D3EE"/>
            </a:solidFill>
          </a:ln>
        </p:spPr>
        <p:txBody>
          <a:bodyPr wrap="square" lIns="0" tIns="0" rIns="0" bIns="0" rtlCol="0" anchor="ctr"/>
          <a:lstStyle/>
          <a:p>
            <a:pPr algn="ctr" indent="0" marL="0">
              <a:buNone/>
            </a:pPr>
            <a:r>
              <a:rPr lang="en-US" sz="900" dirty="0">
                <a:solidFill>
                  <a:srgbClr val="0B5CAD"/>
                </a:solidFill>
                <a:latin typeface="Consolas" pitchFamily="34" charset="0"/>
                <a:ea typeface="Consolas" pitchFamily="34" charset="-122"/>
                <a:cs typeface="Consolas" pitchFamily="34" charset="-120"/>
              </a:rPr>
              <a:t>submit_docket</a:t>
            </a:r>
            <a:endParaRPr lang="en-US" sz="900" dirty="0"/>
          </a:p>
        </p:txBody>
      </p:sp>
      <p:sp>
        <p:nvSpPr>
          <p:cNvPr id="29" name="Shape 26"/>
          <p:cNvSpPr/>
          <p:nvPr/>
        </p:nvSpPr>
        <p:spPr>
          <a:xfrm>
            <a:off x="9052560" y="3611880"/>
            <a:ext cx="2590495" cy="521208"/>
          </a:xfrm>
          <a:prstGeom prst="roundRect">
            <a:avLst>
              <a:gd name="adj" fmla="val 14035"/>
            </a:avLst>
          </a:prstGeom>
          <a:solidFill>
            <a:srgbClr val="F6F7F9"/>
          </a:solidFill>
          <a:ln w="12700">
            <a:solidFill>
              <a:srgbClr val="D9DEE4"/>
            </a:solidFill>
            <a:prstDash val="solid"/>
          </a:ln>
        </p:spPr>
      </p:sp>
      <p:sp>
        <p:nvSpPr>
          <p:cNvPr id="30" name="Text 27"/>
          <p:cNvSpPr/>
          <p:nvPr/>
        </p:nvSpPr>
        <p:spPr>
          <a:xfrm>
            <a:off x="9180576" y="3703320"/>
            <a:ext cx="2334463" cy="338328"/>
          </a:xfrm>
          <a:prstGeom prst="rect">
            <a:avLst/>
          </a:prstGeom>
          <a:noFill/>
          <a:ln/>
        </p:spPr>
        <p:txBody>
          <a:bodyPr wrap="square" lIns="0" tIns="0" rIns="0" bIns="0" rtlCol="0" anchor="t"/>
          <a:lstStyle/>
          <a:p>
            <a:pPr algn="l" indent="0" marL="0">
              <a:spcAft>
                <a:spcPts val="300"/>
              </a:spcAft>
              <a:buNone/>
            </a:pPr>
            <a:r>
              <a:rPr lang="en-US" sz="1050" dirty="0">
                <a:solidFill>
                  <a:srgbClr val="1B1F24"/>
                </a:solidFill>
                <a:latin typeface="Segoe UI Semibold" pitchFamily="34" charset="0"/>
                <a:ea typeface="Segoe UI Semibold" pitchFamily="34" charset="-122"/>
                <a:cs typeface="Segoe UI Semibold" pitchFamily="34" charset="-120"/>
              </a:rPr>
              <a:t>Citation + verdict guard</a:t>
            </a:r>
            <a:endParaRPr lang="en-US" sz="1050" dirty="0"/>
          </a:p>
          <a:p>
            <a:pPr algn="l" indent="0" marL="0">
              <a:spcAft>
                <a:spcPts val="300"/>
              </a:spcAft>
              <a:buNone/>
            </a:pPr>
            <a:r>
              <a:rPr lang="en-US" sz="900" dirty="0">
                <a:solidFill>
                  <a:srgbClr val="5B6470"/>
                </a:solidFill>
                <a:latin typeface="Segoe UI" pitchFamily="34" charset="0"/>
                <a:ea typeface="Segoe UI" pitchFamily="34" charset="-122"/>
                <a:cs typeface="Segoe UI" pitchFamily="34" charset="-120"/>
              </a:rPr>
              <a:t>Unknown clause or "violation" → rejected</a:t>
            </a:r>
            <a:endParaRPr lang="en-US" sz="1050" dirty="0"/>
          </a:p>
        </p:txBody>
      </p:sp>
      <p:sp>
        <p:nvSpPr>
          <p:cNvPr id="31" name="Shape 28"/>
          <p:cNvSpPr/>
          <p:nvPr/>
        </p:nvSpPr>
        <p:spPr>
          <a:xfrm>
            <a:off x="8595360" y="3867912"/>
            <a:ext cx="457200" cy="0"/>
          </a:xfrm>
          <a:prstGeom prst="line">
            <a:avLst/>
          </a:prstGeom>
          <a:noFill/>
          <a:ln w="15875">
            <a:solidFill>
              <a:srgbClr val="9AA4B2"/>
            </a:solidFill>
            <a:prstDash val="solid"/>
            <a:tailEnd type="triangle"/>
          </a:ln>
        </p:spPr>
      </p:sp>
      <p:sp>
        <p:nvSpPr>
          <p:cNvPr id="32" name="Text 29"/>
          <p:cNvSpPr/>
          <p:nvPr/>
        </p:nvSpPr>
        <p:spPr>
          <a:xfrm>
            <a:off x="6949440" y="4306824"/>
            <a:ext cx="1508760" cy="274320"/>
          </a:xfrm>
          <a:prstGeom prst="roundRect">
            <a:avLst>
              <a:gd name="adj" fmla="val 50000"/>
            </a:avLst>
          </a:prstGeom>
          <a:solidFill>
            <a:srgbClr val="FFFFFF"/>
          </a:solidFill>
          <a:ln w="9525">
            <a:solidFill>
              <a:srgbClr val="B9D3EE"/>
            </a:solidFill>
          </a:ln>
        </p:spPr>
        <p:txBody>
          <a:bodyPr wrap="square" lIns="0" tIns="0" rIns="0" bIns="0" rtlCol="0" anchor="ctr"/>
          <a:lstStyle/>
          <a:p>
            <a:pPr algn="ctr" indent="0" marL="0">
              <a:buNone/>
            </a:pPr>
            <a:r>
              <a:rPr lang="en-US" sz="900" dirty="0">
                <a:solidFill>
                  <a:srgbClr val="0B5CAD"/>
                </a:solidFill>
                <a:latin typeface="Consolas" pitchFamily="34" charset="0"/>
                <a:ea typeface="Consolas" pitchFamily="34" charset="-122"/>
                <a:cs typeface="Consolas" pitchFamily="34" charset="-120"/>
              </a:rPr>
              <a:t>run_checks</a:t>
            </a:r>
            <a:endParaRPr lang="en-US" sz="900" dirty="0"/>
          </a:p>
        </p:txBody>
      </p:sp>
      <p:sp>
        <p:nvSpPr>
          <p:cNvPr id="33" name="Shape 30"/>
          <p:cNvSpPr/>
          <p:nvPr/>
        </p:nvSpPr>
        <p:spPr>
          <a:xfrm>
            <a:off x="9052560" y="4187952"/>
            <a:ext cx="2590495" cy="521208"/>
          </a:xfrm>
          <a:prstGeom prst="roundRect">
            <a:avLst>
              <a:gd name="adj" fmla="val 14035"/>
            </a:avLst>
          </a:prstGeom>
          <a:solidFill>
            <a:srgbClr val="F6F7F9"/>
          </a:solidFill>
          <a:ln w="12700">
            <a:solidFill>
              <a:srgbClr val="D9DEE4"/>
            </a:solidFill>
            <a:prstDash val="solid"/>
          </a:ln>
        </p:spPr>
      </p:sp>
      <p:sp>
        <p:nvSpPr>
          <p:cNvPr id="34" name="Text 31"/>
          <p:cNvSpPr/>
          <p:nvPr/>
        </p:nvSpPr>
        <p:spPr>
          <a:xfrm>
            <a:off x="9180576" y="4279392"/>
            <a:ext cx="2334463" cy="338328"/>
          </a:xfrm>
          <a:prstGeom prst="rect">
            <a:avLst/>
          </a:prstGeom>
          <a:noFill/>
          <a:ln/>
        </p:spPr>
        <p:txBody>
          <a:bodyPr wrap="square" lIns="0" tIns="0" rIns="0" bIns="0" rtlCol="0" anchor="t"/>
          <a:lstStyle/>
          <a:p>
            <a:pPr algn="l" indent="0" marL="0">
              <a:spcAft>
                <a:spcPts val="300"/>
              </a:spcAft>
              <a:buNone/>
            </a:pPr>
            <a:r>
              <a:rPr lang="en-US" sz="1050" dirty="0">
                <a:solidFill>
                  <a:srgbClr val="1B1F24"/>
                </a:solidFill>
                <a:latin typeface="Segoe UI Semibold" pitchFamily="34" charset="0"/>
                <a:ea typeface="Segoe UI Semibold" pitchFamily="34" charset="-122"/>
                <a:cs typeface="Segoe UI Semibold" pitchFamily="34" charset="-120"/>
              </a:rPr>
              <a:t>Audit checks C1-C5, C7</a:t>
            </a:r>
            <a:endParaRPr lang="en-US" sz="1050" dirty="0"/>
          </a:p>
          <a:p>
            <a:pPr algn="l" indent="0" marL="0">
              <a:spcAft>
                <a:spcPts val="300"/>
              </a:spcAft>
              <a:buNone/>
            </a:pPr>
            <a:r>
              <a:rPr lang="en-US" sz="900" dirty="0">
                <a:solidFill>
                  <a:srgbClr val="5B6470"/>
                </a:solidFill>
                <a:latin typeface="Segoe UI" pitchFamily="34" charset="0"/>
                <a:ea typeface="Segoe UI" pitchFamily="34" charset="-122"/>
                <a:cs typeface="Segoe UI" pitchFamily="34" charset="-120"/>
              </a:rPr>
              <a:t>Pure functions, unit-tested</a:t>
            </a:r>
            <a:endParaRPr lang="en-US" sz="1050" dirty="0"/>
          </a:p>
        </p:txBody>
      </p:sp>
      <p:sp>
        <p:nvSpPr>
          <p:cNvPr id="35" name="Shape 32"/>
          <p:cNvSpPr/>
          <p:nvPr/>
        </p:nvSpPr>
        <p:spPr>
          <a:xfrm>
            <a:off x="8595360" y="4443984"/>
            <a:ext cx="457200" cy="0"/>
          </a:xfrm>
          <a:prstGeom prst="line">
            <a:avLst/>
          </a:prstGeom>
          <a:noFill/>
          <a:ln w="15875">
            <a:solidFill>
              <a:srgbClr val="9AA4B2"/>
            </a:solidFill>
            <a:prstDash val="solid"/>
            <a:tailEnd type="triangle"/>
          </a:ln>
        </p:spPr>
      </p:sp>
      <p:sp>
        <p:nvSpPr>
          <p:cNvPr id="36" name="Text 33"/>
          <p:cNvSpPr/>
          <p:nvPr/>
        </p:nvSpPr>
        <p:spPr>
          <a:xfrm>
            <a:off x="6949440" y="4882896"/>
            <a:ext cx="1508760" cy="274320"/>
          </a:xfrm>
          <a:prstGeom prst="roundRect">
            <a:avLst>
              <a:gd name="adj" fmla="val 50000"/>
            </a:avLst>
          </a:prstGeom>
          <a:solidFill>
            <a:srgbClr val="FFFFFF"/>
          </a:solidFill>
          <a:ln w="9525">
            <a:solidFill>
              <a:srgbClr val="B9D3EE"/>
            </a:solidFill>
          </a:ln>
        </p:spPr>
        <p:txBody>
          <a:bodyPr wrap="square" lIns="0" tIns="0" rIns="0" bIns="0" rtlCol="0" anchor="ctr"/>
          <a:lstStyle/>
          <a:p>
            <a:pPr algn="ctr" indent="0" marL="0">
              <a:buNone/>
            </a:pPr>
            <a:r>
              <a:rPr lang="en-US" sz="900" dirty="0">
                <a:solidFill>
                  <a:srgbClr val="0B5CAD"/>
                </a:solidFill>
                <a:latin typeface="Consolas" pitchFamily="34" charset="0"/>
                <a:ea typeface="Consolas" pitchFamily="34" charset="-122"/>
                <a:cs typeface="Consolas" pitchFamily="34" charset="-120"/>
              </a:rPr>
              <a:t>lookup_clause</a:t>
            </a:r>
            <a:endParaRPr lang="en-US" sz="900" dirty="0"/>
          </a:p>
        </p:txBody>
      </p:sp>
      <p:sp>
        <p:nvSpPr>
          <p:cNvPr id="37" name="Shape 34"/>
          <p:cNvSpPr/>
          <p:nvPr/>
        </p:nvSpPr>
        <p:spPr>
          <a:xfrm>
            <a:off x="9052560" y="4764024"/>
            <a:ext cx="2590495" cy="521208"/>
          </a:xfrm>
          <a:prstGeom prst="roundRect">
            <a:avLst>
              <a:gd name="adj" fmla="val 14035"/>
            </a:avLst>
          </a:prstGeom>
          <a:solidFill>
            <a:srgbClr val="F6F7F9"/>
          </a:solidFill>
          <a:ln w="12700">
            <a:solidFill>
              <a:srgbClr val="D9DEE4"/>
            </a:solidFill>
            <a:prstDash val="solid"/>
          </a:ln>
        </p:spPr>
      </p:sp>
      <p:sp>
        <p:nvSpPr>
          <p:cNvPr id="38" name="Text 35"/>
          <p:cNvSpPr/>
          <p:nvPr/>
        </p:nvSpPr>
        <p:spPr>
          <a:xfrm>
            <a:off x="9180576" y="4855464"/>
            <a:ext cx="2334463" cy="338328"/>
          </a:xfrm>
          <a:prstGeom prst="rect">
            <a:avLst/>
          </a:prstGeom>
          <a:noFill/>
          <a:ln/>
        </p:spPr>
        <p:txBody>
          <a:bodyPr wrap="square" lIns="0" tIns="0" rIns="0" bIns="0" rtlCol="0" anchor="t"/>
          <a:lstStyle/>
          <a:p>
            <a:pPr algn="l" indent="0" marL="0">
              <a:spcAft>
                <a:spcPts val="300"/>
              </a:spcAft>
              <a:buNone/>
            </a:pPr>
            <a:r>
              <a:rPr lang="en-US" sz="1050" dirty="0">
                <a:solidFill>
                  <a:srgbClr val="1B1F24"/>
                </a:solidFill>
                <a:latin typeface="Segoe UI Semibold" pitchFamily="34" charset="0"/>
                <a:ea typeface="Segoe UI Semibold" pitchFamily="34" charset="-122"/>
                <a:cs typeface="Segoe UI Semibold" pitchFamily="34" charset="-120"/>
              </a:rPr>
              <a:t>Legal corpus</a:t>
            </a:r>
            <a:endParaRPr lang="en-US" sz="1050" dirty="0"/>
          </a:p>
          <a:p>
            <a:pPr algn="l" indent="0" marL="0">
              <a:spcAft>
                <a:spcPts val="300"/>
              </a:spcAft>
              <a:buNone/>
            </a:pPr>
            <a:r>
              <a:rPr lang="en-US" sz="900" dirty="0">
                <a:solidFill>
                  <a:srgbClr val="5B6470"/>
                </a:solidFill>
                <a:latin typeface="Segoe UI" pitchFamily="34" charset="0"/>
                <a:ea typeface="Segoe UI" pitchFamily="34" charset="-122"/>
                <a:cs typeface="Segoe UI" pitchFamily="34" charset="-120"/>
              </a:rPr>
              <a:t>Verbatim text of the Act</a:t>
            </a:r>
            <a:endParaRPr lang="en-US" sz="1050" dirty="0"/>
          </a:p>
        </p:txBody>
      </p:sp>
      <p:sp>
        <p:nvSpPr>
          <p:cNvPr id="39" name="Shape 36"/>
          <p:cNvSpPr/>
          <p:nvPr/>
        </p:nvSpPr>
        <p:spPr>
          <a:xfrm>
            <a:off x="8595360" y="5020056"/>
            <a:ext cx="457200" cy="0"/>
          </a:xfrm>
          <a:prstGeom prst="line">
            <a:avLst/>
          </a:prstGeom>
          <a:noFill/>
          <a:ln w="15875">
            <a:solidFill>
              <a:srgbClr val="9AA4B2"/>
            </a:solidFill>
            <a:prstDash val="solid"/>
            <a:tailEnd type="triangle"/>
          </a:ln>
        </p:spPr>
      </p:sp>
      <p:sp>
        <p:nvSpPr>
          <p:cNvPr id="40" name="Shape 37"/>
          <p:cNvSpPr/>
          <p:nvPr/>
        </p:nvSpPr>
        <p:spPr>
          <a:xfrm flipV="1">
            <a:off x="10347808" y="3063240"/>
            <a:ext cx="0" cy="548640"/>
          </a:xfrm>
          <a:prstGeom prst="line">
            <a:avLst/>
          </a:prstGeom>
          <a:noFill/>
          <a:ln w="15875">
            <a:solidFill>
              <a:srgbClr val="9AA4B2"/>
            </a:solidFill>
            <a:prstDash val="solid"/>
            <a:tailEnd type="triangle"/>
          </a:ln>
        </p:spPr>
      </p:sp>
      <p:sp>
        <p:nvSpPr>
          <p:cNvPr id="41" name="Text 38"/>
          <p:cNvSpPr/>
          <p:nvPr/>
        </p:nvSpPr>
        <p:spPr>
          <a:xfrm>
            <a:off x="548640" y="3611880"/>
            <a:ext cx="2011680" cy="1691640"/>
          </a:xfrm>
          <a:prstGeom prst="roundRect">
            <a:avLst>
              <a:gd name="adj" fmla="val 4324"/>
            </a:avLst>
          </a:prstGeom>
          <a:solidFill>
            <a:srgbClr val="FFFFFF"/>
          </a:solidFill>
          <a:ln w="12700">
            <a:solidFill>
              <a:srgbClr val="9AA4B2"/>
            </a:solidFill>
            <a:prstDash val="dash"/>
          </a:ln>
        </p:spPr>
        <p:txBody>
          <a:bodyPr wrap="square" lIns="127000" tIns="127000" rIns="127000" bIns="127000" rtlCol="0" anchor="t"/>
          <a:lstStyle/>
          <a:p>
            <a:pPr indent="0" marL="0">
              <a:spcAft>
                <a:spcPts val="300"/>
              </a:spcAft>
              <a:buNone/>
            </a:pPr>
            <a:r>
              <a:rPr lang="en-US" sz="1200" dirty="0">
                <a:solidFill>
                  <a:srgbClr val="1B1F24"/>
                </a:solidFill>
                <a:latin typeface="Segoe UI Semibold" pitchFamily="34" charset="0"/>
                <a:ea typeface="Segoe UI Semibold" pitchFamily="34" charset="-122"/>
                <a:cs typeface="Segoe UI Semibold" pitchFamily="34" charset="-120"/>
              </a:rPr>
              <a:t>Fallback</a:t>
            </a:r>
            <a:endParaRPr lang="en-US" sz="1200" dirty="0"/>
          </a:p>
          <a:p>
            <a:pPr indent="0" marL="0">
              <a:spcAft>
                <a:spcPts val="300"/>
              </a:spcAft>
              <a:buNone/>
            </a:pPr>
            <a:r>
              <a:rPr lang="en-US" sz="1000" dirty="0">
                <a:solidFill>
                  <a:srgbClr val="5B6470"/>
                </a:solidFill>
                <a:latin typeface="Segoe UI" pitchFamily="34" charset="0"/>
                <a:ea typeface="Segoe UI" pitchFamily="34" charset="-122"/>
                <a:cs typeface="Segoe UI" pitchFamily="34" charset="-120"/>
              </a:rPr>
              <a:t>No model, an error or 120 s → English template docket. Same checks, same guard</a:t>
            </a:r>
            <a:endParaRPr lang="en-US" sz="1200" dirty="0"/>
          </a:p>
        </p:txBody>
      </p:sp>
      <p:sp>
        <p:nvSpPr>
          <p:cNvPr id="42" name="Shape 39"/>
          <p:cNvSpPr/>
          <p:nvPr/>
        </p:nvSpPr>
        <p:spPr>
          <a:xfrm flipH="1">
            <a:off x="2560320" y="4453128"/>
            <a:ext cx="457200" cy="0"/>
          </a:xfrm>
          <a:prstGeom prst="line">
            <a:avLst/>
          </a:prstGeom>
          <a:noFill/>
          <a:ln w="15875">
            <a:solidFill>
              <a:srgbClr val="9AA4B2"/>
            </a:solidFill>
            <a:prstDash val="dash"/>
            <a:tailEnd type="triangle"/>
          </a:ln>
        </p:spPr>
      </p:sp>
      <p:sp>
        <p:nvSpPr>
          <p:cNvPr id="43" name="Text 40"/>
          <p:cNvSpPr/>
          <p:nvPr/>
        </p:nvSpPr>
        <p:spPr>
          <a:xfrm>
            <a:off x="548640" y="5596128"/>
            <a:ext cx="1097280" cy="256032"/>
          </a:xfrm>
          <a:prstGeom prst="rect">
            <a:avLst/>
          </a:prstGeom>
          <a:noFill/>
          <a:ln/>
        </p:spPr>
        <p:txBody>
          <a:bodyPr wrap="square" lIns="0" tIns="0" rIns="0" bIns="0" rtlCol="0" anchor="ctr"/>
          <a:lstStyle/>
          <a:p>
            <a:pPr indent="0" marL="0">
              <a:buNone/>
            </a:pPr>
            <a:r>
              <a:rPr lang="en-US" sz="1050" spc="200" kern="0" dirty="0">
                <a:solidFill>
                  <a:srgbClr val="5B6470"/>
                </a:solidFill>
                <a:latin typeface="Segoe UI Semibold" pitchFamily="34" charset="0"/>
                <a:ea typeface="Segoe UI Semibold" pitchFamily="34" charset="-122"/>
                <a:cs typeface="Segoe UI Semibold" pitchFamily="34" charset="-120"/>
              </a:rPr>
              <a:t>STACK</a:t>
            </a:r>
            <a:endParaRPr lang="en-US" sz="1050" dirty="0"/>
          </a:p>
        </p:txBody>
      </p:sp>
      <p:sp>
        <p:nvSpPr>
          <p:cNvPr id="44" name="Text 41"/>
          <p:cNvSpPr/>
          <p:nvPr/>
        </p:nvSpPr>
        <p:spPr>
          <a:xfrm>
            <a:off x="1325880" y="5559552"/>
            <a:ext cx="1523390" cy="292608"/>
          </a:xfrm>
          <a:prstGeom prst="roundRect">
            <a:avLst>
              <a:gd name="adj" fmla="val 50000"/>
            </a:avLst>
          </a:prstGeom>
          <a:solidFill>
            <a:srgbClr val="F6F7F9"/>
          </a:solidFill>
          <a:ln>
            <a:solidFill>
              <a:srgbClr val="FFFFFF">
                <a:alpha val="0"/>
              </a:srgbClr>
            </a:solidFill>
          </a:ln>
        </p:spPr>
        <p:txBody>
          <a:bodyPr wrap="square" lIns="0" tIns="0" rIns="0" bIns="0" rtlCol="0" anchor="ctr"/>
          <a:lstStyle/>
          <a:p>
            <a:pPr algn="ctr" indent="0" marL="0">
              <a:buNone/>
            </a:pPr>
            <a:r>
              <a:rPr lang="en-US" sz="950" dirty="0">
                <a:solidFill>
                  <a:srgbClr val="1B1F24"/>
                </a:solidFill>
                <a:latin typeface="Segoe UI" pitchFamily="34" charset="0"/>
                <a:ea typeface="Segoe UI" pitchFamily="34" charset="-122"/>
                <a:cs typeface="Segoe UI" pitchFamily="34" charset="-120"/>
              </a:rPr>
              <a:t>TypeScript · Node 22</a:t>
            </a:r>
            <a:endParaRPr lang="en-US" sz="950" dirty="0"/>
          </a:p>
        </p:txBody>
      </p:sp>
      <p:sp>
        <p:nvSpPr>
          <p:cNvPr id="45" name="Text 42"/>
          <p:cNvSpPr/>
          <p:nvPr/>
        </p:nvSpPr>
        <p:spPr>
          <a:xfrm>
            <a:off x="2922422" y="5559552"/>
            <a:ext cx="1266261" cy="292608"/>
          </a:xfrm>
          <a:prstGeom prst="roundRect">
            <a:avLst>
              <a:gd name="adj" fmla="val 50000"/>
            </a:avLst>
          </a:prstGeom>
          <a:solidFill>
            <a:srgbClr val="F6F7F9"/>
          </a:solidFill>
          <a:ln>
            <a:solidFill>
              <a:srgbClr val="FFFFFF">
                <a:alpha val="0"/>
              </a:srgbClr>
            </a:solidFill>
          </a:ln>
        </p:spPr>
        <p:txBody>
          <a:bodyPr wrap="square" lIns="0" tIns="0" rIns="0" bIns="0" rtlCol="0" anchor="ctr"/>
          <a:lstStyle/>
          <a:p>
            <a:pPr algn="ctr" indent="0" marL="0">
              <a:buNone/>
            </a:pPr>
            <a:r>
              <a:rPr lang="en-US" sz="950" dirty="0">
                <a:solidFill>
                  <a:srgbClr val="1B1F24"/>
                </a:solidFill>
                <a:latin typeface="Segoe UI" pitchFamily="34" charset="0"/>
                <a:ea typeface="Segoe UI" pitchFamily="34" charset="-122"/>
                <a:cs typeface="Segoe UI" pitchFamily="34" charset="-120"/>
              </a:rPr>
              <a:t>Express + multer</a:t>
            </a:r>
            <a:endParaRPr lang="en-US" sz="950" dirty="0"/>
          </a:p>
        </p:txBody>
      </p:sp>
      <p:sp>
        <p:nvSpPr>
          <p:cNvPr id="46" name="Text 43"/>
          <p:cNvSpPr/>
          <p:nvPr/>
        </p:nvSpPr>
        <p:spPr>
          <a:xfrm>
            <a:off x="4261836" y="5559552"/>
            <a:ext cx="1009132" cy="292608"/>
          </a:xfrm>
          <a:prstGeom prst="roundRect">
            <a:avLst>
              <a:gd name="adj" fmla="val 50000"/>
            </a:avLst>
          </a:prstGeom>
          <a:solidFill>
            <a:srgbClr val="F6F7F9"/>
          </a:solidFill>
          <a:ln>
            <a:solidFill>
              <a:srgbClr val="FFFFFF">
                <a:alpha val="0"/>
              </a:srgbClr>
            </a:solidFill>
          </a:ln>
        </p:spPr>
        <p:txBody>
          <a:bodyPr wrap="square" lIns="0" tIns="0" rIns="0" bIns="0" rtlCol="0" anchor="ctr"/>
          <a:lstStyle/>
          <a:p>
            <a:pPr algn="ctr" indent="0" marL="0">
              <a:buNone/>
            </a:pPr>
            <a:r>
              <a:rPr lang="en-US" sz="950" dirty="0">
                <a:solidFill>
                  <a:srgbClr val="1B1F24"/>
                </a:solidFill>
                <a:latin typeface="Segoe UI" pitchFamily="34" charset="0"/>
                <a:ea typeface="Segoe UI" pitchFamily="34" charset="-122"/>
                <a:cs typeface="Segoe UI" pitchFamily="34" charset="-120"/>
              </a:rPr>
              <a:t>React + Vite</a:t>
            </a:r>
            <a:endParaRPr lang="en-US" sz="950" dirty="0"/>
          </a:p>
        </p:txBody>
      </p:sp>
      <p:sp>
        <p:nvSpPr>
          <p:cNvPr id="47" name="Text 44"/>
          <p:cNvSpPr/>
          <p:nvPr/>
        </p:nvSpPr>
        <p:spPr>
          <a:xfrm>
            <a:off x="5344119" y="5559552"/>
            <a:ext cx="880567" cy="292608"/>
          </a:xfrm>
          <a:prstGeom prst="roundRect">
            <a:avLst>
              <a:gd name="adj" fmla="val 50000"/>
            </a:avLst>
          </a:prstGeom>
          <a:solidFill>
            <a:srgbClr val="F6F7F9"/>
          </a:solidFill>
          <a:ln>
            <a:solidFill>
              <a:srgbClr val="FFFFFF">
                <a:alpha val="0"/>
              </a:srgbClr>
            </a:solidFill>
          </a:ln>
        </p:spPr>
        <p:txBody>
          <a:bodyPr wrap="square" lIns="0" tIns="0" rIns="0" bIns="0" rtlCol="0" anchor="ctr"/>
          <a:lstStyle/>
          <a:p>
            <a:pPr algn="ctr" indent="0" marL="0">
              <a:buNone/>
            </a:pPr>
            <a:r>
              <a:rPr lang="en-US" sz="950" dirty="0">
                <a:solidFill>
                  <a:srgbClr val="1B1F24"/>
                </a:solidFill>
                <a:latin typeface="Segoe UI" pitchFamily="34" charset="0"/>
                <a:ea typeface="Segoe UI" pitchFamily="34" charset="-122"/>
                <a:cs typeface="Segoe UI" pitchFamily="34" charset="-120"/>
              </a:rPr>
              <a:t>@cline/sdk</a:t>
            </a:r>
            <a:endParaRPr lang="en-US" sz="950" dirty="0"/>
          </a:p>
        </p:txBody>
      </p:sp>
      <p:sp>
        <p:nvSpPr>
          <p:cNvPr id="48" name="Text 45"/>
          <p:cNvSpPr/>
          <p:nvPr/>
        </p:nvSpPr>
        <p:spPr>
          <a:xfrm>
            <a:off x="6297839" y="5559552"/>
            <a:ext cx="1587673" cy="292608"/>
          </a:xfrm>
          <a:prstGeom prst="roundRect">
            <a:avLst>
              <a:gd name="adj" fmla="val 50000"/>
            </a:avLst>
          </a:prstGeom>
          <a:solidFill>
            <a:srgbClr val="F6F7F9"/>
          </a:solidFill>
          <a:ln>
            <a:solidFill>
              <a:srgbClr val="FFFFFF">
                <a:alpha val="0"/>
              </a:srgbClr>
            </a:solidFill>
          </a:ln>
        </p:spPr>
        <p:txBody>
          <a:bodyPr wrap="square" lIns="0" tIns="0" rIns="0" bIns="0" rtlCol="0" anchor="ctr"/>
          <a:lstStyle/>
          <a:p>
            <a:pPr algn="ctr" indent="0" marL="0">
              <a:buNone/>
            </a:pPr>
            <a:r>
              <a:rPr lang="en-US" sz="950" dirty="0">
                <a:solidFill>
                  <a:srgbClr val="1B1F24"/>
                </a:solidFill>
                <a:latin typeface="Segoe UI" pitchFamily="34" charset="0"/>
                <a:ea typeface="Segoe UI" pitchFamily="34" charset="-122"/>
                <a:cs typeface="Segoe UI" pitchFamily="34" charset="-120"/>
              </a:rPr>
              <a:t>Gemini 3.1 Flash-Lite</a:t>
            </a:r>
            <a:endParaRPr lang="en-US" sz="950" dirty="0"/>
          </a:p>
        </p:txBody>
      </p:sp>
      <p:sp>
        <p:nvSpPr>
          <p:cNvPr id="49" name="Text 46"/>
          <p:cNvSpPr/>
          <p:nvPr/>
        </p:nvSpPr>
        <p:spPr>
          <a:xfrm>
            <a:off x="7958663" y="5559552"/>
            <a:ext cx="430591" cy="292608"/>
          </a:xfrm>
          <a:prstGeom prst="roundRect">
            <a:avLst>
              <a:gd name="adj" fmla="val 50000"/>
            </a:avLst>
          </a:prstGeom>
          <a:solidFill>
            <a:srgbClr val="F6F7F9"/>
          </a:solidFill>
          <a:ln>
            <a:solidFill>
              <a:srgbClr val="FFFFFF">
                <a:alpha val="0"/>
              </a:srgbClr>
            </a:solidFill>
          </a:ln>
        </p:spPr>
        <p:txBody>
          <a:bodyPr wrap="square" lIns="0" tIns="0" rIns="0" bIns="0" rtlCol="0" anchor="ctr"/>
          <a:lstStyle/>
          <a:p>
            <a:pPr algn="ctr" indent="0" marL="0">
              <a:buNone/>
            </a:pPr>
            <a:r>
              <a:rPr lang="en-US" sz="950" dirty="0">
                <a:solidFill>
                  <a:srgbClr val="1B1F24"/>
                </a:solidFill>
                <a:latin typeface="Segoe UI" pitchFamily="34" charset="0"/>
                <a:ea typeface="Segoe UI" pitchFamily="34" charset="-122"/>
                <a:cs typeface="Segoe UI" pitchFamily="34" charset="-120"/>
              </a:rPr>
              <a:t>zod</a:t>
            </a:r>
            <a:endParaRPr lang="en-US" sz="950" dirty="0"/>
          </a:p>
        </p:txBody>
      </p:sp>
      <p:sp>
        <p:nvSpPr>
          <p:cNvPr id="50" name="Text 47"/>
          <p:cNvSpPr/>
          <p:nvPr/>
        </p:nvSpPr>
        <p:spPr>
          <a:xfrm>
            <a:off x="8462406" y="5559552"/>
            <a:ext cx="1330543" cy="292608"/>
          </a:xfrm>
          <a:prstGeom prst="roundRect">
            <a:avLst>
              <a:gd name="adj" fmla="val 50000"/>
            </a:avLst>
          </a:prstGeom>
          <a:solidFill>
            <a:srgbClr val="F6F7F9"/>
          </a:solidFill>
          <a:ln>
            <a:solidFill>
              <a:srgbClr val="FFFFFF">
                <a:alpha val="0"/>
              </a:srgbClr>
            </a:solidFill>
          </a:ln>
        </p:spPr>
        <p:txBody>
          <a:bodyPr wrap="square" lIns="0" tIns="0" rIns="0" bIns="0" rtlCol="0" anchor="ctr"/>
          <a:lstStyle/>
          <a:p>
            <a:pPr algn="ctr" indent="0" marL="0">
              <a:buNone/>
            </a:pPr>
            <a:r>
              <a:rPr lang="en-US" sz="950" dirty="0">
                <a:solidFill>
                  <a:srgbClr val="1B1F24"/>
                </a:solidFill>
                <a:latin typeface="Segoe UI" pitchFamily="34" charset="0"/>
                <a:ea typeface="Segoe UI" pitchFamily="34" charset="-122"/>
                <a:cs typeface="Segoe UI" pitchFamily="34" charset="-120"/>
              </a:rPr>
              <a:t>vitest · 42 tests</a:t>
            </a:r>
            <a:endParaRPr lang="en-US" sz="950" dirty="0"/>
          </a:p>
        </p:txBody>
      </p:sp>
      <p:sp>
        <p:nvSpPr>
          <p:cNvPr id="51" name="Text 48"/>
          <p:cNvSpPr/>
          <p:nvPr/>
        </p:nvSpPr>
        <p:spPr>
          <a:xfrm>
            <a:off x="9866102" y="5559552"/>
            <a:ext cx="1266261" cy="292608"/>
          </a:xfrm>
          <a:prstGeom prst="roundRect">
            <a:avLst>
              <a:gd name="adj" fmla="val 50000"/>
            </a:avLst>
          </a:prstGeom>
          <a:solidFill>
            <a:srgbClr val="F6F7F9"/>
          </a:solidFill>
          <a:ln>
            <a:solidFill>
              <a:srgbClr val="FFFFFF">
                <a:alpha val="0"/>
              </a:srgbClr>
            </a:solidFill>
          </a:ln>
        </p:spPr>
        <p:txBody>
          <a:bodyPr wrap="square" lIns="0" tIns="0" rIns="0" bIns="0" rtlCol="0" anchor="ctr"/>
          <a:lstStyle/>
          <a:p>
            <a:pPr algn="ctr" indent="0" marL="0">
              <a:buNone/>
            </a:pPr>
            <a:r>
              <a:rPr lang="en-US" sz="950" dirty="0">
                <a:solidFill>
                  <a:srgbClr val="1B1F24"/>
                </a:solidFill>
                <a:latin typeface="Segoe UI" pitchFamily="34" charset="0"/>
                <a:ea typeface="Segoe UI" pitchFamily="34" charset="-122"/>
                <a:cs typeface="Segoe UI" pitchFamily="34" charset="-120"/>
              </a:rPr>
              <a:t>Render free tier</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Cline logo">    </p:cNvPr>
          <p:cNvPicPr>
            <a:picLocks noChangeAspect="1"/>
          </p:cNvPicPr>
          <p:nvPr/>
        </p:nvPicPr>
        <p:blipFill>
          <a:blip r:embed="rId1"/>
          <a:stretch>
            <a:fillRect/>
          </a:stretch>
        </p:blipFill>
        <p:spPr>
          <a:xfrm>
            <a:off x="10537269" y="402336"/>
            <a:ext cx="1105786" cy="237744"/>
          </a:xfrm>
          <a:prstGeom prst="rect">
            <a:avLst/>
          </a:prstGeom>
        </p:spPr>
      </p:pic>
      <p:sp>
        <p:nvSpPr>
          <p:cNvPr id="3" name="Text 0"/>
          <p:cNvSpPr/>
          <p:nvPr/>
        </p:nvSpPr>
        <p:spPr>
          <a:xfrm>
            <a:off x="9622869" y="402336"/>
            <a:ext cx="822960" cy="237744"/>
          </a:xfrm>
          <a:prstGeom prst="rect">
            <a:avLst/>
          </a:prstGeom>
          <a:noFill/>
          <a:ln/>
        </p:spPr>
        <p:txBody>
          <a:bodyPr wrap="square" lIns="0" tIns="0" rIns="0" bIns="0" rtlCol="0" anchor="ctr"/>
          <a:lstStyle/>
          <a:p>
            <a:pPr algn="r" indent="0" marL="0">
              <a:buNone/>
            </a:pPr>
            <a:r>
              <a:rPr lang="en-US" sz="900" dirty="0">
                <a:solidFill>
                  <a:srgbClr val="5B6470"/>
                </a:solidFill>
                <a:latin typeface="Segoe UI" pitchFamily="34" charset="0"/>
                <a:ea typeface="Segoe UI" pitchFamily="34" charset="-122"/>
                <a:cs typeface="Segoe UI" pitchFamily="34" charset="-120"/>
              </a:rPr>
              <a:t>Built with</a:t>
            </a:r>
            <a:endParaRPr lang="en-US" sz="900" dirty="0"/>
          </a:p>
        </p:txBody>
      </p:sp>
      <p:sp>
        <p:nvSpPr>
          <p:cNvPr id="4" name="Text 1"/>
          <p:cNvSpPr/>
          <p:nvPr/>
        </p:nvSpPr>
        <p:spPr>
          <a:xfrm>
            <a:off x="548640" y="384048"/>
            <a:ext cx="11094415" cy="274320"/>
          </a:xfrm>
          <a:prstGeom prst="rect">
            <a:avLst/>
          </a:prstGeom>
          <a:noFill/>
          <a:ln/>
        </p:spPr>
        <p:txBody>
          <a:bodyPr wrap="square" lIns="0" tIns="0" rIns="0" bIns="0" rtlCol="0" anchor="ctr"/>
          <a:lstStyle/>
          <a:p>
            <a:pPr indent="0" marL="0">
              <a:buNone/>
            </a:pPr>
            <a:r>
              <a:rPr lang="en-US" sz="1100" spc="200" kern="0" dirty="0">
                <a:solidFill>
                  <a:srgbClr val="0B5CAD"/>
                </a:solidFill>
                <a:latin typeface="Segoe UI Semibold" pitchFamily="34" charset="0"/>
                <a:ea typeface="Segoe UI Semibold" pitchFamily="34" charset="-122"/>
                <a:cs typeface="Segoe UI Semibold" pitchFamily="34" charset="-120"/>
              </a:rPr>
              <a:t>08   AI MODELS AND TOOLS</a:t>
            </a:r>
            <a:endParaRPr lang="en-US" sz="1100" dirty="0"/>
          </a:p>
        </p:txBody>
      </p:sp>
      <p:sp>
        <p:nvSpPr>
          <p:cNvPr id="5" name="Text 2"/>
          <p:cNvSpPr/>
          <p:nvPr/>
        </p:nvSpPr>
        <p:spPr>
          <a:xfrm>
            <a:off x="548640" y="676656"/>
            <a:ext cx="11094415" cy="685800"/>
          </a:xfrm>
          <a:prstGeom prst="rect">
            <a:avLst/>
          </a:prstGeom>
          <a:noFill/>
          <a:ln/>
        </p:spPr>
        <p:txBody>
          <a:bodyPr wrap="square" lIns="0" tIns="0" rIns="0" bIns="0" rtlCol="0" anchor="t"/>
          <a:lstStyle/>
          <a:p>
            <a:pPr indent="0" marL="0">
              <a:buNone/>
            </a:pPr>
            <a:r>
              <a:rPr lang="en-US" sz="2800" dirty="0">
                <a:solidFill>
                  <a:srgbClr val="1B1F24"/>
                </a:solidFill>
                <a:latin typeface="Segoe UI Semibold" pitchFamily="34" charset="0"/>
                <a:ea typeface="Segoe UI Semibold" pitchFamily="34" charset="-122"/>
                <a:cs typeface="Segoe UI Semibold" pitchFamily="34" charset="-120"/>
              </a:rPr>
              <a:t>AI where language is hard. Code where numbers must be right.</a:t>
            </a:r>
            <a:endParaRPr lang="en-US" sz="2800" dirty="0"/>
          </a:p>
        </p:txBody>
      </p:sp>
      <p:sp>
        <p:nvSpPr>
          <p:cNvPr id="6" name="Shape 3"/>
          <p:cNvSpPr/>
          <p:nvPr/>
        </p:nvSpPr>
        <p:spPr>
          <a:xfrm>
            <a:off x="548640" y="6437376"/>
            <a:ext cx="82296" cy="82296"/>
          </a:xfrm>
          <a:prstGeom prst="rect">
            <a:avLst/>
          </a:prstGeom>
          <a:solidFill>
            <a:srgbClr val="0B5CAD"/>
          </a:solidFill>
          <a:ln w="12700">
            <a:solidFill>
              <a:srgbClr val="FFFFFF">
                <a:alpha val="0"/>
              </a:srgbClr>
            </a:solidFill>
            <a:prstDash val="solid"/>
          </a:ln>
        </p:spPr>
      </p:sp>
      <p:sp>
        <p:nvSpPr>
          <p:cNvPr id="7" name="Text 4"/>
          <p:cNvSpPr/>
          <p:nvPr/>
        </p:nvSpPr>
        <p:spPr>
          <a:xfrm>
            <a:off x="731520" y="6364224"/>
            <a:ext cx="5486400" cy="228600"/>
          </a:xfrm>
          <a:prstGeom prst="rect">
            <a:avLst/>
          </a:prstGeom>
          <a:noFill/>
          <a:ln/>
        </p:spPr>
        <p:txBody>
          <a:bodyPr wrap="square" lIns="0" tIns="0" rIns="0" bIns="0" rtlCol="0" anchor="ctr"/>
          <a:lstStyle/>
          <a:p>
            <a:pPr indent="0" marL="0">
              <a:buNone/>
            </a:pPr>
            <a:r>
              <a:rPr lang="en-US" sz="900" dirty="0">
                <a:solidFill>
                  <a:srgbClr val="5B6470"/>
                </a:solidFill>
                <a:latin typeface="Segoe UI" pitchFamily="34" charset="0"/>
                <a:ea typeface="Segoe UI" pitchFamily="34" charset="-122"/>
                <a:cs typeface="Segoe UI" pitchFamily="34" charset="-120"/>
              </a:rPr>
              <a:t>Nyaya-Ledger  ·  Cline AI Builder Hackathon</a:t>
            </a:r>
            <a:endParaRPr lang="en-US" sz="900" dirty="0"/>
          </a:p>
        </p:txBody>
      </p:sp>
      <p:sp>
        <p:nvSpPr>
          <p:cNvPr id="8" name="Text 5"/>
          <p:cNvSpPr/>
          <p:nvPr/>
        </p:nvSpPr>
        <p:spPr>
          <a:xfrm>
            <a:off x="10271455" y="6364224"/>
            <a:ext cx="1371600" cy="228600"/>
          </a:xfrm>
          <a:prstGeom prst="rect">
            <a:avLst/>
          </a:prstGeom>
          <a:noFill/>
          <a:ln/>
        </p:spPr>
        <p:txBody>
          <a:bodyPr wrap="square" lIns="0" tIns="0" rIns="0" bIns="0" rtlCol="0" anchor="ctr"/>
          <a:lstStyle/>
          <a:p>
            <a:pPr algn="r" indent="0" marL="0">
              <a:buNone/>
            </a:pPr>
            <a:r>
              <a:rPr lang="en-US" sz="900" dirty="0">
                <a:solidFill>
                  <a:srgbClr val="5B6470"/>
                </a:solidFill>
                <a:latin typeface="Segoe UI" pitchFamily="34" charset="0"/>
                <a:ea typeface="Segoe UI" pitchFamily="34" charset="-122"/>
                <a:cs typeface="Segoe UI" pitchFamily="34" charset="-120"/>
              </a:rPr>
              <a:t>8 / 11</a:t>
            </a:r>
            <a:endParaRPr lang="en-US" sz="900" dirty="0"/>
          </a:p>
        </p:txBody>
      </p:sp>
      <p:sp>
        <p:nvSpPr>
          <p:cNvPr id="9" name="Text 6"/>
          <p:cNvSpPr/>
          <p:nvPr/>
        </p:nvSpPr>
        <p:spPr>
          <a:xfrm>
            <a:off x="548640" y="1600200"/>
            <a:ext cx="5318608" cy="256032"/>
          </a:xfrm>
          <a:prstGeom prst="rect">
            <a:avLst/>
          </a:prstGeom>
          <a:noFill/>
          <a:ln/>
        </p:spPr>
        <p:txBody>
          <a:bodyPr wrap="square" lIns="0" tIns="0" rIns="0" bIns="0" rtlCol="0" anchor="ctr"/>
          <a:lstStyle/>
          <a:p>
            <a:pPr indent="0" marL="0">
              <a:buNone/>
            </a:pPr>
            <a:r>
              <a:rPr lang="en-US" sz="1050" spc="200" kern="0" dirty="0">
                <a:solidFill>
                  <a:srgbClr val="0B5CAD"/>
                </a:solidFill>
                <a:latin typeface="Segoe UI Semibold" pitchFamily="34" charset="0"/>
                <a:ea typeface="Segoe UI Semibold" pitchFamily="34" charset="-122"/>
                <a:cs typeface="Segoe UI Semibold" pitchFamily="34" charset="-120"/>
              </a:rPr>
              <a:t>AI DOES</a:t>
            </a:r>
            <a:endParaRPr lang="en-US" sz="1050" dirty="0"/>
          </a:p>
        </p:txBody>
      </p:sp>
      <p:sp>
        <p:nvSpPr>
          <p:cNvPr id="10" name="Shape 7"/>
          <p:cNvSpPr/>
          <p:nvPr/>
        </p:nvSpPr>
        <p:spPr>
          <a:xfrm>
            <a:off x="548640" y="1892808"/>
            <a:ext cx="5318608" cy="0"/>
          </a:xfrm>
          <a:prstGeom prst="line">
            <a:avLst/>
          </a:prstGeom>
          <a:noFill/>
          <a:ln w="25400">
            <a:solidFill>
              <a:srgbClr val="0B5CAD"/>
            </a:solidFill>
            <a:prstDash val="solid"/>
          </a:ln>
        </p:spPr>
      </p:sp>
      <p:sp>
        <p:nvSpPr>
          <p:cNvPr id="11" name="Text 8"/>
          <p:cNvSpPr/>
          <p:nvPr/>
        </p:nvSpPr>
        <p:spPr>
          <a:xfrm>
            <a:off x="548640" y="2057400"/>
            <a:ext cx="5318608" cy="868680"/>
          </a:xfrm>
          <a:prstGeom prst="rect">
            <a:avLst/>
          </a:prstGeom>
          <a:noFill/>
          <a:ln/>
        </p:spPr>
        <p:txBody>
          <a:bodyPr wrap="square" lIns="0" tIns="0" rIns="0" bIns="0" rtlCol="0" anchor="t"/>
          <a:lstStyle/>
          <a:p>
            <a:pPr indent="0" marL="0">
              <a:spcAft>
                <a:spcPts val="300"/>
              </a:spcAft>
              <a:buNone/>
            </a:pPr>
            <a:r>
              <a:rPr lang="en-US" sz="1400" dirty="0">
                <a:solidFill>
                  <a:srgbClr val="0B5CAD"/>
                </a:solidFill>
                <a:latin typeface="Segoe UI Semibold" pitchFamily="34" charset="0"/>
                <a:ea typeface="Segoe UI Semibold" pitchFamily="34" charset="-122"/>
                <a:cs typeface="Segoe UI Semibold" pitchFamily="34" charset="-120"/>
              </a:rPr>
              <a:t>Read screenshots</a:t>
            </a:r>
            <a:endParaRPr lang="en-US" sz="1400" dirty="0"/>
          </a:p>
          <a:p>
            <a:pPr indent="0" marL="0">
              <a:spcAft>
                <a:spcPts val="300"/>
              </a:spcAft>
              <a:buNone/>
            </a:pPr>
            <a:r>
              <a:rPr lang="en-US" sz="1150" dirty="0">
                <a:solidFill>
                  <a:srgbClr val="5B6470"/>
                </a:solidFill>
                <a:latin typeface="Segoe UI" pitchFamily="34" charset="0"/>
                <a:ea typeface="Segoe UI" pitchFamily="34" charset="-122"/>
                <a:cs typeface="Segoe UI" pitchFamily="34" charset="-120"/>
              </a:rPr>
              <a:t>Gemini 3.1 Flash-Lite (vision) → strict JSON, validated with zod, 1 retry. Every value keeps its source image ID</a:t>
            </a:r>
            <a:endParaRPr lang="en-US" sz="1400" dirty="0"/>
          </a:p>
        </p:txBody>
      </p:sp>
      <p:sp>
        <p:nvSpPr>
          <p:cNvPr id="12" name="Text 9"/>
          <p:cNvSpPr/>
          <p:nvPr/>
        </p:nvSpPr>
        <p:spPr>
          <a:xfrm>
            <a:off x="548640" y="2990088"/>
            <a:ext cx="5318608" cy="868680"/>
          </a:xfrm>
          <a:prstGeom prst="rect">
            <a:avLst/>
          </a:prstGeom>
          <a:noFill/>
          <a:ln/>
        </p:spPr>
        <p:txBody>
          <a:bodyPr wrap="square" lIns="0" tIns="0" rIns="0" bIns="0" rtlCol="0" anchor="t"/>
          <a:lstStyle/>
          <a:p>
            <a:pPr indent="0" marL="0">
              <a:spcAft>
                <a:spcPts val="300"/>
              </a:spcAft>
              <a:buNone/>
            </a:pPr>
            <a:r>
              <a:rPr lang="en-US" sz="1400" dirty="0">
                <a:solidFill>
                  <a:srgbClr val="0B5CAD"/>
                </a:solidFill>
                <a:latin typeface="Segoe UI Semibold" pitchFamily="34" charset="0"/>
                <a:ea typeface="Segoe UI Semibold" pitchFamily="34" charset="-122"/>
                <a:cs typeface="Segoe UI Semibold" pitchFamily="34" charset="-120"/>
              </a:rPr>
              <a:t>Run the audit</a:t>
            </a:r>
            <a:endParaRPr lang="en-US" sz="1400" dirty="0"/>
          </a:p>
          <a:p>
            <a:pPr indent="0" marL="0">
              <a:spcAft>
                <a:spcPts val="300"/>
              </a:spcAft>
              <a:buNone/>
            </a:pPr>
            <a:r>
              <a:rPr lang="en-US" sz="1150" dirty="0">
                <a:solidFill>
                  <a:srgbClr val="5B6470"/>
                </a:solidFill>
                <a:latin typeface="Segoe UI" pitchFamily="34" charset="0"/>
                <a:ea typeface="Segoe UI" pitchFamily="34" charset="-122"/>
                <a:cs typeface="Segoe UI" pitchFamily="34" charset="-120"/>
              </a:rPr>
              <a:t>Cline SDK Agent on the same model: decides which checks apply, asks the worker for missing inputs</a:t>
            </a:r>
            <a:endParaRPr lang="en-US" sz="1400" dirty="0"/>
          </a:p>
        </p:txBody>
      </p:sp>
      <p:sp>
        <p:nvSpPr>
          <p:cNvPr id="13" name="Text 10"/>
          <p:cNvSpPr/>
          <p:nvPr/>
        </p:nvSpPr>
        <p:spPr>
          <a:xfrm>
            <a:off x="548640" y="3922776"/>
            <a:ext cx="5318608" cy="868680"/>
          </a:xfrm>
          <a:prstGeom prst="rect">
            <a:avLst/>
          </a:prstGeom>
          <a:noFill/>
          <a:ln/>
        </p:spPr>
        <p:txBody>
          <a:bodyPr wrap="square" lIns="0" tIns="0" rIns="0" bIns="0" rtlCol="0" anchor="t"/>
          <a:lstStyle/>
          <a:p>
            <a:pPr indent="0" marL="0">
              <a:spcAft>
                <a:spcPts val="300"/>
              </a:spcAft>
              <a:buNone/>
            </a:pPr>
            <a:r>
              <a:rPr lang="en-US" sz="1400" dirty="0">
                <a:solidFill>
                  <a:srgbClr val="0B5CAD"/>
                </a:solidFill>
                <a:latin typeface="Segoe UI Semibold" pitchFamily="34" charset="0"/>
                <a:ea typeface="Segoe UI Semibold" pitchFamily="34" charset="-122"/>
                <a:cs typeface="Segoe UI Semibold" pitchFamily="34" charset="-120"/>
              </a:rPr>
              <a:t>Explain and draft</a:t>
            </a:r>
            <a:endParaRPr lang="en-US" sz="1400" dirty="0"/>
          </a:p>
          <a:p>
            <a:pPr indent="0" marL="0">
              <a:spcAft>
                <a:spcPts val="300"/>
              </a:spcAft>
              <a:buNone/>
            </a:pPr>
            <a:r>
              <a:rPr lang="en-US" sz="1150" dirty="0">
                <a:solidFill>
                  <a:srgbClr val="5B6470"/>
                </a:solidFill>
                <a:latin typeface="Segoe UI" pitchFamily="34" charset="0"/>
                <a:ea typeface="Segoe UI" pitchFamily="34" charset="-122"/>
                <a:cs typeface="Segoe UI" pitchFamily="34" charset="-120"/>
              </a:rPr>
              <a:t>Plain-language summary, grievance letter and s.13 request in Kannada, Hindi or English</a:t>
            </a:r>
            <a:endParaRPr lang="en-US" sz="1400" dirty="0"/>
          </a:p>
        </p:txBody>
      </p:sp>
      <p:sp>
        <p:nvSpPr>
          <p:cNvPr id="14" name="Text 11"/>
          <p:cNvSpPr/>
          <p:nvPr/>
        </p:nvSpPr>
        <p:spPr>
          <a:xfrm>
            <a:off x="6324448" y="1600200"/>
            <a:ext cx="5318608" cy="256032"/>
          </a:xfrm>
          <a:prstGeom prst="rect">
            <a:avLst/>
          </a:prstGeom>
          <a:noFill/>
          <a:ln/>
        </p:spPr>
        <p:txBody>
          <a:bodyPr wrap="square" lIns="0" tIns="0" rIns="0" bIns="0" rtlCol="0" anchor="ctr"/>
          <a:lstStyle/>
          <a:p>
            <a:pPr indent="0" marL="0">
              <a:buNone/>
            </a:pPr>
            <a:r>
              <a:rPr lang="en-US" sz="1050" spc="200" kern="0" dirty="0">
                <a:solidFill>
                  <a:srgbClr val="1B1F24"/>
                </a:solidFill>
                <a:latin typeface="Segoe UI Semibold" pitchFamily="34" charset="0"/>
                <a:ea typeface="Segoe UI Semibold" pitchFamily="34" charset="-122"/>
                <a:cs typeface="Segoe UI Semibold" pitchFamily="34" charset="-120"/>
              </a:rPr>
              <a:t>CODE DOES (NO AI)</a:t>
            </a:r>
            <a:endParaRPr lang="en-US" sz="1050" dirty="0"/>
          </a:p>
        </p:txBody>
      </p:sp>
      <p:sp>
        <p:nvSpPr>
          <p:cNvPr id="15" name="Shape 12"/>
          <p:cNvSpPr/>
          <p:nvPr/>
        </p:nvSpPr>
        <p:spPr>
          <a:xfrm>
            <a:off x="6324448" y="1892808"/>
            <a:ext cx="5318608" cy="0"/>
          </a:xfrm>
          <a:prstGeom prst="line">
            <a:avLst/>
          </a:prstGeom>
          <a:noFill/>
          <a:ln w="25400">
            <a:solidFill>
              <a:srgbClr val="1B1F24"/>
            </a:solidFill>
            <a:prstDash val="solid"/>
          </a:ln>
        </p:spPr>
      </p:sp>
      <p:sp>
        <p:nvSpPr>
          <p:cNvPr id="16" name="Text 13"/>
          <p:cNvSpPr/>
          <p:nvPr/>
        </p:nvSpPr>
        <p:spPr>
          <a:xfrm>
            <a:off x="6324448" y="2057400"/>
            <a:ext cx="5318608" cy="868680"/>
          </a:xfrm>
          <a:prstGeom prst="rect">
            <a:avLst/>
          </a:prstGeom>
          <a:noFill/>
          <a:ln/>
        </p:spPr>
        <p:txBody>
          <a:bodyPr wrap="square" lIns="0" tIns="0" rIns="0" bIns="0" rtlCol="0" anchor="t"/>
          <a:lstStyle/>
          <a:p>
            <a:pPr indent="0" marL="0">
              <a:spcAft>
                <a:spcPts val="300"/>
              </a:spcAft>
              <a:buNone/>
            </a:pPr>
            <a:r>
              <a:rPr lang="en-US" sz="1400" dirty="0">
                <a:solidFill>
                  <a:srgbClr val="1B1F24"/>
                </a:solidFill>
                <a:latin typeface="Segoe UI Semibold" pitchFamily="34" charset="0"/>
                <a:ea typeface="Segoe UI Semibold" pitchFamily="34" charset="-122"/>
                <a:cs typeface="Segoe UI Semibold" pitchFamily="34" charset="-120"/>
              </a:rPr>
              <a:t>Parse bank SMS</a:t>
            </a:r>
            <a:endParaRPr lang="en-US" sz="1400" dirty="0"/>
          </a:p>
          <a:p>
            <a:pPr indent="0" marL="0">
              <a:spcAft>
                <a:spcPts val="300"/>
              </a:spcAft>
              <a:buNone/>
            </a:pPr>
            <a:r>
              <a:rPr lang="en-US" sz="1150" dirty="0">
                <a:solidFill>
                  <a:srgbClr val="5B6470"/>
                </a:solidFill>
                <a:latin typeface="Segoe UI" pitchFamily="34" charset="0"/>
                <a:ea typeface="Segoe UI" pitchFamily="34" charset="-122"/>
                <a:cs typeface="Segoe UI" pitchFamily="34" charset="-120"/>
              </a:rPr>
              <a:t>Regex parser for SBI, HDFC and Axis-style credits. SMS never reach a model</a:t>
            </a:r>
            <a:endParaRPr lang="en-US" sz="1400" dirty="0"/>
          </a:p>
        </p:txBody>
      </p:sp>
      <p:sp>
        <p:nvSpPr>
          <p:cNvPr id="17" name="Text 14"/>
          <p:cNvSpPr/>
          <p:nvPr/>
        </p:nvSpPr>
        <p:spPr>
          <a:xfrm>
            <a:off x="6324448" y="2990088"/>
            <a:ext cx="5318608" cy="868680"/>
          </a:xfrm>
          <a:prstGeom prst="rect">
            <a:avLst/>
          </a:prstGeom>
          <a:noFill/>
          <a:ln/>
        </p:spPr>
        <p:txBody>
          <a:bodyPr wrap="square" lIns="0" tIns="0" rIns="0" bIns="0" rtlCol="0" anchor="t"/>
          <a:lstStyle/>
          <a:p>
            <a:pPr indent="0" marL="0">
              <a:spcAft>
                <a:spcPts val="300"/>
              </a:spcAft>
              <a:buNone/>
            </a:pPr>
            <a:r>
              <a:rPr lang="en-US" sz="1400" dirty="0">
                <a:solidFill>
                  <a:srgbClr val="1B1F24"/>
                </a:solidFill>
                <a:latin typeface="Segoe UI Semibold" pitchFamily="34" charset="0"/>
                <a:ea typeface="Segoe UI Semibold" pitchFamily="34" charset="-122"/>
                <a:cs typeface="Segoe UI Semibold" pitchFamily="34" charset="-120"/>
              </a:rPr>
              <a:t>Every number</a:t>
            </a:r>
            <a:endParaRPr lang="en-US" sz="1400" dirty="0"/>
          </a:p>
          <a:p>
            <a:pPr indent="0" marL="0">
              <a:spcAft>
                <a:spcPts val="300"/>
              </a:spcAft>
              <a:buNone/>
            </a:pPr>
            <a:r>
              <a:rPr lang="en-US" sz="1150" dirty="0">
                <a:solidFill>
                  <a:srgbClr val="5B6470"/>
                </a:solidFill>
                <a:latin typeface="Segoe UI" pitchFamily="34" charset="0"/>
                <a:ea typeface="Segoe UI" pitchFamily="34" charset="-122"/>
                <a:cs typeface="Segoe UI" pitchFamily="34" charset="-120"/>
              </a:rPr>
              <a:t>Checks C1-C5 and C7 are pure TypeScript functions with vitest tests</a:t>
            </a:r>
            <a:endParaRPr lang="en-US" sz="1400" dirty="0"/>
          </a:p>
        </p:txBody>
      </p:sp>
      <p:sp>
        <p:nvSpPr>
          <p:cNvPr id="18" name="Text 15"/>
          <p:cNvSpPr/>
          <p:nvPr/>
        </p:nvSpPr>
        <p:spPr>
          <a:xfrm>
            <a:off x="6324448" y="3922776"/>
            <a:ext cx="5318608" cy="868680"/>
          </a:xfrm>
          <a:prstGeom prst="rect">
            <a:avLst/>
          </a:prstGeom>
          <a:noFill/>
          <a:ln/>
        </p:spPr>
        <p:txBody>
          <a:bodyPr wrap="square" lIns="0" tIns="0" rIns="0" bIns="0" rtlCol="0" anchor="t"/>
          <a:lstStyle/>
          <a:p>
            <a:pPr indent="0" marL="0">
              <a:spcAft>
                <a:spcPts val="300"/>
              </a:spcAft>
              <a:buNone/>
            </a:pPr>
            <a:r>
              <a:rPr lang="en-US" sz="1400" dirty="0">
                <a:solidFill>
                  <a:srgbClr val="1B1F24"/>
                </a:solidFill>
                <a:latin typeface="Segoe UI Semibold" pitchFamily="34" charset="0"/>
                <a:ea typeface="Segoe UI Semibold" pitchFamily="34" charset="-122"/>
                <a:cs typeface="Segoe UI Semibold" pitchFamily="34" charset="-120"/>
              </a:rPr>
              <a:t>Every citation</a:t>
            </a:r>
            <a:endParaRPr lang="en-US" sz="1400" dirty="0"/>
          </a:p>
          <a:p>
            <a:pPr indent="0" marL="0">
              <a:spcAft>
                <a:spcPts val="300"/>
              </a:spcAft>
              <a:buNone/>
            </a:pPr>
            <a:r>
              <a:rPr lang="en-US" sz="1150" dirty="0">
                <a:solidFill>
                  <a:srgbClr val="5B6470"/>
                </a:solidFill>
                <a:latin typeface="Segoe UI" pitchFamily="34" charset="0"/>
                <a:ea typeface="Segoe UI" pitchFamily="34" charset="-122"/>
                <a:cs typeface="Segoe UI" pitchFamily="34" charset="-120"/>
              </a:rPr>
              <a:t>Clause text comes from a bundled copy of the Act, never from the model</a:t>
            </a:r>
            <a:endParaRPr lang="en-US" sz="1400" dirty="0"/>
          </a:p>
        </p:txBody>
      </p:sp>
      <p:sp>
        <p:nvSpPr>
          <p:cNvPr id="19" name="Text 16"/>
          <p:cNvSpPr/>
          <p:nvPr/>
        </p:nvSpPr>
        <p:spPr>
          <a:xfrm>
            <a:off x="548640" y="4937760"/>
            <a:ext cx="5486400" cy="256032"/>
          </a:xfrm>
          <a:prstGeom prst="rect">
            <a:avLst/>
          </a:prstGeom>
          <a:noFill/>
          <a:ln/>
        </p:spPr>
        <p:txBody>
          <a:bodyPr wrap="square" lIns="0" tIns="0" rIns="0" bIns="0" rtlCol="0" anchor="ctr"/>
          <a:lstStyle/>
          <a:p>
            <a:pPr indent="0" marL="0">
              <a:buNone/>
            </a:pPr>
            <a:r>
              <a:rPr lang="en-US" sz="1050" spc="200" kern="0" dirty="0">
                <a:solidFill>
                  <a:srgbClr val="5B6470"/>
                </a:solidFill>
                <a:latin typeface="Segoe UI Semibold" pitchFamily="34" charset="0"/>
                <a:ea typeface="Segoe UI Semibold" pitchFamily="34" charset="-122"/>
                <a:cs typeface="Segoe UI Semibold" pitchFamily="34" charset="-120"/>
              </a:rPr>
              <a:t>THE AGENT'S ONLY 5 TOOLS</a:t>
            </a:r>
            <a:endParaRPr lang="en-US" sz="1050" dirty="0"/>
          </a:p>
        </p:txBody>
      </p:sp>
      <p:sp>
        <p:nvSpPr>
          <p:cNvPr id="20" name="Text 17"/>
          <p:cNvSpPr/>
          <p:nvPr/>
        </p:nvSpPr>
        <p:spPr>
          <a:xfrm>
            <a:off x="548640" y="5257800"/>
            <a:ext cx="2145731" cy="749808"/>
          </a:xfrm>
          <a:prstGeom prst="roundRect">
            <a:avLst>
              <a:gd name="adj" fmla="val 9756"/>
            </a:avLst>
          </a:prstGeom>
          <a:solidFill>
            <a:srgbClr val="FFFFFF"/>
          </a:solidFill>
          <a:ln w="12700">
            <a:solidFill>
              <a:srgbClr val="B9D3EE"/>
            </a:solidFill>
          </a:ln>
        </p:spPr>
        <p:txBody>
          <a:bodyPr wrap="square" lIns="50800" tIns="50800" rIns="50800" bIns="50800" rtlCol="0" anchor="ctr"/>
          <a:lstStyle/>
          <a:p>
            <a:pPr algn="ctr" indent="0" marL="0">
              <a:spcAft>
                <a:spcPts val="200"/>
              </a:spcAft>
              <a:buNone/>
            </a:pPr>
            <a:r>
              <a:rPr lang="en-US" sz="1100" dirty="0">
                <a:solidFill>
                  <a:srgbClr val="0B5CAD"/>
                </a:solidFill>
                <a:latin typeface="Consolas" pitchFamily="34" charset="0"/>
                <a:ea typeface="Consolas" pitchFamily="34" charset="-122"/>
                <a:cs typeface="Consolas" pitchFamily="34" charset="-120"/>
              </a:rPr>
              <a:t>get_ledger_summary</a:t>
            </a:r>
            <a:endParaRPr lang="en-US" sz="1100" dirty="0"/>
          </a:p>
          <a:p>
            <a:pPr algn="ctr" indent="0" marL="0">
              <a:spcAft>
                <a:spcPts val="200"/>
              </a:spcAft>
              <a:buNone/>
            </a:pPr>
            <a:r>
              <a:rPr lang="en-US" sz="1000" dirty="0">
                <a:solidFill>
                  <a:srgbClr val="5B6470"/>
                </a:solidFill>
                <a:latin typeface="Segoe UI" pitchFamily="34" charset="0"/>
                <a:ea typeface="Segoe UI" pitchFamily="34" charset="-122"/>
                <a:cs typeface="Segoe UI" pitchFamily="34" charset="-120"/>
              </a:rPr>
              <a:t>what's in the ledger</a:t>
            </a:r>
            <a:endParaRPr lang="en-US" sz="1100" dirty="0"/>
          </a:p>
        </p:txBody>
      </p:sp>
      <p:sp>
        <p:nvSpPr>
          <p:cNvPr id="21" name="Text 18"/>
          <p:cNvSpPr/>
          <p:nvPr/>
        </p:nvSpPr>
        <p:spPr>
          <a:xfrm>
            <a:off x="2785811" y="5257800"/>
            <a:ext cx="2145731" cy="749808"/>
          </a:xfrm>
          <a:prstGeom prst="roundRect">
            <a:avLst>
              <a:gd name="adj" fmla="val 9756"/>
            </a:avLst>
          </a:prstGeom>
          <a:solidFill>
            <a:srgbClr val="FFFFFF"/>
          </a:solidFill>
          <a:ln w="12700">
            <a:solidFill>
              <a:srgbClr val="B9D3EE"/>
            </a:solidFill>
          </a:ln>
        </p:spPr>
        <p:txBody>
          <a:bodyPr wrap="square" lIns="50800" tIns="50800" rIns="50800" bIns="50800" rtlCol="0" anchor="ctr"/>
          <a:lstStyle/>
          <a:p>
            <a:pPr algn="ctr" indent="0" marL="0">
              <a:spcAft>
                <a:spcPts val="200"/>
              </a:spcAft>
              <a:buNone/>
            </a:pPr>
            <a:r>
              <a:rPr lang="en-US" sz="1100" dirty="0">
                <a:solidFill>
                  <a:srgbClr val="0B5CAD"/>
                </a:solidFill>
                <a:latin typeface="Consolas" pitchFamily="34" charset="0"/>
                <a:ea typeface="Consolas" pitchFamily="34" charset="-122"/>
                <a:cs typeface="Consolas" pitchFamily="34" charset="-120"/>
              </a:rPr>
              <a:t>run_checks</a:t>
            </a:r>
            <a:endParaRPr lang="en-US" sz="1100" dirty="0"/>
          </a:p>
          <a:p>
            <a:pPr algn="ctr" indent="0" marL="0">
              <a:spcAft>
                <a:spcPts val="200"/>
              </a:spcAft>
              <a:buNone/>
            </a:pPr>
            <a:r>
              <a:rPr lang="en-US" sz="1000" dirty="0">
                <a:solidFill>
                  <a:srgbClr val="5B6470"/>
                </a:solidFill>
                <a:latin typeface="Segoe UI" pitchFamily="34" charset="0"/>
                <a:ea typeface="Segoe UI" pitchFamily="34" charset="-122"/>
                <a:cs typeface="Segoe UI" pitchFamily="34" charset="-120"/>
              </a:rPr>
              <a:t>deterministic checks</a:t>
            </a:r>
            <a:endParaRPr lang="en-US" sz="1100" dirty="0"/>
          </a:p>
        </p:txBody>
      </p:sp>
      <p:sp>
        <p:nvSpPr>
          <p:cNvPr id="22" name="Text 19"/>
          <p:cNvSpPr/>
          <p:nvPr/>
        </p:nvSpPr>
        <p:spPr>
          <a:xfrm>
            <a:off x="5022982" y="5257800"/>
            <a:ext cx="2145731" cy="749808"/>
          </a:xfrm>
          <a:prstGeom prst="roundRect">
            <a:avLst>
              <a:gd name="adj" fmla="val 9756"/>
            </a:avLst>
          </a:prstGeom>
          <a:solidFill>
            <a:srgbClr val="FFFFFF"/>
          </a:solidFill>
          <a:ln w="12700">
            <a:solidFill>
              <a:srgbClr val="B9D3EE"/>
            </a:solidFill>
          </a:ln>
        </p:spPr>
        <p:txBody>
          <a:bodyPr wrap="square" lIns="50800" tIns="50800" rIns="50800" bIns="50800" rtlCol="0" anchor="ctr"/>
          <a:lstStyle/>
          <a:p>
            <a:pPr algn="ctr" indent="0" marL="0">
              <a:spcAft>
                <a:spcPts val="200"/>
              </a:spcAft>
              <a:buNone/>
            </a:pPr>
            <a:r>
              <a:rPr lang="en-US" sz="1100" dirty="0">
                <a:solidFill>
                  <a:srgbClr val="0B5CAD"/>
                </a:solidFill>
                <a:latin typeface="Consolas" pitchFamily="34" charset="0"/>
                <a:ea typeface="Consolas" pitchFamily="34" charset="-122"/>
                <a:cs typeface="Consolas" pitchFamily="34" charset="-120"/>
              </a:rPr>
              <a:t>lookup_clause</a:t>
            </a:r>
            <a:endParaRPr lang="en-US" sz="1100" dirty="0"/>
          </a:p>
          <a:p>
            <a:pPr algn="ctr" indent="0" marL="0">
              <a:spcAft>
                <a:spcPts val="200"/>
              </a:spcAft>
              <a:buNone/>
            </a:pPr>
            <a:r>
              <a:rPr lang="en-US" sz="1000" dirty="0">
                <a:solidFill>
                  <a:srgbClr val="5B6470"/>
                </a:solidFill>
                <a:latin typeface="Segoe UI" pitchFamily="34" charset="0"/>
                <a:ea typeface="Segoe UI" pitchFamily="34" charset="-122"/>
                <a:cs typeface="Segoe UI" pitchFamily="34" charset="-120"/>
              </a:rPr>
              <a:t>verbatim Act text</a:t>
            </a:r>
            <a:endParaRPr lang="en-US" sz="1100" dirty="0"/>
          </a:p>
        </p:txBody>
      </p:sp>
      <p:sp>
        <p:nvSpPr>
          <p:cNvPr id="23" name="Text 20"/>
          <p:cNvSpPr/>
          <p:nvPr/>
        </p:nvSpPr>
        <p:spPr>
          <a:xfrm>
            <a:off x="7260153" y="5257800"/>
            <a:ext cx="2145731" cy="749808"/>
          </a:xfrm>
          <a:prstGeom prst="roundRect">
            <a:avLst>
              <a:gd name="adj" fmla="val 9756"/>
            </a:avLst>
          </a:prstGeom>
          <a:solidFill>
            <a:srgbClr val="FFFFFF"/>
          </a:solidFill>
          <a:ln w="12700">
            <a:solidFill>
              <a:srgbClr val="B9D3EE"/>
            </a:solidFill>
          </a:ln>
        </p:spPr>
        <p:txBody>
          <a:bodyPr wrap="square" lIns="50800" tIns="50800" rIns="50800" bIns="50800" rtlCol="0" anchor="ctr"/>
          <a:lstStyle/>
          <a:p>
            <a:pPr algn="ctr" indent="0" marL="0">
              <a:spcAft>
                <a:spcPts val="200"/>
              </a:spcAft>
              <a:buNone/>
            </a:pPr>
            <a:r>
              <a:rPr lang="en-US" sz="1100" dirty="0">
                <a:solidFill>
                  <a:srgbClr val="0B5CAD"/>
                </a:solidFill>
                <a:latin typeface="Consolas" pitchFamily="34" charset="0"/>
                <a:ea typeface="Consolas" pitchFamily="34" charset="-122"/>
                <a:cs typeface="Consolas" pitchFamily="34" charset="-120"/>
              </a:rPr>
              <a:t>ask_worker</a:t>
            </a:r>
            <a:endParaRPr lang="en-US" sz="1100" dirty="0"/>
          </a:p>
          <a:p>
            <a:pPr algn="ctr" indent="0" marL="0">
              <a:spcAft>
                <a:spcPts val="200"/>
              </a:spcAft>
              <a:buNone/>
            </a:pPr>
            <a:r>
              <a:rPr lang="en-US" sz="1000" dirty="0">
                <a:solidFill>
                  <a:srgbClr val="5B6470"/>
                </a:solidFill>
                <a:latin typeface="Segoe UI" pitchFamily="34" charset="0"/>
                <a:ea typeface="Segoe UI" pitchFamily="34" charset="-122"/>
                <a:cs typeface="Segoe UI" pitchFamily="34" charset="-120"/>
              </a:rPr>
              <a:t>one question, live</a:t>
            </a:r>
            <a:endParaRPr lang="en-US" sz="1100" dirty="0"/>
          </a:p>
        </p:txBody>
      </p:sp>
      <p:sp>
        <p:nvSpPr>
          <p:cNvPr id="24" name="Text 21"/>
          <p:cNvSpPr/>
          <p:nvPr/>
        </p:nvSpPr>
        <p:spPr>
          <a:xfrm>
            <a:off x="9497324" y="5257800"/>
            <a:ext cx="2145731" cy="749808"/>
          </a:xfrm>
          <a:prstGeom prst="roundRect">
            <a:avLst>
              <a:gd name="adj" fmla="val 9756"/>
            </a:avLst>
          </a:prstGeom>
          <a:solidFill>
            <a:srgbClr val="FFFFFF"/>
          </a:solidFill>
          <a:ln w="12700">
            <a:solidFill>
              <a:srgbClr val="B9D3EE"/>
            </a:solidFill>
          </a:ln>
        </p:spPr>
        <p:txBody>
          <a:bodyPr wrap="square" lIns="50800" tIns="50800" rIns="50800" bIns="50800" rtlCol="0" anchor="ctr"/>
          <a:lstStyle/>
          <a:p>
            <a:pPr algn="ctr" indent="0" marL="0">
              <a:spcAft>
                <a:spcPts val="200"/>
              </a:spcAft>
              <a:buNone/>
            </a:pPr>
            <a:r>
              <a:rPr lang="en-US" sz="1100" dirty="0">
                <a:solidFill>
                  <a:srgbClr val="0B5CAD"/>
                </a:solidFill>
                <a:latin typeface="Consolas" pitchFamily="34" charset="0"/>
                <a:ea typeface="Consolas" pitchFamily="34" charset="-122"/>
                <a:cs typeface="Consolas" pitchFamily="34" charset="-120"/>
              </a:rPr>
              <a:t>submit_docket</a:t>
            </a:r>
            <a:endParaRPr lang="en-US" sz="1100" dirty="0"/>
          </a:p>
          <a:p>
            <a:pPr algn="ctr" indent="0" marL="0">
              <a:spcAft>
                <a:spcPts val="200"/>
              </a:spcAft>
              <a:buNone/>
            </a:pPr>
            <a:r>
              <a:rPr lang="en-US" sz="1000" dirty="0">
                <a:solidFill>
                  <a:srgbClr val="5B6470"/>
                </a:solidFill>
                <a:latin typeface="Segoe UI" pitchFamily="34" charset="0"/>
                <a:ea typeface="Segoe UI" pitchFamily="34" charset="-122"/>
                <a:cs typeface="Segoe UI" pitchFamily="34" charset="-120"/>
              </a:rPr>
              <a:t>guarded, ends the run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Cline logo">    </p:cNvPr>
          <p:cNvPicPr>
            <a:picLocks noChangeAspect="1"/>
          </p:cNvPicPr>
          <p:nvPr/>
        </p:nvPicPr>
        <p:blipFill>
          <a:blip r:embed="rId1"/>
          <a:stretch>
            <a:fillRect/>
          </a:stretch>
        </p:blipFill>
        <p:spPr>
          <a:xfrm>
            <a:off x="10537269" y="402336"/>
            <a:ext cx="1105786" cy="237744"/>
          </a:xfrm>
          <a:prstGeom prst="rect">
            <a:avLst/>
          </a:prstGeom>
        </p:spPr>
      </p:pic>
      <p:sp>
        <p:nvSpPr>
          <p:cNvPr id="3" name="Text 0"/>
          <p:cNvSpPr/>
          <p:nvPr/>
        </p:nvSpPr>
        <p:spPr>
          <a:xfrm>
            <a:off x="9622869" y="402336"/>
            <a:ext cx="822960" cy="237744"/>
          </a:xfrm>
          <a:prstGeom prst="rect">
            <a:avLst/>
          </a:prstGeom>
          <a:noFill/>
          <a:ln/>
        </p:spPr>
        <p:txBody>
          <a:bodyPr wrap="square" lIns="0" tIns="0" rIns="0" bIns="0" rtlCol="0" anchor="ctr"/>
          <a:lstStyle/>
          <a:p>
            <a:pPr algn="r" indent="0" marL="0">
              <a:buNone/>
            </a:pPr>
            <a:r>
              <a:rPr lang="en-US" sz="900" dirty="0">
                <a:solidFill>
                  <a:srgbClr val="5B6470"/>
                </a:solidFill>
                <a:latin typeface="Segoe UI" pitchFamily="34" charset="0"/>
                <a:ea typeface="Segoe UI" pitchFamily="34" charset="-122"/>
                <a:cs typeface="Segoe UI" pitchFamily="34" charset="-120"/>
              </a:rPr>
              <a:t>Built with</a:t>
            </a:r>
            <a:endParaRPr lang="en-US" sz="900" dirty="0"/>
          </a:p>
        </p:txBody>
      </p:sp>
      <p:sp>
        <p:nvSpPr>
          <p:cNvPr id="4" name="Text 1"/>
          <p:cNvSpPr/>
          <p:nvPr/>
        </p:nvSpPr>
        <p:spPr>
          <a:xfrm>
            <a:off x="548640" y="384048"/>
            <a:ext cx="11094415" cy="274320"/>
          </a:xfrm>
          <a:prstGeom prst="rect">
            <a:avLst/>
          </a:prstGeom>
          <a:noFill/>
          <a:ln/>
        </p:spPr>
        <p:txBody>
          <a:bodyPr wrap="square" lIns="0" tIns="0" rIns="0" bIns="0" rtlCol="0" anchor="ctr"/>
          <a:lstStyle/>
          <a:p>
            <a:pPr indent="0" marL="0">
              <a:buNone/>
            </a:pPr>
            <a:r>
              <a:rPr lang="en-US" sz="1100" spc="200" kern="0" dirty="0">
                <a:solidFill>
                  <a:srgbClr val="0B5CAD"/>
                </a:solidFill>
                <a:latin typeface="Segoe UI Semibold" pitchFamily="34" charset="0"/>
                <a:ea typeface="Segoe UI Semibold" pitchFamily="34" charset="-122"/>
                <a:cs typeface="Segoe UI Semibold" pitchFamily="34" charset="-120"/>
              </a:rPr>
              <a:t>09   HOW CLINE WAS USED</a:t>
            </a:r>
            <a:endParaRPr lang="en-US" sz="1100" dirty="0"/>
          </a:p>
        </p:txBody>
      </p:sp>
      <p:sp>
        <p:nvSpPr>
          <p:cNvPr id="5" name="Text 2"/>
          <p:cNvSpPr/>
          <p:nvPr/>
        </p:nvSpPr>
        <p:spPr>
          <a:xfrm>
            <a:off x="548640" y="676656"/>
            <a:ext cx="11094415" cy="685800"/>
          </a:xfrm>
          <a:prstGeom prst="rect">
            <a:avLst/>
          </a:prstGeom>
          <a:noFill/>
          <a:ln/>
        </p:spPr>
        <p:txBody>
          <a:bodyPr wrap="square" lIns="0" tIns="0" rIns="0" bIns="0" rtlCol="0" anchor="t"/>
          <a:lstStyle/>
          <a:p>
            <a:pPr indent="0" marL="0">
              <a:buNone/>
            </a:pPr>
            <a:r>
              <a:rPr lang="en-US" sz="2800" dirty="0">
                <a:solidFill>
                  <a:srgbClr val="1B1F24"/>
                </a:solidFill>
                <a:latin typeface="Segoe UI Semibold" pitchFamily="34" charset="0"/>
                <a:ea typeface="Segoe UI Semibold" pitchFamily="34" charset="-122"/>
                <a:cs typeface="Segoe UI Semibold" pitchFamily="34" charset="-120"/>
              </a:rPr>
              <a:t>Cline built it. The Cline SDK runs inside it.</a:t>
            </a:r>
            <a:endParaRPr lang="en-US" sz="2800" dirty="0"/>
          </a:p>
        </p:txBody>
      </p:sp>
      <p:sp>
        <p:nvSpPr>
          <p:cNvPr id="6" name="Shape 3"/>
          <p:cNvSpPr/>
          <p:nvPr/>
        </p:nvSpPr>
        <p:spPr>
          <a:xfrm>
            <a:off x="548640" y="6437376"/>
            <a:ext cx="82296" cy="82296"/>
          </a:xfrm>
          <a:prstGeom prst="rect">
            <a:avLst/>
          </a:prstGeom>
          <a:solidFill>
            <a:srgbClr val="0B5CAD"/>
          </a:solidFill>
          <a:ln w="12700">
            <a:solidFill>
              <a:srgbClr val="FFFFFF">
                <a:alpha val="0"/>
              </a:srgbClr>
            </a:solidFill>
            <a:prstDash val="solid"/>
          </a:ln>
        </p:spPr>
      </p:sp>
      <p:sp>
        <p:nvSpPr>
          <p:cNvPr id="7" name="Text 4"/>
          <p:cNvSpPr/>
          <p:nvPr/>
        </p:nvSpPr>
        <p:spPr>
          <a:xfrm>
            <a:off x="731520" y="6364224"/>
            <a:ext cx="5486400" cy="228600"/>
          </a:xfrm>
          <a:prstGeom prst="rect">
            <a:avLst/>
          </a:prstGeom>
          <a:noFill/>
          <a:ln/>
        </p:spPr>
        <p:txBody>
          <a:bodyPr wrap="square" lIns="0" tIns="0" rIns="0" bIns="0" rtlCol="0" anchor="ctr"/>
          <a:lstStyle/>
          <a:p>
            <a:pPr indent="0" marL="0">
              <a:buNone/>
            </a:pPr>
            <a:r>
              <a:rPr lang="en-US" sz="900" dirty="0">
                <a:solidFill>
                  <a:srgbClr val="5B6470"/>
                </a:solidFill>
                <a:latin typeface="Segoe UI" pitchFamily="34" charset="0"/>
                <a:ea typeface="Segoe UI" pitchFamily="34" charset="-122"/>
                <a:cs typeface="Segoe UI" pitchFamily="34" charset="-120"/>
              </a:rPr>
              <a:t>Nyaya-Ledger  ·  Cline AI Builder Hackathon</a:t>
            </a:r>
            <a:endParaRPr lang="en-US" sz="900" dirty="0"/>
          </a:p>
        </p:txBody>
      </p:sp>
      <p:sp>
        <p:nvSpPr>
          <p:cNvPr id="8" name="Text 5"/>
          <p:cNvSpPr/>
          <p:nvPr/>
        </p:nvSpPr>
        <p:spPr>
          <a:xfrm>
            <a:off x="10271455" y="6364224"/>
            <a:ext cx="1371600" cy="228600"/>
          </a:xfrm>
          <a:prstGeom prst="rect">
            <a:avLst/>
          </a:prstGeom>
          <a:noFill/>
          <a:ln/>
        </p:spPr>
        <p:txBody>
          <a:bodyPr wrap="square" lIns="0" tIns="0" rIns="0" bIns="0" rtlCol="0" anchor="ctr"/>
          <a:lstStyle/>
          <a:p>
            <a:pPr algn="r" indent="0" marL="0">
              <a:buNone/>
            </a:pPr>
            <a:r>
              <a:rPr lang="en-US" sz="900" dirty="0">
                <a:solidFill>
                  <a:srgbClr val="5B6470"/>
                </a:solidFill>
                <a:latin typeface="Segoe UI" pitchFamily="34" charset="0"/>
                <a:ea typeface="Segoe UI" pitchFamily="34" charset="-122"/>
                <a:cs typeface="Segoe UI" pitchFamily="34" charset="-120"/>
              </a:rPr>
              <a:t>9 / 11</a:t>
            </a:r>
            <a:endParaRPr lang="en-US" sz="900" dirty="0"/>
          </a:p>
        </p:txBody>
      </p:sp>
      <p:sp>
        <p:nvSpPr>
          <p:cNvPr id="9" name="Text 6"/>
          <p:cNvSpPr/>
          <p:nvPr/>
        </p:nvSpPr>
        <p:spPr>
          <a:xfrm>
            <a:off x="548640" y="1600200"/>
            <a:ext cx="5318608" cy="256032"/>
          </a:xfrm>
          <a:prstGeom prst="rect">
            <a:avLst/>
          </a:prstGeom>
          <a:noFill/>
          <a:ln/>
        </p:spPr>
        <p:txBody>
          <a:bodyPr wrap="square" lIns="0" tIns="0" rIns="0" bIns="0" rtlCol="0" anchor="ctr"/>
          <a:lstStyle/>
          <a:p>
            <a:pPr indent="0" marL="0">
              <a:buNone/>
            </a:pPr>
            <a:r>
              <a:rPr lang="en-US" sz="1050" spc="200" kern="0" dirty="0">
                <a:solidFill>
                  <a:srgbClr val="0B5CAD"/>
                </a:solidFill>
                <a:latin typeface="Segoe UI Semibold" pitchFamily="34" charset="0"/>
                <a:ea typeface="Segoe UI Semibold" pitchFamily="34" charset="-122"/>
                <a:cs typeface="Segoe UI Semibold" pitchFamily="34" charset="-120"/>
              </a:rPr>
              <a:t>IN THE BUILD</a:t>
            </a:r>
            <a:endParaRPr lang="en-US" sz="1050" dirty="0"/>
          </a:p>
        </p:txBody>
      </p:sp>
      <p:sp>
        <p:nvSpPr>
          <p:cNvPr id="10" name="Text 7"/>
          <p:cNvSpPr/>
          <p:nvPr/>
        </p:nvSpPr>
        <p:spPr>
          <a:xfrm>
            <a:off x="548640" y="1920240"/>
            <a:ext cx="5318608" cy="2148840"/>
          </a:xfrm>
          <a:prstGeom prst="roundRect">
            <a:avLst>
              <a:gd name="adj" fmla="val 5106"/>
            </a:avLst>
          </a:prstGeom>
          <a:solidFill>
            <a:srgbClr val="F2F4F7"/>
          </a:solidFill>
          <a:ln w="12700">
            <a:solidFill>
              <a:srgbClr val="9AA4B2"/>
            </a:solidFill>
            <a:prstDash val="dash"/>
          </a:ln>
        </p:spPr>
        <p:txBody>
          <a:bodyPr wrap="square" lIns="101600" tIns="101600" rIns="101600" bIns="101600" rtlCol="0" anchor="ctr"/>
          <a:lstStyle/>
          <a:p>
            <a:pPr algn="ctr" indent="0" marL="0">
              <a:spcAft>
                <a:spcPts val="400"/>
              </a:spcAft>
              <a:buNone/>
            </a:pPr>
            <a:r>
              <a:rPr lang="en-US" sz="1200" dirty="0">
                <a:solidFill>
                  <a:srgbClr val="5B6470"/>
                </a:solidFill>
                <a:latin typeface="Segoe UI Semibold" pitchFamily="34" charset="0"/>
                <a:ea typeface="Segoe UI Semibold" pitchFamily="34" charset="-122"/>
                <a:cs typeface="Segoe UI Semibold" pitchFamily="34" charset="-120"/>
              </a:rPr>
              <a:t>Cline in the build</a:t>
            </a:r>
            <a:endParaRPr lang="en-US" sz="1200" dirty="0"/>
          </a:p>
          <a:p>
            <a:pPr algn="ctr" indent="0" marL="0">
              <a:spcAft>
                <a:spcPts val="400"/>
              </a:spcAft>
              <a:buNone/>
            </a:pPr>
            <a:r>
              <a:rPr lang="en-US" sz="1000" dirty="0">
                <a:solidFill>
                  <a:srgbClr val="5B6470"/>
                </a:solidFill>
                <a:latin typeface="Segoe UI" pitchFamily="34" charset="0"/>
                <a:ea typeface="Segoe UI" pitchFamily="34" charset="-122"/>
                <a:cs typeface="Segoe UI" pitchFamily="34" charset="-120"/>
              </a:rPr>
              <a:t>A3 clip frame: Cline panel with the failing SMS test → the fix in sms.ts → tests green</a:t>
            </a:r>
            <a:endParaRPr lang="en-US" sz="1200" dirty="0"/>
          </a:p>
          <a:p>
            <a:pPr algn="ctr" indent="0" marL="0">
              <a:spcAft>
                <a:spcPts val="400"/>
              </a:spcAft>
              <a:buNone/>
            </a:pPr>
            <a:r>
              <a:rPr lang="en-US" sz="900" dirty="0">
                <a:solidFill>
                  <a:srgbClr val="9AA4B2"/>
                </a:solidFill>
                <a:latin typeface="Consolas" pitchFamily="34" charset="0"/>
                <a:ea typeface="Consolas" pitchFamily="34" charset="-122"/>
                <a:cs typeface="Consolas" pitchFamily="34" charset="-120"/>
              </a:rPr>
              <a:t>shots/cline-build.png</a:t>
            </a:r>
            <a:endParaRPr lang="en-US" sz="1200" dirty="0"/>
          </a:p>
        </p:txBody>
      </p:sp>
      <p:sp>
        <p:nvSpPr>
          <p:cNvPr id="11" name="Text 8"/>
          <p:cNvSpPr/>
          <p:nvPr/>
        </p:nvSpPr>
        <p:spPr>
          <a:xfrm>
            <a:off x="548640" y="4206240"/>
            <a:ext cx="5318608" cy="420624"/>
          </a:xfrm>
          <a:prstGeom prst="rect">
            <a:avLst/>
          </a:prstGeom>
          <a:noFill/>
          <a:ln/>
        </p:spPr>
        <p:txBody>
          <a:bodyPr wrap="square" lIns="0" tIns="0" rIns="0" bIns="0" rtlCol="0" anchor="ctr"/>
          <a:lstStyle/>
          <a:p>
            <a:pPr indent="0" marL="0">
              <a:buNone/>
            </a:pPr>
            <a:r>
              <a:rPr lang="en-US" sz="1150" dirty="0">
                <a:solidFill>
                  <a:srgbClr val="1B1F24"/>
                </a:solidFill>
                <a:latin typeface="Segoe UI Semibold" pitchFamily="34" charset="0"/>
                <a:ea typeface="Segoe UI Semibold" pitchFamily="34" charset="-122"/>
                <a:cs typeface="Segoe UI Semibold" pitchFamily="34" charset="-120"/>
              </a:rPr>
              <a:t>Test-first   </a:t>
            </a:r>
            <a:pPr indent="0" marL="0">
              <a:buNone/>
            </a:pPr>
            <a:r>
              <a:rPr lang="en-US" sz="1150" dirty="0">
                <a:solidFill>
                  <a:srgbClr val="5B6470"/>
                </a:solidFill>
                <a:latin typeface="Segoe UI" pitchFamily="34" charset="0"/>
                <a:ea typeface="Segoe UI" pitchFamily="34" charset="-122"/>
                <a:cs typeface="Segoe UI" pitchFamily="34" charset="-120"/>
              </a:rPr>
              <a:t>Failing vitest test first, then Cline writes the check until it passes</a:t>
            </a:r>
            <a:endParaRPr lang="en-US" sz="1150" dirty="0"/>
          </a:p>
        </p:txBody>
      </p:sp>
      <p:sp>
        <p:nvSpPr>
          <p:cNvPr id="12" name="Text 9"/>
          <p:cNvSpPr/>
          <p:nvPr/>
        </p:nvSpPr>
        <p:spPr>
          <a:xfrm>
            <a:off x="548640" y="4663440"/>
            <a:ext cx="5318608" cy="420624"/>
          </a:xfrm>
          <a:prstGeom prst="rect">
            <a:avLst/>
          </a:prstGeom>
          <a:noFill/>
          <a:ln/>
        </p:spPr>
        <p:txBody>
          <a:bodyPr wrap="square" lIns="0" tIns="0" rIns="0" bIns="0" rtlCol="0" anchor="ctr"/>
          <a:lstStyle/>
          <a:p>
            <a:pPr indent="0" marL="0">
              <a:buNone/>
            </a:pPr>
            <a:r>
              <a:rPr lang="en-US" sz="1150" dirty="0">
                <a:solidFill>
                  <a:srgbClr val="1B1F24"/>
                </a:solidFill>
                <a:latin typeface="Segoe UI Semibold" pitchFamily="34" charset="0"/>
                <a:ea typeface="Segoe UI Semibold" pitchFamily="34" charset="-122"/>
                <a:cs typeface="Segoe UI Semibold" pitchFamily="34" charset="-120"/>
              </a:rPr>
              <a:t>Built with Cline   </a:t>
            </a:r>
            <a:pPr indent="0" marL="0">
              <a:buNone/>
            </a:pPr>
            <a:r>
              <a:rPr lang="en-US" sz="1150" dirty="0">
                <a:solidFill>
                  <a:srgbClr val="5B6470"/>
                </a:solidFill>
                <a:latin typeface="Segoe UI" pitchFamily="34" charset="0"/>
                <a:ea typeface="Segoe UI" pitchFamily="34" charset="-122"/>
                <a:cs typeface="Segoe UI" pitchFamily="34" charset="-120"/>
              </a:rPr>
              <a:t>Scaffold, zod schemas, citation guard, React screens, e2e test</a:t>
            </a:r>
            <a:endParaRPr lang="en-US" sz="1150" dirty="0"/>
          </a:p>
        </p:txBody>
      </p:sp>
      <p:sp>
        <p:nvSpPr>
          <p:cNvPr id="13" name="Text 10"/>
          <p:cNvSpPr/>
          <p:nvPr/>
        </p:nvSpPr>
        <p:spPr>
          <a:xfrm>
            <a:off x="548640" y="5120640"/>
            <a:ext cx="5318608" cy="420624"/>
          </a:xfrm>
          <a:prstGeom prst="rect">
            <a:avLst/>
          </a:prstGeom>
          <a:noFill/>
          <a:ln/>
        </p:spPr>
        <p:txBody>
          <a:bodyPr wrap="square" lIns="0" tIns="0" rIns="0" bIns="0" rtlCol="0" anchor="ctr"/>
          <a:lstStyle/>
          <a:p>
            <a:pPr indent="0" marL="0">
              <a:buNone/>
            </a:pPr>
            <a:r>
              <a:rPr lang="en-US" sz="1150" dirty="0">
                <a:solidFill>
                  <a:srgbClr val="1B1F24"/>
                </a:solidFill>
                <a:latin typeface="Segoe UI Semibold" pitchFamily="34" charset="0"/>
                <a:ea typeface="Segoe UI Semibold" pitchFamily="34" charset="-122"/>
                <a:cs typeface="Segoe UI Semibold" pitchFamily="34" charset="-120"/>
              </a:rPr>
              <a:t>42 tests   </a:t>
            </a:r>
            <a:pPr indent="0" marL="0">
              <a:buNone/>
            </a:pPr>
            <a:r>
              <a:rPr lang="en-US" sz="1150" dirty="0">
                <a:solidFill>
                  <a:srgbClr val="5B6470"/>
                </a:solidFill>
                <a:latin typeface="Segoe UI" pitchFamily="34" charset="0"/>
                <a:ea typeface="Segoe UI" pitchFamily="34" charset="-122"/>
                <a:cs typeface="Segoe UI" pitchFamily="34" charset="-120"/>
              </a:rPr>
              <a:t>checks, SMS parser, guards, agent loop with a stub model, API</a:t>
            </a:r>
            <a:endParaRPr lang="en-US" sz="1150" dirty="0"/>
          </a:p>
        </p:txBody>
      </p:sp>
      <p:sp>
        <p:nvSpPr>
          <p:cNvPr id="14" name="Text 11"/>
          <p:cNvSpPr/>
          <p:nvPr/>
        </p:nvSpPr>
        <p:spPr>
          <a:xfrm>
            <a:off x="6324448" y="1600200"/>
            <a:ext cx="5318608" cy="256032"/>
          </a:xfrm>
          <a:prstGeom prst="rect">
            <a:avLst/>
          </a:prstGeom>
          <a:noFill/>
          <a:ln/>
        </p:spPr>
        <p:txBody>
          <a:bodyPr wrap="square" lIns="0" tIns="0" rIns="0" bIns="0" rtlCol="0" anchor="ctr"/>
          <a:lstStyle/>
          <a:p>
            <a:pPr indent="0" marL="0">
              <a:buNone/>
            </a:pPr>
            <a:r>
              <a:rPr lang="en-US" sz="1050" spc="200" kern="0" dirty="0">
                <a:solidFill>
                  <a:srgbClr val="0B5CAD"/>
                </a:solidFill>
                <a:latin typeface="Segoe UI Semibold" pitchFamily="34" charset="0"/>
                <a:ea typeface="Segoe UI Semibold" pitchFamily="34" charset="-122"/>
                <a:cs typeface="Segoe UI Semibold" pitchFamily="34" charset="-120"/>
              </a:rPr>
              <a:t>INSIDE THE PRODUCT  ·  BONUS CRITERION</a:t>
            </a:r>
            <a:endParaRPr lang="en-US" sz="1050" dirty="0"/>
          </a:p>
        </p:txBody>
      </p:sp>
      <p:sp>
        <p:nvSpPr>
          <p:cNvPr id="15" name="Text 12"/>
          <p:cNvSpPr/>
          <p:nvPr/>
        </p:nvSpPr>
        <p:spPr>
          <a:xfrm>
            <a:off x="6324448" y="1920240"/>
            <a:ext cx="5318608" cy="2148840"/>
          </a:xfrm>
          <a:prstGeom prst="roundRect">
            <a:avLst>
              <a:gd name="adj" fmla="val 3404"/>
            </a:avLst>
          </a:prstGeom>
          <a:solidFill>
            <a:srgbClr val="0F1720"/>
          </a:solidFill>
          <a:ln>
            <a:solidFill>
              <a:srgbClr val="0F1720"/>
            </a:solidFill>
          </a:ln>
        </p:spPr>
        <p:txBody>
          <a:bodyPr wrap="square" lIns="177800" tIns="177800" rIns="177800" bIns="177800" rtlCol="0" anchor="ctr"/>
          <a:lstStyle/>
          <a:p>
            <a:pPr indent="0" marL="0">
              <a:buNone/>
            </a:pPr>
            <a:r>
              <a:rPr lang="en-US" sz="1100" dirty="0">
                <a:solidFill>
                  <a:srgbClr val="E6EDF3"/>
                </a:solidFill>
                <a:latin typeface="Consolas" pitchFamily="34" charset="0"/>
                <a:ea typeface="Consolas" pitchFamily="34" charset="-122"/>
                <a:cs typeface="Consolas" pitchFamily="34" charset="-120"/>
              </a:rPr>
              <a:t>const agent = createAgent(source, {</a:t>
            </a: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  systemPrompt: systemPrompt(ledger),</a:t>
            </a: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  tools: [getLedgerSummary, runChecks,</a:t>
            </a: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          lookup, ask, submit],</a:t>
            </a: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  maxIterations: 12,</a:t>
            </a: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buNone/>
            </a:pP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createTool({ name: "submit_docket",</a:t>
            </a: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  lifecycle: { completesRun: true }, ... })</a:t>
            </a:r>
            <a:endParaRPr lang="en-US" sz="1100" dirty="0"/>
          </a:p>
        </p:txBody>
      </p:sp>
      <p:sp>
        <p:nvSpPr>
          <p:cNvPr id="16" name="Text 13"/>
          <p:cNvSpPr/>
          <p:nvPr/>
        </p:nvSpPr>
        <p:spPr>
          <a:xfrm>
            <a:off x="6324448" y="4087368"/>
            <a:ext cx="5318608" cy="201168"/>
          </a:xfrm>
          <a:prstGeom prst="rect">
            <a:avLst/>
          </a:prstGeom>
          <a:noFill/>
          <a:ln/>
        </p:spPr>
        <p:txBody>
          <a:bodyPr wrap="square" lIns="0" tIns="0" rIns="0" bIns="0" rtlCol="0" anchor="ctr"/>
          <a:lstStyle/>
          <a:p>
            <a:pPr algn="r" indent="0" marL="0">
              <a:buNone/>
            </a:pPr>
            <a:r>
              <a:rPr lang="en-US" sz="900" dirty="0">
                <a:solidFill>
                  <a:srgbClr val="5B6470"/>
                </a:solidFill>
                <a:latin typeface="Consolas" pitchFamily="34" charset="0"/>
                <a:ea typeface="Consolas" pitchFamily="34" charset="-122"/>
                <a:cs typeface="Consolas" pitchFamily="34" charset="-120"/>
              </a:rPr>
              <a:t>server/agent.ts</a:t>
            </a:r>
            <a:endParaRPr lang="en-US" sz="900" dirty="0"/>
          </a:p>
        </p:txBody>
      </p:sp>
      <p:sp>
        <p:nvSpPr>
          <p:cNvPr id="17" name="Text 14"/>
          <p:cNvSpPr/>
          <p:nvPr/>
        </p:nvSpPr>
        <p:spPr>
          <a:xfrm>
            <a:off x="6324448" y="4343400"/>
            <a:ext cx="5318608" cy="420624"/>
          </a:xfrm>
          <a:prstGeom prst="rect">
            <a:avLst/>
          </a:prstGeom>
          <a:noFill/>
          <a:ln/>
        </p:spPr>
        <p:txBody>
          <a:bodyPr wrap="square" lIns="0" tIns="0" rIns="0" bIns="0" rtlCol="0" anchor="ctr"/>
          <a:lstStyle/>
          <a:p>
            <a:pPr indent="0" marL="0">
              <a:buNone/>
            </a:pPr>
            <a:r>
              <a:rPr lang="en-US" sz="1150" dirty="0">
                <a:solidFill>
                  <a:srgbClr val="0B5CAD"/>
                </a:solidFill>
                <a:latin typeface="Segoe UI Semibold" pitchFamily="34" charset="0"/>
                <a:ea typeface="Segoe UI Semibold" pitchFamily="34" charset="-122"/>
                <a:cs typeface="Segoe UI Semibold" pitchFamily="34" charset="-120"/>
              </a:rPr>
              <a:t>Agent + createTool   </a:t>
            </a:r>
            <a:pPr indent="0" marL="0">
              <a:buNone/>
            </a:pPr>
            <a:r>
              <a:rPr lang="en-US" sz="1150" dirty="0">
                <a:solidFill>
                  <a:srgbClr val="5B6470"/>
                </a:solidFill>
                <a:latin typeface="Segoe UI" pitchFamily="34" charset="0"/>
                <a:ea typeface="Segoe UI" pitchFamily="34" charset="-122"/>
                <a:cs typeface="Segoe UI" pitchFamily="34" charset="-120"/>
              </a:rPr>
              <a:t>5 zod-typed custom tools, no built-in shell, file or web tools</a:t>
            </a:r>
            <a:endParaRPr lang="en-US" sz="1150" dirty="0"/>
          </a:p>
        </p:txBody>
      </p:sp>
      <p:sp>
        <p:nvSpPr>
          <p:cNvPr id="18" name="Text 15"/>
          <p:cNvSpPr/>
          <p:nvPr/>
        </p:nvSpPr>
        <p:spPr>
          <a:xfrm>
            <a:off x="6324448" y="4800600"/>
            <a:ext cx="5318608" cy="420624"/>
          </a:xfrm>
          <a:prstGeom prst="rect">
            <a:avLst/>
          </a:prstGeom>
          <a:noFill/>
          <a:ln/>
        </p:spPr>
        <p:txBody>
          <a:bodyPr wrap="square" lIns="0" tIns="0" rIns="0" bIns="0" rtlCol="0" anchor="ctr"/>
          <a:lstStyle/>
          <a:p>
            <a:pPr indent="0" marL="0">
              <a:buNone/>
            </a:pPr>
            <a:r>
              <a:rPr lang="en-US" sz="1150" dirty="0">
                <a:solidFill>
                  <a:srgbClr val="0B5CAD"/>
                </a:solidFill>
                <a:latin typeface="Segoe UI Semibold" pitchFamily="34" charset="0"/>
                <a:ea typeface="Segoe UI Semibold" pitchFamily="34" charset="-122"/>
                <a:cs typeface="Segoe UI Semibold" pitchFamily="34" charset="-120"/>
              </a:rPr>
              <a:t>ask_worker   </a:t>
            </a:r>
            <a:pPr indent="0" marL="0">
              <a:buNone/>
            </a:pPr>
            <a:r>
              <a:rPr lang="en-US" sz="1150" dirty="0">
                <a:solidFill>
                  <a:srgbClr val="5B6470"/>
                </a:solidFill>
                <a:latin typeface="Segoe UI" pitchFamily="34" charset="0"/>
                <a:ea typeface="Segoe UI" pitchFamily="34" charset="-122"/>
                <a:cs typeface="Segoe UI" pitchFamily="34" charset="-120"/>
              </a:rPr>
              <a:t>Pauses the run and asks the worker a question over SSE</a:t>
            </a:r>
            <a:endParaRPr lang="en-US" sz="1150" dirty="0"/>
          </a:p>
        </p:txBody>
      </p:sp>
      <p:sp>
        <p:nvSpPr>
          <p:cNvPr id="19" name="Text 16"/>
          <p:cNvSpPr/>
          <p:nvPr/>
        </p:nvSpPr>
        <p:spPr>
          <a:xfrm>
            <a:off x="6324448" y="5257800"/>
            <a:ext cx="5318608" cy="420624"/>
          </a:xfrm>
          <a:prstGeom prst="rect">
            <a:avLst/>
          </a:prstGeom>
          <a:noFill/>
          <a:ln/>
        </p:spPr>
        <p:txBody>
          <a:bodyPr wrap="square" lIns="0" tIns="0" rIns="0" bIns="0" rtlCol="0" anchor="ctr"/>
          <a:lstStyle/>
          <a:p>
            <a:pPr indent="0" marL="0">
              <a:buNone/>
            </a:pPr>
            <a:r>
              <a:rPr lang="en-US" sz="1150" dirty="0">
                <a:solidFill>
                  <a:srgbClr val="0B5CAD"/>
                </a:solidFill>
                <a:latin typeface="Segoe UI Semibold" pitchFamily="34" charset="0"/>
                <a:ea typeface="Segoe UI Semibold" pitchFamily="34" charset="-122"/>
                <a:cs typeface="Segoe UI Semibold" pitchFamily="34" charset="-120"/>
              </a:rPr>
              <a:t>completesRun   </a:t>
            </a:r>
            <a:pPr indent="0" marL="0">
              <a:buNone/>
            </a:pPr>
            <a:r>
              <a:rPr lang="en-US" sz="1150" dirty="0">
                <a:solidFill>
                  <a:srgbClr val="5B6470"/>
                </a:solidFill>
                <a:latin typeface="Segoe UI" pitchFamily="34" charset="0"/>
                <a:ea typeface="Segoe UI" pitchFamily="34" charset="-122"/>
                <a:cs typeface="Segoe UI" pitchFamily="34" charset="-120"/>
              </a:rPr>
              <a:t>submit_docket ends the run, only after the guards pass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Cline logo">    </p:cNvPr>
          <p:cNvPicPr>
            <a:picLocks noChangeAspect="1"/>
          </p:cNvPicPr>
          <p:nvPr/>
        </p:nvPicPr>
        <p:blipFill>
          <a:blip r:embed="rId1"/>
          <a:stretch>
            <a:fillRect/>
          </a:stretch>
        </p:blipFill>
        <p:spPr>
          <a:xfrm>
            <a:off x="10537269" y="402336"/>
            <a:ext cx="1105786" cy="237744"/>
          </a:xfrm>
          <a:prstGeom prst="rect">
            <a:avLst/>
          </a:prstGeom>
        </p:spPr>
      </p:pic>
      <p:sp>
        <p:nvSpPr>
          <p:cNvPr id="3" name="Text 0"/>
          <p:cNvSpPr/>
          <p:nvPr/>
        </p:nvSpPr>
        <p:spPr>
          <a:xfrm>
            <a:off x="9622869" y="402336"/>
            <a:ext cx="822960" cy="237744"/>
          </a:xfrm>
          <a:prstGeom prst="rect">
            <a:avLst/>
          </a:prstGeom>
          <a:noFill/>
          <a:ln/>
        </p:spPr>
        <p:txBody>
          <a:bodyPr wrap="square" lIns="0" tIns="0" rIns="0" bIns="0" rtlCol="0" anchor="ctr"/>
          <a:lstStyle/>
          <a:p>
            <a:pPr algn="r" indent="0" marL="0">
              <a:buNone/>
            </a:pPr>
            <a:r>
              <a:rPr lang="en-US" sz="900" dirty="0">
                <a:solidFill>
                  <a:srgbClr val="5B6470"/>
                </a:solidFill>
                <a:latin typeface="Segoe UI" pitchFamily="34" charset="0"/>
                <a:ea typeface="Segoe UI" pitchFamily="34" charset="-122"/>
                <a:cs typeface="Segoe UI" pitchFamily="34" charset="-120"/>
              </a:rPr>
              <a:t>Built with</a:t>
            </a:r>
            <a:endParaRPr lang="en-US" sz="900" dirty="0"/>
          </a:p>
        </p:txBody>
      </p:sp>
      <p:sp>
        <p:nvSpPr>
          <p:cNvPr id="4" name="Text 1"/>
          <p:cNvSpPr/>
          <p:nvPr/>
        </p:nvSpPr>
        <p:spPr>
          <a:xfrm>
            <a:off x="548640" y="384048"/>
            <a:ext cx="11094415" cy="274320"/>
          </a:xfrm>
          <a:prstGeom prst="rect">
            <a:avLst/>
          </a:prstGeom>
          <a:noFill/>
          <a:ln/>
        </p:spPr>
        <p:txBody>
          <a:bodyPr wrap="square" lIns="0" tIns="0" rIns="0" bIns="0" rtlCol="0" anchor="ctr"/>
          <a:lstStyle/>
          <a:p>
            <a:pPr indent="0" marL="0">
              <a:buNone/>
            </a:pPr>
            <a:r>
              <a:rPr lang="en-US" sz="1100" spc="200" kern="0" dirty="0">
                <a:solidFill>
                  <a:srgbClr val="0B5CAD"/>
                </a:solidFill>
                <a:latin typeface="Segoe UI Semibold" pitchFamily="34" charset="0"/>
                <a:ea typeface="Segoe UI Semibold" pitchFamily="34" charset="-122"/>
                <a:cs typeface="Segoe UI Semibold" pitchFamily="34" charset="-120"/>
              </a:rPr>
              <a:t>10   CHALLENGES</a:t>
            </a:r>
            <a:endParaRPr lang="en-US" sz="1100" dirty="0"/>
          </a:p>
        </p:txBody>
      </p:sp>
      <p:sp>
        <p:nvSpPr>
          <p:cNvPr id="5" name="Text 2"/>
          <p:cNvSpPr/>
          <p:nvPr/>
        </p:nvSpPr>
        <p:spPr>
          <a:xfrm>
            <a:off x="548640" y="676656"/>
            <a:ext cx="11094415" cy="685800"/>
          </a:xfrm>
          <a:prstGeom prst="rect">
            <a:avLst/>
          </a:prstGeom>
          <a:noFill/>
          <a:ln/>
        </p:spPr>
        <p:txBody>
          <a:bodyPr wrap="square" lIns="0" tIns="0" rIns="0" bIns="0" rtlCol="0" anchor="t"/>
          <a:lstStyle/>
          <a:p>
            <a:pPr indent="0" marL="0">
              <a:buNone/>
            </a:pPr>
            <a:r>
              <a:rPr lang="en-US" sz="2800" dirty="0">
                <a:solidFill>
                  <a:srgbClr val="1B1F24"/>
                </a:solidFill>
                <a:latin typeface="Segoe UI Semibold" pitchFamily="34" charset="0"/>
                <a:ea typeface="Segoe UI Semibold" pitchFamily="34" charset="-122"/>
                <a:cs typeface="Segoe UI Semibold" pitchFamily="34" charset="-120"/>
              </a:rPr>
              <a:t>What could go wrong, and what we built for it</a:t>
            </a:r>
            <a:endParaRPr lang="en-US" sz="2800" dirty="0"/>
          </a:p>
        </p:txBody>
      </p:sp>
      <p:sp>
        <p:nvSpPr>
          <p:cNvPr id="6" name="Shape 3"/>
          <p:cNvSpPr/>
          <p:nvPr/>
        </p:nvSpPr>
        <p:spPr>
          <a:xfrm>
            <a:off x="548640" y="6437376"/>
            <a:ext cx="82296" cy="82296"/>
          </a:xfrm>
          <a:prstGeom prst="rect">
            <a:avLst/>
          </a:prstGeom>
          <a:solidFill>
            <a:srgbClr val="0B5CAD"/>
          </a:solidFill>
          <a:ln w="12700">
            <a:solidFill>
              <a:srgbClr val="FFFFFF">
                <a:alpha val="0"/>
              </a:srgbClr>
            </a:solidFill>
            <a:prstDash val="solid"/>
          </a:ln>
        </p:spPr>
      </p:sp>
      <p:sp>
        <p:nvSpPr>
          <p:cNvPr id="7" name="Text 4"/>
          <p:cNvSpPr/>
          <p:nvPr/>
        </p:nvSpPr>
        <p:spPr>
          <a:xfrm>
            <a:off x="731520" y="6364224"/>
            <a:ext cx="5486400" cy="228600"/>
          </a:xfrm>
          <a:prstGeom prst="rect">
            <a:avLst/>
          </a:prstGeom>
          <a:noFill/>
          <a:ln/>
        </p:spPr>
        <p:txBody>
          <a:bodyPr wrap="square" lIns="0" tIns="0" rIns="0" bIns="0" rtlCol="0" anchor="ctr"/>
          <a:lstStyle/>
          <a:p>
            <a:pPr indent="0" marL="0">
              <a:buNone/>
            </a:pPr>
            <a:r>
              <a:rPr lang="en-US" sz="900" dirty="0">
                <a:solidFill>
                  <a:srgbClr val="5B6470"/>
                </a:solidFill>
                <a:latin typeface="Segoe UI" pitchFamily="34" charset="0"/>
                <a:ea typeface="Segoe UI" pitchFamily="34" charset="-122"/>
                <a:cs typeface="Segoe UI" pitchFamily="34" charset="-120"/>
              </a:rPr>
              <a:t>Nyaya-Ledger  ·  Cline AI Builder Hackathon</a:t>
            </a:r>
            <a:endParaRPr lang="en-US" sz="900" dirty="0"/>
          </a:p>
        </p:txBody>
      </p:sp>
      <p:sp>
        <p:nvSpPr>
          <p:cNvPr id="8" name="Text 5"/>
          <p:cNvSpPr/>
          <p:nvPr/>
        </p:nvSpPr>
        <p:spPr>
          <a:xfrm>
            <a:off x="10271455" y="6364224"/>
            <a:ext cx="1371600" cy="228600"/>
          </a:xfrm>
          <a:prstGeom prst="rect">
            <a:avLst/>
          </a:prstGeom>
          <a:noFill/>
          <a:ln/>
        </p:spPr>
        <p:txBody>
          <a:bodyPr wrap="square" lIns="0" tIns="0" rIns="0" bIns="0" rtlCol="0" anchor="ctr"/>
          <a:lstStyle/>
          <a:p>
            <a:pPr algn="r" indent="0" marL="0">
              <a:buNone/>
            </a:pPr>
            <a:r>
              <a:rPr lang="en-US" sz="900" dirty="0">
                <a:solidFill>
                  <a:srgbClr val="5B6470"/>
                </a:solidFill>
                <a:latin typeface="Segoe UI" pitchFamily="34" charset="0"/>
                <a:ea typeface="Segoe UI" pitchFamily="34" charset="-122"/>
                <a:cs typeface="Segoe UI" pitchFamily="34" charset="-120"/>
              </a:rPr>
              <a:t>10 / 11</a:t>
            </a:r>
            <a:endParaRPr lang="en-US" sz="900" dirty="0"/>
          </a:p>
        </p:txBody>
      </p:sp>
      <p:sp>
        <p:nvSpPr>
          <p:cNvPr id="9" name="Text 6"/>
          <p:cNvSpPr/>
          <p:nvPr/>
        </p:nvSpPr>
        <p:spPr>
          <a:xfrm>
            <a:off x="548640" y="1554480"/>
            <a:ext cx="3749040" cy="256032"/>
          </a:xfrm>
          <a:prstGeom prst="rect">
            <a:avLst/>
          </a:prstGeom>
          <a:noFill/>
          <a:ln/>
        </p:spPr>
        <p:txBody>
          <a:bodyPr wrap="square" lIns="0" tIns="0" rIns="0" bIns="0" rtlCol="0" anchor="ctr"/>
          <a:lstStyle/>
          <a:p>
            <a:pPr indent="0" marL="0">
              <a:buNone/>
            </a:pPr>
            <a:r>
              <a:rPr lang="en-US" sz="1000" spc="200" kern="0" dirty="0">
                <a:solidFill>
                  <a:srgbClr val="5B6470"/>
                </a:solidFill>
                <a:latin typeface="Segoe UI Semibold" pitchFamily="34" charset="0"/>
                <a:ea typeface="Segoe UI Semibold" pitchFamily="34" charset="-122"/>
                <a:cs typeface="Segoe UI Semibold" pitchFamily="34" charset="-120"/>
              </a:rPr>
              <a:t>CHALLENGE</a:t>
            </a:r>
            <a:endParaRPr lang="en-US" sz="1000" dirty="0"/>
          </a:p>
        </p:txBody>
      </p:sp>
      <p:sp>
        <p:nvSpPr>
          <p:cNvPr id="10" name="Text 7"/>
          <p:cNvSpPr/>
          <p:nvPr/>
        </p:nvSpPr>
        <p:spPr>
          <a:xfrm>
            <a:off x="4846320" y="1554480"/>
            <a:ext cx="5486400" cy="256032"/>
          </a:xfrm>
          <a:prstGeom prst="rect">
            <a:avLst/>
          </a:prstGeom>
          <a:noFill/>
          <a:ln/>
        </p:spPr>
        <p:txBody>
          <a:bodyPr wrap="square" lIns="0" tIns="0" rIns="0" bIns="0" rtlCol="0" anchor="ctr"/>
          <a:lstStyle/>
          <a:p>
            <a:pPr indent="0" marL="0">
              <a:buNone/>
            </a:pPr>
            <a:r>
              <a:rPr lang="en-US" sz="1000" spc="200" kern="0" dirty="0">
                <a:solidFill>
                  <a:srgbClr val="5B6470"/>
                </a:solidFill>
                <a:latin typeface="Segoe UI Semibold" pitchFamily="34" charset="0"/>
                <a:ea typeface="Segoe UI Semibold" pitchFamily="34" charset="-122"/>
                <a:cs typeface="Segoe UI Semibold" pitchFamily="34" charset="-120"/>
              </a:rPr>
              <a:t>WHAT WE DID</a:t>
            </a:r>
            <a:endParaRPr lang="en-US" sz="1000" dirty="0"/>
          </a:p>
        </p:txBody>
      </p:sp>
      <p:sp>
        <p:nvSpPr>
          <p:cNvPr id="11" name="Shape 8"/>
          <p:cNvSpPr/>
          <p:nvPr/>
        </p:nvSpPr>
        <p:spPr>
          <a:xfrm>
            <a:off x="548640" y="1874520"/>
            <a:ext cx="11094415" cy="0"/>
          </a:xfrm>
          <a:prstGeom prst="line">
            <a:avLst/>
          </a:prstGeom>
          <a:noFill/>
          <a:ln w="9525">
            <a:solidFill>
              <a:srgbClr val="D9DEE4"/>
            </a:solidFill>
            <a:prstDash val="solid"/>
          </a:ln>
        </p:spPr>
      </p:sp>
      <p:sp>
        <p:nvSpPr>
          <p:cNvPr id="12" name="Text 9"/>
          <p:cNvSpPr/>
          <p:nvPr/>
        </p:nvSpPr>
        <p:spPr>
          <a:xfrm>
            <a:off x="548640" y="1874520"/>
            <a:ext cx="3749040" cy="548640"/>
          </a:xfrm>
          <a:prstGeom prst="rect">
            <a:avLst/>
          </a:prstGeom>
          <a:noFill/>
          <a:ln/>
        </p:spPr>
        <p:txBody>
          <a:bodyPr wrap="square" lIns="0" tIns="0" rIns="0" bIns="0" rtlCol="0" anchor="ctr"/>
          <a:lstStyle/>
          <a:p>
            <a:pPr indent="0" marL="0">
              <a:buNone/>
            </a:pPr>
            <a:r>
              <a:rPr lang="en-US" sz="1300" dirty="0">
                <a:solidFill>
                  <a:srgbClr val="1B1F24"/>
                </a:solidFill>
                <a:latin typeface="Segoe UI Semibold" pitchFamily="34" charset="0"/>
                <a:ea typeface="Segoe UI Semibold" pitchFamily="34" charset="-122"/>
                <a:cs typeface="Segoe UI Semibold" pitchFamily="34" charset="-120"/>
              </a:rPr>
              <a:t>Vision misreads a number</a:t>
            </a:r>
            <a:endParaRPr lang="en-US" sz="1300" dirty="0"/>
          </a:p>
        </p:txBody>
      </p:sp>
      <p:sp>
        <p:nvSpPr>
          <p:cNvPr id="13" name="Text 10"/>
          <p:cNvSpPr/>
          <p:nvPr/>
        </p:nvSpPr>
        <p:spPr>
          <a:xfrm>
            <a:off x="4297680" y="1874520"/>
            <a:ext cx="548640" cy="548640"/>
          </a:xfrm>
          <a:prstGeom prst="rect">
            <a:avLst/>
          </a:prstGeom>
          <a:noFill/>
          <a:ln/>
        </p:spPr>
        <p:txBody>
          <a:bodyPr wrap="square" lIns="0" tIns="0" rIns="0" bIns="0" rtlCol="0" anchor="ctr"/>
          <a:lstStyle/>
          <a:p>
            <a:pPr algn="ctr" indent="0" marL="0">
              <a:buNone/>
            </a:pPr>
            <a:r>
              <a:rPr lang="en-US" sz="1400" dirty="0">
                <a:solidFill>
                  <a:srgbClr val="0B5CAD"/>
                </a:solidFill>
                <a:latin typeface="Segoe UI" pitchFamily="34" charset="0"/>
                <a:ea typeface="Segoe UI" pitchFamily="34" charset="-122"/>
                <a:cs typeface="Segoe UI" pitchFamily="34" charset="-120"/>
              </a:rPr>
              <a:t>→</a:t>
            </a:r>
            <a:endParaRPr lang="en-US" sz="1400" dirty="0"/>
          </a:p>
        </p:txBody>
      </p:sp>
      <p:sp>
        <p:nvSpPr>
          <p:cNvPr id="14" name="Text 11"/>
          <p:cNvSpPr/>
          <p:nvPr/>
        </p:nvSpPr>
        <p:spPr>
          <a:xfrm>
            <a:off x="4846320" y="1874520"/>
            <a:ext cx="6796735" cy="548640"/>
          </a:xfrm>
          <a:prstGeom prst="rect">
            <a:avLst/>
          </a:prstGeom>
          <a:noFill/>
          <a:ln/>
        </p:spPr>
        <p:txBody>
          <a:bodyPr wrap="square" lIns="0" tIns="0" rIns="0" bIns="0" rtlCol="0" anchor="ctr"/>
          <a:lstStyle/>
          <a:p>
            <a:pPr indent="0" marL="0">
              <a:buNone/>
            </a:pPr>
            <a:r>
              <a:rPr lang="en-US" sz="1200" dirty="0">
                <a:solidFill>
                  <a:srgbClr val="5B6470"/>
                </a:solidFill>
                <a:latin typeface="Segoe UI" pitchFamily="34" charset="0"/>
                <a:ea typeface="Segoe UI" pitchFamily="34" charset="-122"/>
                <a:cs typeface="Segoe UI" pitchFamily="34" charset="-120"/>
              </a:rPr>
              <a:t>The worker confirms every value before any check runs</a:t>
            </a:r>
            <a:endParaRPr lang="en-US" sz="1200" dirty="0"/>
          </a:p>
        </p:txBody>
      </p:sp>
      <p:sp>
        <p:nvSpPr>
          <p:cNvPr id="15" name="Shape 12"/>
          <p:cNvSpPr/>
          <p:nvPr/>
        </p:nvSpPr>
        <p:spPr>
          <a:xfrm>
            <a:off x="548640" y="2423160"/>
            <a:ext cx="11094415" cy="0"/>
          </a:xfrm>
          <a:prstGeom prst="line">
            <a:avLst/>
          </a:prstGeom>
          <a:noFill/>
          <a:ln w="9525">
            <a:solidFill>
              <a:srgbClr val="D9DEE4"/>
            </a:solidFill>
            <a:prstDash val="solid"/>
          </a:ln>
        </p:spPr>
      </p:sp>
      <p:sp>
        <p:nvSpPr>
          <p:cNvPr id="16" name="Text 13"/>
          <p:cNvSpPr/>
          <p:nvPr/>
        </p:nvSpPr>
        <p:spPr>
          <a:xfrm>
            <a:off x="548640" y="2423160"/>
            <a:ext cx="3749040" cy="548640"/>
          </a:xfrm>
          <a:prstGeom prst="rect">
            <a:avLst/>
          </a:prstGeom>
          <a:noFill/>
          <a:ln/>
        </p:spPr>
        <p:txBody>
          <a:bodyPr wrap="square" lIns="0" tIns="0" rIns="0" bIns="0" rtlCol="0" anchor="ctr"/>
          <a:lstStyle/>
          <a:p>
            <a:pPr indent="0" marL="0">
              <a:buNone/>
            </a:pPr>
            <a:r>
              <a:rPr lang="en-US" sz="1300" dirty="0">
                <a:solidFill>
                  <a:srgbClr val="1B1F24"/>
                </a:solidFill>
                <a:latin typeface="Segoe UI Semibold" pitchFamily="34" charset="0"/>
                <a:ea typeface="Segoe UI Semibold" pitchFamily="34" charset="-122"/>
                <a:cs typeface="Segoe UI Semibold" pitchFamily="34" charset="-120"/>
              </a:rPr>
              <a:t>Bank SMS formats vary</a:t>
            </a:r>
            <a:endParaRPr lang="en-US" sz="1300" dirty="0"/>
          </a:p>
        </p:txBody>
      </p:sp>
      <p:sp>
        <p:nvSpPr>
          <p:cNvPr id="17" name="Text 14"/>
          <p:cNvSpPr/>
          <p:nvPr/>
        </p:nvSpPr>
        <p:spPr>
          <a:xfrm>
            <a:off x="4297680" y="2423160"/>
            <a:ext cx="548640" cy="548640"/>
          </a:xfrm>
          <a:prstGeom prst="rect">
            <a:avLst/>
          </a:prstGeom>
          <a:noFill/>
          <a:ln/>
        </p:spPr>
        <p:txBody>
          <a:bodyPr wrap="square" lIns="0" tIns="0" rIns="0" bIns="0" rtlCol="0" anchor="ctr"/>
          <a:lstStyle/>
          <a:p>
            <a:pPr algn="ctr" indent="0" marL="0">
              <a:buNone/>
            </a:pPr>
            <a:r>
              <a:rPr lang="en-US" sz="1400" dirty="0">
                <a:solidFill>
                  <a:srgbClr val="0B5CAD"/>
                </a:solidFill>
                <a:latin typeface="Segoe UI" pitchFamily="34" charset="0"/>
                <a:ea typeface="Segoe UI" pitchFamily="34" charset="-122"/>
                <a:cs typeface="Segoe UI" pitchFamily="34" charset="-120"/>
              </a:rPr>
              <a:t>→</a:t>
            </a:r>
            <a:endParaRPr lang="en-US" sz="1400" dirty="0"/>
          </a:p>
        </p:txBody>
      </p:sp>
      <p:sp>
        <p:nvSpPr>
          <p:cNvPr id="18" name="Text 15"/>
          <p:cNvSpPr/>
          <p:nvPr/>
        </p:nvSpPr>
        <p:spPr>
          <a:xfrm>
            <a:off x="4846320" y="2423160"/>
            <a:ext cx="6796735" cy="548640"/>
          </a:xfrm>
          <a:prstGeom prst="rect">
            <a:avLst/>
          </a:prstGeom>
          <a:noFill/>
          <a:ln/>
        </p:spPr>
        <p:txBody>
          <a:bodyPr wrap="square" lIns="0" tIns="0" rIns="0" bIns="0" rtlCol="0" anchor="ctr"/>
          <a:lstStyle/>
          <a:p>
            <a:pPr indent="0" marL="0">
              <a:buNone/>
            </a:pPr>
            <a:r>
              <a:rPr lang="en-US" sz="1200" dirty="0">
                <a:solidFill>
                  <a:srgbClr val="5B6470"/>
                </a:solidFill>
                <a:latin typeface="Segoe UI" pitchFamily="34" charset="0"/>
                <a:ea typeface="Segoe UI" pitchFamily="34" charset="-122"/>
                <a:cs typeface="Segoe UI" pitchFamily="34" charset="-120"/>
              </a:rPr>
              <a:t>Test-first parser; unknown formats are skipped with a reason, credits can be added by hand</a:t>
            </a:r>
            <a:endParaRPr lang="en-US" sz="1200" dirty="0"/>
          </a:p>
        </p:txBody>
      </p:sp>
      <p:sp>
        <p:nvSpPr>
          <p:cNvPr id="19" name="Shape 16"/>
          <p:cNvSpPr/>
          <p:nvPr/>
        </p:nvSpPr>
        <p:spPr>
          <a:xfrm>
            <a:off x="548640" y="2971800"/>
            <a:ext cx="11094415" cy="0"/>
          </a:xfrm>
          <a:prstGeom prst="line">
            <a:avLst/>
          </a:prstGeom>
          <a:noFill/>
          <a:ln w="9525">
            <a:solidFill>
              <a:srgbClr val="D9DEE4"/>
            </a:solidFill>
            <a:prstDash val="solid"/>
          </a:ln>
        </p:spPr>
      </p:sp>
      <p:sp>
        <p:nvSpPr>
          <p:cNvPr id="20" name="Text 17"/>
          <p:cNvSpPr/>
          <p:nvPr/>
        </p:nvSpPr>
        <p:spPr>
          <a:xfrm>
            <a:off x="548640" y="2971800"/>
            <a:ext cx="3749040" cy="548640"/>
          </a:xfrm>
          <a:prstGeom prst="rect">
            <a:avLst/>
          </a:prstGeom>
          <a:noFill/>
          <a:ln/>
        </p:spPr>
        <p:txBody>
          <a:bodyPr wrap="square" lIns="0" tIns="0" rIns="0" bIns="0" rtlCol="0" anchor="ctr"/>
          <a:lstStyle/>
          <a:p>
            <a:pPr indent="0" marL="0">
              <a:buNone/>
            </a:pPr>
            <a:r>
              <a:rPr lang="en-US" sz="1300" dirty="0">
                <a:solidFill>
                  <a:srgbClr val="1B1F24"/>
                </a:solidFill>
                <a:latin typeface="Segoe UI Semibold" pitchFamily="34" charset="0"/>
                <a:ea typeface="Segoe UI Semibold" pitchFamily="34" charset="-122"/>
                <a:cs typeface="Segoe UI Semibold" pitchFamily="34" charset="-120"/>
              </a:rPr>
              <a:t>Prompt injection in screenshots</a:t>
            </a:r>
            <a:endParaRPr lang="en-US" sz="1300" dirty="0"/>
          </a:p>
        </p:txBody>
      </p:sp>
      <p:sp>
        <p:nvSpPr>
          <p:cNvPr id="21" name="Text 18"/>
          <p:cNvSpPr/>
          <p:nvPr/>
        </p:nvSpPr>
        <p:spPr>
          <a:xfrm>
            <a:off x="4297680" y="2971800"/>
            <a:ext cx="548640" cy="548640"/>
          </a:xfrm>
          <a:prstGeom prst="rect">
            <a:avLst/>
          </a:prstGeom>
          <a:noFill/>
          <a:ln/>
        </p:spPr>
        <p:txBody>
          <a:bodyPr wrap="square" lIns="0" tIns="0" rIns="0" bIns="0" rtlCol="0" anchor="ctr"/>
          <a:lstStyle/>
          <a:p>
            <a:pPr algn="ctr" indent="0" marL="0">
              <a:buNone/>
            </a:pPr>
            <a:r>
              <a:rPr lang="en-US" sz="1400" dirty="0">
                <a:solidFill>
                  <a:srgbClr val="0B5CAD"/>
                </a:solidFill>
                <a:latin typeface="Segoe UI" pitchFamily="34" charset="0"/>
                <a:ea typeface="Segoe UI" pitchFamily="34" charset="-122"/>
                <a:cs typeface="Segoe UI" pitchFamily="34" charset="-120"/>
              </a:rPr>
              <a:t>→</a:t>
            </a:r>
            <a:endParaRPr lang="en-US" sz="1400" dirty="0"/>
          </a:p>
        </p:txBody>
      </p:sp>
      <p:sp>
        <p:nvSpPr>
          <p:cNvPr id="22" name="Text 19"/>
          <p:cNvSpPr/>
          <p:nvPr/>
        </p:nvSpPr>
        <p:spPr>
          <a:xfrm>
            <a:off x="4846320" y="2971800"/>
            <a:ext cx="6796735" cy="548640"/>
          </a:xfrm>
          <a:prstGeom prst="rect">
            <a:avLst/>
          </a:prstGeom>
          <a:noFill/>
          <a:ln/>
        </p:spPr>
        <p:txBody>
          <a:bodyPr wrap="square" lIns="0" tIns="0" rIns="0" bIns="0" rtlCol="0" anchor="ctr"/>
          <a:lstStyle/>
          <a:p>
            <a:pPr indent="0" marL="0">
              <a:buNone/>
            </a:pPr>
            <a:r>
              <a:rPr lang="en-US" sz="1200" dirty="0">
                <a:solidFill>
                  <a:srgbClr val="5B6470"/>
                </a:solidFill>
                <a:latin typeface="Segoe UI" pitchFamily="34" charset="0"/>
                <a:ea typeface="Segoe UI" pitchFamily="34" charset="-122"/>
                <a:cs typeface="Segoe UI" pitchFamily="34" charset="-120"/>
              </a:rPr>
              <a:t>Agent has only 5 typed tools. Ledger text is treated as data, never as instructions</a:t>
            </a:r>
            <a:endParaRPr lang="en-US" sz="1200" dirty="0"/>
          </a:p>
        </p:txBody>
      </p:sp>
      <p:sp>
        <p:nvSpPr>
          <p:cNvPr id="23" name="Shape 20"/>
          <p:cNvSpPr/>
          <p:nvPr/>
        </p:nvSpPr>
        <p:spPr>
          <a:xfrm>
            <a:off x="548640" y="3520440"/>
            <a:ext cx="11094415" cy="0"/>
          </a:xfrm>
          <a:prstGeom prst="line">
            <a:avLst/>
          </a:prstGeom>
          <a:noFill/>
          <a:ln w="9525">
            <a:solidFill>
              <a:srgbClr val="D9DEE4"/>
            </a:solidFill>
            <a:prstDash val="solid"/>
          </a:ln>
        </p:spPr>
      </p:sp>
      <p:sp>
        <p:nvSpPr>
          <p:cNvPr id="24" name="Text 21"/>
          <p:cNvSpPr/>
          <p:nvPr/>
        </p:nvSpPr>
        <p:spPr>
          <a:xfrm>
            <a:off x="548640" y="3520440"/>
            <a:ext cx="3749040" cy="548640"/>
          </a:xfrm>
          <a:prstGeom prst="rect">
            <a:avLst/>
          </a:prstGeom>
          <a:noFill/>
          <a:ln/>
        </p:spPr>
        <p:txBody>
          <a:bodyPr wrap="square" lIns="0" tIns="0" rIns="0" bIns="0" rtlCol="0" anchor="ctr"/>
          <a:lstStyle/>
          <a:p>
            <a:pPr indent="0" marL="0">
              <a:buNone/>
            </a:pPr>
            <a:r>
              <a:rPr lang="en-US" sz="1300" dirty="0">
                <a:solidFill>
                  <a:srgbClr val="1B1F24"/>
                </a:solidFill>
                <a:latin typeface="Segoe UI Semibold" pitchFamily="34" charset="0"/>
                <a:ea typeface="Segoe UI Semibold" pitchFamily="34" charset="-122"/>
                <a:cs typeface="Segoe UI Semibold" pitchFamily="34" charset="-120"/>
              </a:rPr>
              <a:t>Model invents a law or a verdict</a:t>
            </a:r>
            <a:endParaRPr lang="en-US" sz="1300" dirty="0"/>
          </a:p>
        </p:txBody>
      </p:sp>
      <p:sp>
        <p:nvSpPr>
          <p:cNvPr id="25" name="Text 22"/>
          <p:cNvSpPr/>
          <p:nvPr/>
        </p:nvSpPr>
        <p:spPr>
          <a:xfrm>
            <a:off x="4297680" y="3520440"/>
            <a:ext cx="548640" cy="548640"/>
          </a:xfrm>
          <a:prstGeom prst="rect">
            <a:avLst/>
          </a:prstGeom>
          <a:noFill/>
          <a:ln/>
        </p:spPr>
        <p:txBody>
          <a:bodyPr wrap="square" lIns="0" tIns="0" rIns="0" bIns="0" rtlCol="0" anchor="ctr"/>
          <a:lstStyle/>
          <a:p>
            <a:pPr algn="ctr" indent="0" marL="0">
              <a:buNone/>
            </a:pPr>
            <a:r>
              <a:rPr lang="en-US" sz="1400" dirty="0">
                <a:solidFill>
                  <a:srgbClr val="0B5CAD"/>
                </a:solidFill>
                <a:latin typeface="Segoe UI" pitchFamily="34" charset="0"/>
                <a:ea typeface="Segoe UI" pitchFamily="34" charset="-122"/>
                <a:cs typeface="Segoe UI" pitchFamily="34" charset="-120"/>
              </a:rPr>
              <a:t>→</a:t>
            </a:r>
            <a:endParaRPr lang="en-US" sz="1400" dirty="0"/>
          </a:p>
        </p:txBody>
      </p:sp>
      <p:sp>
        <p:nvSpPr>
          <p:cNvPr id="26" name="Text 23"/>
          <p:cNvSpPr/>
          <p:nvPr/>
        </p:nvSpPr>
        <p:spPr>
          <a:xfrm>
            <a:off x="4846320" y="3520440"/>
            <a:ext cx="6796735" cy="548640"/>
          </a:xfrm>
          <a:prstGeom prst="rect">
            <a:avLst/>
          </a:prstGeom>
          <a:noFill/>
          <a:ln/>
        </p:spPr>
        <p:txBody>
          <a:bodyPr wrap="square" lIns="0" tIns="0" rIns="0" bIns="0" rtlCol="0" anchor="ctr"/>
          <a:lstStyle/>
          <a:p>
            <a:pPr indent="0" marL="0">
              <a:buNone/>
            </a:pPr>
            <a:r>
              <a:rPr lang="en-US" sz="1200" dirty="0">
                <a:solidFill>
                  <a:srgbClr val="5B6470"/>
                </a:solidFill>
                <a:latin typeface="Segoe UI" pitchFamily="34" charset="0"/>
                <a:ea typeface="Segoe UI" pitchFamily="34" charset="-122"/>
                <a:cs typeface="Segoe UI" pitchFamily="34" charset="-120"/>
              </a:rPr>
              <a:t>Citation guard + verdict-word guard (EN · ಕನ್ನಡ · हिन्दी) reject the docket; agent must rewrite</a:t>
            </a:r>
            <a:endParaRPr lang="en-US" sz="1200" dirty="0"/>
          </a:p>
        </p:txBody>
      </p:sp>
      <p:sp>
        <p:nvSpPr>
          <p:cNvPr id="27" name="Shape 24"/>
          <p:cNvSpPr/>
          <p:nvPr/>
        </p:nvSpPr>
        <p:spPr>
          <a:xfrm>
            <a:off x="548640" y="4069080"/>
            <a:ext cx="11094415" cy="0"/>
          </a:xfrm>
          <a:prstGeom prst="line">
            <a:avLst/>
          </a:prstGeom>
          <a:noFill/>
          <a:ln w="9525">
            <a:solidFill>
              <a:srgbClr val="D9DEE4"/>
            </a:solidFill>
            <a:prstDash val="solid"/>
          </a:ln>
        </p:spPr>
      </p:sp>
      <p:sp>
        <p:nvSpPr>
          <p:cNvPr id="28" name="Text 25"/>
          <p:cNvSpPr/>
          <p:nvPr/>
        </p:nvSpPr>
        <p:spPr>
          <a:xfrm>
            <a:off x="548640" y="4069080"/>
            <a:ext cx="3749040" cy="548640"/>
          </a:xfrm>
          <a:prstGeom prst="rect">
            <a:avLst/>
          </a:prstGeom>
          <a:noFill/>
          <a:ln/>
        </p:spPr>
        <p:txBody>
          <a:bodyPr wrap="square" lIns="0" tIns="0" rIns="0" bIns="0" rtlCol="0" anchor="ctr"/>
          <a:lstStyle/>
          <a:p>
            <a:pPr indent="0" marL="0">
              <a:buNone/>
            </a:pPr>
            <a:r>
              <a:rPr lang="en-US" sz="1300" dirty="0">
                <a:solidFill>
                  <a:srgbClr val="1B1F24"/>
                </a:solidFill>
                <a:latin typeface="Segoe UI Semibold" pitchFamily="34" charset="0"/>
                <a:ea typeface="Segoe UI Semibold" pitchFamily="34" charset="-122"/>
                <a:cs typeface="Segoe UI Semibold" pitchFamily="34" charset="-120"/>
              </a:rPr>
              <a:t>Kannada PDF on a 512 MB free host</a:t>
            </a:r>
            <a:endParaRPr lang="en-US" sz="1300" dirty="0"/>
          </a:p>
        </p:txBody>
      </p:sp>
      <p:sp>
        <p:nvSpPr>
          <p:cNvPr id="29" name="Text 26"/>
          <p:cNvSpPr/>
          <p:nvPr/>
        </p:nvSpPr>
        <p:spPr>
          <a:xfrm>
            <a:off x="4297680" y="4069080"/>
            <a:ext cx="548640" cy="548640"/>
          </a:xfrm>
          <a:prstGeom prst="rect">
            <a:avLst/>
          </a:prstGeom>
          <a:noFill/>
          <a:ln/>
        </p:spPr>
        <p:txBody>
          <a:bodyPr wrap="square" lIns="0" tIns="0" rIns="0" bIns="0" rtlCol="0" anchor="ctr"/>
          <a:lstStyle/>
          <a:p>
            <a:pPr algn="ctr" indent="0" marL="0">
              <a:buNone/>
            </a:pPr>
            <a:r>
              <a:rPr lang="en-US" sz="1400" dirty="0">
                <a:solidFill>
                  <a:srgbClr val="0B5CAD"/>
                </a:solidFill>
                <a:latin typeface="Segoe UI" pitchFamily="34" charset="0"/>
                <a:ea typeface="Segoe UI" pitchFamily="34" charset="-122"/>
                <a:cs typeface="Segoe UI" pitchFamily="34" charset="-120"/>
              </a:rPr>
              <a:t>→</a:t>
            </a:r>
            <a:endParaRPr lang="en-US" sz="1400" dirty="0"/>
          </a:p>
        </p:txBody>
      </p:sp>
      <p:sp>
        <p:nvSpPr>
          <p:cNvPr id="30" name="Text 27"/>
          <p:cNvSpPr/>
          <p:nvPr/>
        </p:nvSpPr>
        <p:spPr>
          <a:xfrm>
            <a:off x="4846320" y="4069080"/>
            <a:ext cx="6796735" cy="548640"/>
          </a:xfrm>
          <a:prstGeom prst="rect">
            <a:avLst/>
          </a:prstGeom>
          <a:noFill/>
          <a:ln/>
        </p:spPr>
        <p:txBody>
          <a:bodyPr wrap="square" lIns="0" tIns="0" rIns="0" bIns="0" rtlCol="0" anchor="ctr"/>
          <a:lstStyle/>
          <a:p>
            <a:pPr indent="0" marL="0">
              <a:buNone/>
            </a:pPr>
            <a:r>
              <a:rPr lang="en-US" sz="1200" dirty="0">
                <a:solidFill>
                  <a:srgbClr val="5B6470"/>
                </a:solidFill>
                <a:latin typeface="Segoe UI" pitchFamily="34" charset="0"/>
                <a:ea typeface="Segoe UI" pitchFamily="34" charset="-122"/>
                <a:cs typeface="Segoe UI" pitchFamily="34" charset="-120"/>
              </a:rPr>
              <a:t>No server Chromium: print stylesheet + Noto fonts, the phone's browser saves the PDF</a:t>
            </a:r>
            <a:endParaRPr lang="en-US" sz="1200" dirty="0"/>
          </a:p>
        </p:txBody>
      </p:sp>
      <p:sp>
        <p:nvSpPr>
          <p:cNvPr id="31" name="Shape 28"/>
          <p:cNvSpPr/>
          <p:nvPr/>
        </p:nvSpPr>
        <p:spPr>
          <a:xfrm>
            <a:off x="548640" y="4617720"/>
            <a:ext cx="11094415" cy="0"/>
          </a:xfrm>
          <a:prstGeom prst="line">
            <a:avLst/>
          </a:prstGeom>
          <a:noFill/>
          <a:ln w="9525">
            <a:solidFill>
              <a:srgbClr val="D9DEE4"/>
            </a:solidFill>
            <a:prstDash val="solid"/>
          </a:ln>
        </p:spPr>
      </p:sp>
      <p:sp>
        <p:nvSpPr>
          <p:cNvPr id="32" name="Text 29"/>
          <p:cNvSpPr/>
          <p:nvPr/>
        </p:nvSpPr>
        <p:spPr>
          <a:xfrm>
            <a:off x="548640" y="4617720"/>
            <a:ext cx="3749040" cy="548640"/>
          </a:xfrm>
          <a:prstGeom prst="rect">
            <a:avLst/>
          </a:prstGeom>
          <a:noFill/>
          <a:ln/>
        </p:spPr>
        <p:txBody>
          <a:bodyPr wrap="square" lIns="0" tIns="0" rIns="0" bIns="0" rtlCol="0" anchor="ctr"/>
          <a:lstStyle/>
          <a:p>
            <a:pPr indent="0" marL="0">
              <a:buNone/>
            </a:pPr>
            <a:r>
              <a:rPr lang="en-US" sz="1300" dirty="0">
                <a:solidFill>
                  <a:srgbClr val="1B1F24"/>
                </a:solidFill>
                <a:latin typeface="Segoe UI Semibold" pitchFamily="34" charset="0"/>
                <a:ea typeface="Segoe UI Semibold" pitchFamily="34" charset="-122"/>
                <a:cs typeface="Segoe UI Semibold" pitchFamily="34" charset="-120"/>
              </a:rPr>
              <a:t>Free-tier quota and timeouts</a:t>
            </a:r>
            <a:endParaRPr lang="en-US" sz="1300" dirty="0"/>
          </a:p>
        </p:txBody>
      </p:sp>
      <p:sp>
        <p:nvSpPr>
          <p:cNvPr id="33" name="Text 30"/>
          <p:cNvSpPr/>
          <p:nvPr/>
        </p:nvSpPr>
        <p:spPr>
          <a:xfrm>
            <a:off x="4297680" y="4617720"/>
            <a:ext cx="548640" cy="548640"/>
          </a:xfrm>
          <a:prstGeom prst="rect">
            <a:avLst/>
          </a:prstGeom>
          <a:noFill/>
          <a:ln/>
        </p:spPr>
        <p:txBody>
          <a:bodyPr wrap="square" lIns="0" tIns="0" rIns="0" bIns="0" rtlCol="0" anchor="ctr"/>
          <a:lstStyle/>
          <a:p>
            <a:pPr algn="ctr" indent="0" marL="0">
              <a:buNone/>
            </a:pPr>
            <a:r>
              <a:rPr lang="en-US" sz="1400" dirty="0">
                <a:solidFill>
                  <a:srgbClr val="0B5CAD"/>
                </a:solidFill>
                <a:latin typeface="Segoe UI" pitchFamily="34" charset="0"/>
                <a:ea typeface="Segoe UI" pitchFamily="34" charset="-122"/>
                <a:cs typeface="Segoe UI" pitchFamily="34" charset="-120"/>
              </a:rPr>
              <a:t>→</a:t>
            </a:r>
            <a:endParaRPr lang="en-US" sz="1400" dirty="0"/>
          </a:p>
        </p:txBody>
      </p:sp>
      <p:sp>
        <p:nvSpPr>
          <p:cNvPr id="34" name="Text 31"/>
          <p:cNvSpPr/>
          <p:nvPr/>
        </p:nvSpPr>
        <p:spPr>
          <a:xfrm>
            <a:off x="4846320" y="4617720"/>
            <a:ext cx="6796735" cy="548640"/>
          </a:xfrm>
          <a:prstGeom prst="rect">
            <a:avLst/>
          </a:prstGeom>
          <a:noFill/>
          <a:ln/>
        </p:spPr>
        <p:txBody>
          <a:bodyPr wrap="square" lIns="0" tIns="0" rIns="0" bIns="0" rtlCol="0" anchor="ctr"/>
          <a:lstStyle/>
          <a:p>
            <a:pPr indent="0" marL="0">
              <a:buNone/>
            </a:pPr>
            <a:r>
              <a:rPr lang="en-US" sz="1200" dirty="0">
                <a:solidFill>
                  <a:srgbClr val="5B6470"/>
                </a:solidFill>
                <a:latin typeface="Segoe UI" pitchFamily="34" charset="0"/>
                <a:ea typeface="Segoe UI" pitchFamily="34" charset="-122"/>
                <a:cs typeface="Segoe UI" pitchFamily="34" charset="-120"/>
              </a:rPr>
              <a:t>Template fallback after 120 s, same checks and guard, labelled "generated without AI"</a:t>
            </a:r>
            <a:endParaRPr lang="en-US" sz="1200" dirty="0"/>
          </a:p>
        </p:txBody>
      </p:sp>
      <p:sp>
        <p:nvSpPr>
          <p:cNvPr id="35" name="Shape 32"/>
          <p:cNvSpPr/>
          <p:nvPr/>
        </p:nvSpPr>
        <p:spPr>
          <a:xfrm>
            <a:off x="548640" y="5166360"/>
            <a:ext cx="11094415" cy="0"/>
          </a:xfrm>
          <a:prstGeom prst="line">
            <a:avLst/>
          </a:prstGeom>
          <a:noFill/>
          <a:ln w="9525">
            <a:solidFill>
              <a:srgbClr val="D9DEE4"/>
            </a:solidFill>
            <a:prstDash val="solid"/>
          </a:ln>
        </p:spPr>
      </p:sp>
      <p:sp>
        <p:nvSpPr>
          <p:cNvPr id="36" name="Text 33"/>
          <p:cNvSpPr/>
          <p:nvPr/>
        </p:nvSpPr>
        <p:spPr>
          <a:xfrm>
            <a:off x="548640" y="5166360"/>
            <a:ext cx="3749040" cy="548640"/>
          </a:xfrm>
          <a:prstGeom prst="rect">
            <a:avLst/>
          </a:prstGeom>
          <a:noFill/>
          <a:ln/>
        </p:spPr>
        <p:txBody>
          <a:bodyPr wrap="square" lIns="0" tIns="0" rIns="0" bIns="0" rtlCol="0" anchor="ctr"/>
          <a:lstStyle/>
          <a:p>
            <a:pPr indent="0" marL="0">
              <a:buNone/>
            </a:pPr>
            <a:r>
              <a:rPr lang="en-US" sz="1300" dirty="0">
                <a:solidFill>
                  <a:srgbClr val="1B1F24"/>
                </a:solidFill>
                <a:latin typeface="Segoe UI Semibold" pitchFamily="34" charset="0"/>
                <a:ea typeface="Segoe UI Semibold" pitchFamily="34" charset="-122"/>
                <a:cs typeface="Segoe UI Semibold" pitchFamily="34" charset="-120"/>
              </a:rPr>
              <a:t>The Act is challenged in court</a:t>
            </a:r>
            <a:endParaRPr lang="en-US" sz="1300" dirty="0"/>
          </a:p>
        </p:txBody>
      </p:sp>
      <p:sp>
        <p:nvSpPr>
          <p:cNvPr id="37" name="Text 34"/>
          <p:cNvSpPr/>
          <p:nvPr/>
        </p:nvSpPr>
        <p:spPr>
          <a:xfrm>
            <a:off x="4297680" y="5166360"/>
            <a:ext cx="548640" cy="548640"/>
          </a:xfrm>
          <a:prstGeom prst="rect">
            <a:avLst/>
          </a:prstGeom>
          <a:noFill/>
          <a:ln/>
        </p:spPr>
        <p:txBody>
          <a:bodyPr wrap="square" lIns="0" tIns="0" rIns="0" bIns="0" rtlCol="0" anchor="ctr"/>
          <a:lstStyle/>
          <a:p>
            <a:pPr algn="ctr" indent="0" marL="0">
              <a:buNone/>
            </a:pPr>
            <a:r>
              <a:rPr lang="en-US" sz="1400" dirty="0">
                <a:solidFill>
                  <a:srgbClr val="0B5CAD"/>
                </a:solidFill>
                <a:latin typeface="Segoe UI" pitchFamily="34" charset="0"/>
                <a:ea typeface="Segoe UI" pitchFamily="34" charset="-122"/>
                <a:cs typeface="Segoe UI" pitchFamily="34" charset="-120"/>
              </a:rPr>
              <a:t>→</a:t>
            </a:r>
            <a:endParaRPr lang="en-US" sz="1400" dirty="0"/>
          </a:p>
        </p:txBody>
      </p:sp>
      <p:sp>
        <p:nvSpPr>
          <p:cNvPr id="38" name="Text 35"/>
          <p:cNvSpPr/>
          <p:nvPr/>
        </p:nvSpPr>
        <p:spPr>
          <a:xfrm>
            <a:off x="4846320" y="5166360"/>
            <a:ext cx="6796735" cy="548640"/>
          </a:xfrm>
          <a:prstGeom prst="rect">
            <a:avLst/>
          </a:prstGeom>
          <a:noFill/>
          <a:ln/>
        </p:spPr>
        <p:txBody>
          <a:bodyPr wrap="square" lIns="0" tIns="0" rIns="0" bIns="0" rtlCol="0" anchor="ctr"/>
          <a:lstStyle/>
          <a:p>
            <a:pPr indent="0" marL="0">
              <a:buNone/>
            </a:pPr>
            <a:r>
              <a:rPr lang="en-US" sz="1200" dirty="0">
                <a:solidFill>
                  <a:srgbClr val="5B6470"/>
                </a:solidFill>
                <a:latin typeface="Segoe UI" pitchFamily="34" charset="0"/>
                <a:ea typeface="Segoe UI" pitchFamily="34" charset="-122"/>
                <a:cs typeface="Segoe UI" pitchFamily="34" charset="-120"/>
              </a:rPr>
              <a:t>No position taken; every docket carries the pending-case note</a:t>
            </a:r>
            <a:endParaRPr lang="en-US" sz="1200" dirty="0"/>
          </a:p>
        </p:txBody>
      </p:sp>
      <p:sp>
        <p:nvSpPr>
          <p:cNvPr id="39" name="Shape 36"/>
          <p:cNvSpPr/>
          <p:nvPr/>
        </p:nvSpPr>
        <p:spPr>
          <a:xfrm>
            <a:off x="548640" y="5715000"/>
            <a:ext cx="11094415" cy="0"/>
          </a:xfrm>
          <a:prstGeom prst="line">
            <a:avLst/>
          </a:prstGeom>
          <a:noFill/>
          <a:ln w="9525">
            <a:solidFill>
              <a:srgbClr val="D9DEE4"/>
            </a:solidFill>
            <a:prstDash val="solid"/>
          </a:ln>
        </p:spPr>
      </p:sp>
      <p:sp>
        <p:nvSpPr>
          <p:cNvPr id="40" name="Text 37"/>
          <p:cNvSpPr/>
          <p:nvPr/>
        </p:nvSpPr>
        <p:spPr>
          <a:xfrm>
            <a:off x="548640" y="5833872"/>
            <a:ext cx="11094415" cy="310896"/>
          </a:xfrm>
          <a:prstGeom prst="rect">
            <a:avLst/>
          </a:prstGeom>
          <a:noFill/>
          <a:ln/>
        </p:spPr>
        <p:txBody>
          <a:bodyPr wrap="square" lIns="0" tIns="0" rIns="0" bIns="0" rtlCol="0" anchor="ctr"/>
          <a:lstStyle/>
          <a:p>
            <a:pPr indent="0" marL="0">
              <a:buNone/>
            </a:pPr>
            <a:r>
              <a:rPr lang="en-US" sz="1100" dirty="0">
                <a:solidFill>
                  <a:srgbClr val="1B1F24"/>
                </a:solidFill>
                <a:latin typeface="Segoe UI Semibold" pitchFamily="34" charset="0"/>
                <a:ea typeface="Segoe UI Semibold" pitchFamily="34" charset="-122"/>
                <a:cs typeface="Segoe UI Semibold" pitchFamily="34" charset="-120"/>
              </a:rPr>
              <a:t>Real example: </a:t>
            </a:r>
            <a:pPr indent="0" marL="0">
              <a:buNone/>
            </a:pPr>
            <a:r>
              <a:rPr lang="en-US" sz="1100" dirty="0">
                <a:solidFill>
                  <a:srgbClr val="5B6470"/>
                </a:solidFill>
                <a:latin typeface="Segoe UI" pitchFamily="34" charset="0"/>
                <a:ea typeface="Segoe UI" pitchFamily="34" charset="-122"/>
                <a:cs typeface="Segoe UI" pitchFamily="34" charset="-120"/>
              </a:rPr>
              <a:t>in testing, Gemini wrote </a:t>
            </a:r>
            <a:pPr indent="0" marL="0">
              <a:buNone/>
            </a:pPr>
            <a:r>
              <a:rPr lang="en-US" sz="1100" dirty="0">
                <a:solidFill>
                  <a:srgbClr val="B42318"/>
                </a:solidFill>
                <a:latin typeface="Nirmala UI" pitchFamily="34" charset="0"/>
                <a:ea typeface="Nirmala UI" pitchFamily="34" charset="-122"/>
                <a:cs typeface="Nirmala UI" pitchFamily="34" charset="-120"/>
              </a:rPr>
              <a:t>ಉಲ್ಲಂಘನೆ</a:t>
            </a:r>
            <a:pPr indent="0" marL="0">
              <a:buNone/>
            </a:pPr>
            <a:r>
              <a:rPr lang="en-US" sz="1100" dirty="0">
                <a:solidFill>
                  <a:srgbClr val="5B6470"/>
                </a:solidFill>
                <a:latin typeface="Segoe UI" pitchFamily="34" charset="0"/>
                <a:ea typeface="Segoe UI" pitchFamily="34" charset="-122"/>
                <a:cs typeface="Segoe UI" pitchFamily="34" charset="-120"/>
              </a:rPr>
              <a:t> (violation) in a Kannada letter. The verdict guard caught it and the agent rewrote it.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Cline logo">    </p:cNvPr>
          <p:cNvPicPr>
            <a:picLocks noChangeAspect="1"/>
          </p:cNvPicPr>
          <p:nvPr/>
        </p:nvPicPr>
        <p:blipFill>
          <a:blip r:embed="rId1"/>
          <a:stretch>
            <a:fillRect/>
          </a:stretch>
        </p:blipFill>
        <p:spPr>
          <a:xfrm>
            <a:off x="10537269" y="402336"/>
            <a:ext cx="1105786" cy="237744"/>
          </a:xfrm>
          <a:prstGeom prst="rect">
            <a:avLst/>
          </a:prstGeom>
        </p:spPr>
      </p:pic>
      <p:sp>
        <p:nvSpPr>
          <p:cNvPr id="3" name="Text 0"/>
          <p:cNvSpPr/>
          <p:nvPr/>
        </p:nvSpPr>
        <p:spPr>
          <a:xfrm>
            <a:off x="9622869" y="402336"/>
            <a:ext cx="822960" cy="237744"/>
          </a:xfrm>
          <a:prstGeom prst="rect">
            <a:avLst/>
          </a:prstGeom>
          <a:noFill/>
          <a:ln/>
        </p:spPr>
        <p:txBody>
          <a:bodyPr wrap="square" lIns="0" tIns="0" rIns="0" bIns="0" rtlCol="0" anchor="ctr"/>
          <a:lstStyle/>
          <a:p>
            <a:pPr algn="r" indent="0" marL="0">
              <a:buNone/>
            </a:pPr>
            <a:r>
              <a:rPr lang="en-US" sz="900" dirty="0">
                <a:solidFill>
                  <a:srgbClr val="5B6470"/>
                </a:solidFill>
                <a:latin typeface="Segoe UI" pitchFamily="34" charset="0"/>
                <a:ea typeface="Segoe UI" pitchFamily="34" charset="-122"/>
                <a:cs typeface="Segoe UI" pitchFamily="34" charset="-120"/>
              </a:rPr>
              <a:t>Built with</a:t>
            </a:r>
            <a:endParaRPr lang="en-US" sz="900" dirty="0"/>
          </a:p>
        </p:txBody>
      </p:sp>
      <p:sp>
        <p:nvSpPr>
          <p:cNvPr id="4" name="Text 1"/>
          <p:cNvSpPr/>
          <p:nvPr/>
        </p:nvSpPr>
        <p:spPr>
          <a:xfrm>
            <a:off x="548640" y="384048"/>
            <a:ext cx="11094415" cy="274320"/>
          </a:xfrm>
          <a:prstGeom prst="rect">
            <a:avLst/>
          </a:prstGeom>
          <a:noFill/>
          <a:ln/>
        </p:spPr>
        <p:txBody>
          <a:bodyPr wrap="square" lIns="0" tIns="0" rIns="0" bIns="0" rtlCol="0" anchor="ctr"/>
          <a:lstStyle/>
          <a:p>
            <a:pPr indent="0" marL="0">
              <a:buNone/>
            </a:pPr>
            <a:r>
              <a:rPr lang="en-US" sz="1100" spc="200" kern="0" dirty="0">
                <a:solidFill>
                  <a:srgbClr val="0B5CAD"/>
                </a:solidFill>
                <a:latin typeface="Segoe UI Semibold" pitchFamily="34" charset="0"/>
                <a:ea typeface="Segoe UI Semibold" pitchFamily="34" charset="-122"/>
                <a:cs typeface="Segoe UI Semibold" pitchFamily="34" charset="-120"/>
              </a:rPr>
              <a:t>11   LIMITS · FUTURE · TRY IT</a:t>
            </a:r>
            <a:endParaRPr lang="en-US" sz="1100" dirty="0"/>
          </a:p>
        </p:txBody>
      </p:sp>
      <p:sp>
        <p:nvSpPr>
          <p:cNvPr id="5" name="Text 2"/>
          <p:cNvSpPr/>
          <p:nvPr/>
        </p:nvSpPr>
        <p:spPr>
          <a:xfrm>
            <a:off x="548640" y="676656"/>
            <a:ext cx="11094415" cy="685800"/>
          </a:xfrm>
          <a:prstGeom prst="rect">
            <a:avLst/>
          </a:prstGeom>
          <a:noFill/>
          <a:ln/>
        </p:spPr>
        <p:txBody>
          <a:bodyPr wrap="square" lIns="0" tIns="0" rIns="0" bIns="0" rtlCol="0" anchor="t"/>
          <a:lstStyle/>
          <a:p>
            <a:pPr indent="0" marL="0">
              <a:buNone/>
            </a:pPr>
            <a:r>
              <a:rPr lang="en-US" sz="2800" dirty="0">
                <a:solidFill>
                  <a:srgbClr val="1B1F24"/>
                </a:solidFill>
                <a:latin typeface="Segoe UI Semibold" pitchFamily="34" charset="0"/>
                <a:ea typeface="Segoe UI Semibold" pitchFamily="34" charset="-122"/>
                <a:cs typeface="Segoe UI Semibold" pitchFamily="34" charset="-120"/>
              </a:rPr>
              <a:t>Karnataka today. Every state with a gig-worker law next.</a:t>
            </a:r>
            <a:endParaRPr lang="en-US" sz="2800" dirty="0"/>
          </a:p>
        </p:txBody>
      </p:sp>
      <p:sp>
        <p:nvSpPr>
          <p:cNvPr id="6" name="Shape 3"/>
          <p:cNvSpPr/>
          <p:nvPr/>
        </p:nvSpPr>
        <p:spPr>
          <a:xfrm>
            <a:off x="548640" y="6437376"/>
            <a:ext cx="82296" cy="82296"/>
          </a:xfrm>
          <a:prstGeom prst="rect">
            <a:avLst/>
          </a:prstGeom>
          <a:solidFill>
            <a:srgbClr val="0B5CAD"/>
          </a:solidFill>
          <a:ln w="12700">
            <a:solidFill>
              <a:srgbClr val="FFFFFF">
                <a:alpha val="0"/>
              </a:srgbClr>
            </a:solidFill>
            <a:prstDash val="solid"/>
          </a:ln>
        </p:spPr>
      </p:sp>
      <p:sp>
        <p:nvSpPr>
          <p:cNvPr id="7" name="Text 4"/>
          <p:cNvSpPr/>
          <p:nvPr/>
        </p:nvSpPr>
        <p:spPr>
          <a:xfrm>
            <a:off x="731520" y="6364224"/>
            <a:ext cx="5486400" cy="228600"/>
          </a:xfrm>
          <a:prstGeom prst="rect">
            <a:avLst/>
          </a:prstGeom>
          <a:noFill/>
          <a:ln/>
        </p:spPr>
        <p:txBody>
          <a:bodyPr wrap="square" lIns="0" tIns="0" rIns="0" bIns="0" rtlCol="0" anchor="ctr"/>
          <a:lstStyle/>
          <a:p>
            <a:pPr indent="0" marL="0">
              <a:buNone/>
            </a:pPr>
            <a:r>
              <a:rPr lang="en-US" sz="900" dirty="0">
                <a:solidFill>
                  <a:srgbClr val="5B6470"/>
                </a:solidFill>
                <a:latin typeface="Segoe UI" pitchFamily="34" charset="0"/>
                <a:ea typeface="Segoe UI" pitchFamily="34" charset="-122"/>
                <a:cs typeface="Segoe UI" pitchFamily="34" charset="-120"/>
              </a:rPr>
              <a:t>Nyaya-Ledger  ·  Cline AI Builder Hackathon</a:t>
            </a:r>
            <a:endParaRPr lang="en-US" sz="900" dirty="0"/>
          </a:p>
        </p:txBody>
      </p:sp>
      <p:sp>
        <p:nvSpPr>
          <p:cNvPr id="8" name="Text 5"/>
          <p:cNvSpPr/>
          <p:nvPr/>
        </p:nvSpPr>
        <p:spPr>
          <a:xfrm>
            <a:off x="10271455" y="6364224"/>
            <a:ext cx="1371600" cy="228600"/>
          </a:xfrm>
          <a:prstGeom prst="rect">
            <a:avLst/>
          </a:prstGeom>
          <a:noFill/>
          <a:ln/>
        </p:spPr>
        <p:txBody>
          <a:bodyPr wrap="square" lIns="0" tIns="0" rIns="0" bIns="0" rtlCol="0" anchor="ctr"/>
          <a:lstStyle/>
          <a:p>
            <a:pPr algn="r" indent="0" marL="0">
              <a:buNone/>
            </a:pPr>
            <a:r>
              <a:rPr lang="en-US" sz="900" dirty="0">
                <a:solidFill>
                  <a:srgbClr val="5B6470"/>
                </a:solidFill>
                <a:latin typeface="Segoe UI" pitchFamily="34" charset="0"/>
                <a:ea typeface="Segoe UI" pitchFamily="34" charset="-122"/>
                <a:cs typeface="Segoe UI" pitchFamily="34" charset="-120"/>
              </a:rPr>
              <a:t>11 / 11</a:t>
            </a:r>
            <a:endParaRPr lang="en-US" sz="900" dirty="0"/>
          </a:p>
        </p:txBody>
      </p:sp>
      <p:sp>
        <p:nvSpPr>
          <p:cNvPr id="9" name="Text 6"/>
          <p:cNvSpPr/>
          <p:nvPr/>
        </p:nvSpPr>
        <p:spPr>
          <a:xfrm>
            <a:off x="548640" y="1600200"/>
            <a:ext cx="3291840" cy="256032"/>
          </a:xfrm>
          <a:prstGeom prst="rect">
            <a:avLst/>
          </a:prstGeom>
          <a:noFill/>
          <a:ln/>
        </p:spPr>
        <p:txBody>
          <a:bodyPr wrap="square" lIns="0" tIns="0" rIns="0" bIns="0" rtlCol="0" anchor="ctr"/>
          <a:lstStyle/>
          <a:p>
            <a:pPr indent="0" marL="0">
              <a:buNone/>
            </a:pPr>
            <a:r>
              <a:rPr lang="en-US" sz="1050" spc="200" kern="0" dirty="0">
                <a:solidFill>
                  <a:srgbClr val="5B6470"/>
                </a:solidFill>
                <a:latin typeface="Segoe UI Semibold" pitchFamily="34" charset="0"/>
                <a:ea typeface="Segoe UI Semibold" pitchFamily="34" charset="-122"/>
                <a:cs typeface="Segoe UI Semibold" pitchFamily="34" charset="-120"/>
              </a:rPr>
              <a:t>LIMITATIONS</a:t>
            </a:r>
            <a:endParaRPr lang="en-US" sz="1050" dirty="0"/>
          </a:p>
        </p:txBody>
      </p:sp>
      <p:sp>
        <p:nvSpPr>
          <p:cNvPr id="10" name="Text 7"/>
          <p:cNvSpPr/>
          <p:nvPr/>
        </p:nvSpPr>
        <p:spPr>
          <a:xfrm>
            <a:off x="548640" y="1965960"/>
            <a:ext cx="3291840" cy="3108960"/>
          </a:xfrm>
          <a:prstGeom prst="rect">
            <a:avLst/>
          </a:prstGeom>
          <a:noFill/>
          <a:ln/>
        </p:spPr>
        <p:txBody>
          <a:bodyPr wrap="square" lIns="0" tIns="0" rIns="0" bIns="0" rtlCol="0" anchor="t"/>
          <a:lstStyle/>
          <a:p>
            <a:pPr marL="177800" indent="-177800">
              <a:lnSpc>
                <a:spcPct val="105000"/>
              </a:lnSpc>
              <a:spcAft>
                <a:spcPts val="1200"/>
              </a:spcAft>
              <a:buSzPct val="100000"/>
              <a:buChar char="•"/>
            </a:pPr>
            <a:r>
              <a:rPr lang="en-US" sz="1200" dirty="0">
                <a:solidFill>
                  <a:srgbClr val="1B1F24"/>
                </a:solidFill>
                <a:latin typeface="Segoe UI" pitchFamily="34" charset="0"/>
                <a:ea typeface="Segoe UI" pitchFamily="34" charset="-122"/>
                <a:cs typeface="Segoe UI" pitchFamily="34" charset="-120"/>
              </a:rPr>
              <a:t>One state's law so far: Karnataka</a:t>
            </a:r>
            <a:endParaRPr lang="en-US" sz="1200" dirty="0"/>
          </a:p>
          <a:p>
            <a:pPr marL="177800" indent="-177800">
              <a:lnSpc>
                <a:spcPct val="105000"/>
              </a:lnSpc>
              <a:spcAft>
                <a:spcPts val="1200"/>
              </a:spcAft>
              <a:buSzPct val="100000"/>
              <a:buChar char="•"/>
            </a:pPr>
            <a:r>
              <a:rPr lang="en-US" sz="1200" dirty="0">
                <a:solidFill>
                  <a:srgbClr val="1B1F24"/>
                </a:solidFill>
                <a:latin typeface="Segoe UI" pitchFamily="34" charset="0"/>
                <a:ea typeface="Segoe UI" pitchFamily="34" charset="-122"/>
                <a:cs typeface="Segoe UI" pitchFamily="34" charset="-120"/>
              </a:rPr>
              <a:t>Accuracy depends on screenshot quality</a:t>
            </a:r>
            <a:endParaRPr lang="en-US" sz="1200" dirty="0"/>
          </a:p>
          <a:p>
            <a:pPr marL="177800" indent="-177800">
              <a:lnSpc>
                <a:spcPct val="105000"/>
              </a:lnSpc>
              <a:spcAft>
                <a:spcPts val="1200"/>
              </a:spcAft>
              <a:buSzPct val="100000"/>
              <a:buChar char="•"/>
            </a:pPr>
            <a:r>
              <a:rPr lang="en-US" sz="1200" dirty="0">
                <a:solidFill>
                  <a:srgbClr val="1B1F24"/>
                </a:solidFill>
                <a:latin typeface="Segoe UI" pitchFamily="34" charset="0"/>
                <a:ea typeface="Segoe UI" pitchFamily="34" charset="-122"/>
                <a:cs typeface="Segoe UI" pitchFamily="34" charset="-120"/>
              </a:rPr>
              <a:t>Can't see platform-side data: incentive rules, welfare-fee deposits</a:t>
            </a:r>
            <a:endParaRPr lang="en-US" sz="1200" dirty="0"/>
          </a:p>
          <a:p>
            <a:pPr marL="177800" indent="-177800">
              <a:lnSpc>
                <a:spcPct val="105000"/>
              </a:lnSpc>
              <a:spcAft>
                <a:spcPts val="1200"/>
              </a:spcAft>
              <a:buSzPct val="100000"/>
              <a:buChar char="•"/>
            </a:pPr>
            <a:r>
              <a:rPr lang="en-US" sz="1200" dirty="0">
                <a:solidFill>
                  <a:srgbClr val="1B1F24"/>
                </a:solidFill>
                <a:latin typeface="Segoe UI" pitchFamily="34" charset="0"/>
                <a:ea typeface="Segoe UI" pitchFamily="34" charset="-122"/>
                <a:cs typeface="Segoe UI" pitchFamily="34" charset="-120"/>
              </a:rPr>
              <a:t>Not legal advice; the Act's validity is pending in the High Court</a:t>
            </a:r>
            <a:endParaRPr lang="en-US" sz="1200" dirty="0"/>
          </a:p>
        </p:txBody>
      </p:sp>
      <p:sp>
        <p:nvSpPr>
          <p:cNvPr id="11" name="Text 8"/>
          <p:cNvSpPr/>
          <p:nvPr/>
        </p:nvSpPr>
        <p:spPr>
          <a:xfrm>
            <a:off x="4160520" y="1600200"/>
            <a:ext cx="3840480" cy="256032"/>
          </a:xfrm>
          <a:prstGeom prst="rect">
            <a:avLst/>
          </a:prstGeom>
          <a:noFill/>
          <a:ln/>
        </p:spPr>
        <p:txBody>
          <a:bodyPr wrap="square" lIns="0" tIns="0" rIns="0" bIns="0" rtlCol="0" anchor="ctr"/>
          <a:lstStyle/>
          <a:p>
            <a:pPr indent="0" marL="0">
              <a:buNone/>
            </a:pPr>
            <a:r>
              <a:rPr lang="en-US" sz="1050" spc="200" kern="0" dirty="0">
                <a:solidFill>
                  <a:srgbClr val="0B5CAD"/>
                </a:solidFill>
                <a:latin typeface="Segoe UI Semibold" pitchFamily="34" charset="0"/>
                <a:ea typeface="Segoe UI Semibold" pitchFamily="34" charset="-122"/>
                <a:cs typeface="Segoe UI Semibold" pitchFamily="34" charset="-120"/>
              </a:rPr>
              <a:t>FUTURE SCOPE</a:t>
            </a:r>
            <a:endParaRPr lang="en-US" sz="1050" dirty="0"/>
          </a:p>
        </p:txBody>
      </p:sp>
      <p:sp>
        <p:nvSpPr>
          <p:cNvPr id="12" name="Text 9"/>
          <p:cNvSpPr/>
          <p:nvPr/>
        </p:nvSpPr>
        <p:spPr>
          <a:xfrm>
            <a:off x="4160520" y="1965960"/>
            <a:ext cx="3931920" cy="548640"/>
          </a:xfrm>
          <a:prstGeom prst="rect">
            <a:avLst/>
          </a:prstGeom>
          <a:noFill/>
          <a:ln/>
        </p:spPr>
        <p:txBody>
          <a:bodyPr wrap="square" lIns="0" tIns="0" rIns="0" bIns="0" rtlCol="0" anchor="t"/>
          <a:lstStyle/>
          <a:p>
            <a:pPr indent="0" marL="0">
              <a:buNone/>
            </a:pPr>
            <a:r>
              <a:rPr lang="en-US" sz="1150" dirty="0">
                <a:solidFill>
                  <a:srgbClr val="1B1F24"/>
                </a:solidFill>
                <a:latin typeface="Segoe UI Semibold" pitchFamily="34" charset="0"/>
                <a:ea typeface="Segoe UI Semibold" pitchFamily="34" charset="-122"/>
                <a:cs typeface="Segoe UI Semibold" pitchFamily="34" charset="-120"/>
              </a:rPr>
              <a:t>More states  </a:t>
            </a:r>
            <a:pPr indent="0" marL="0">
              <a:buNone/>
            </a:pPr>
            <a:r>
              <a:rPr lang="en-US" sz="1150" dirty="0">
                <a:solidFill>
                  <a:srgbClr val="5B6470"/>
                </a:solidFill>
                <a:latin typeface="Segoe UI" pitchFamily="34" charset="0"/>
                <a:ea typeface="Segoe UI" pitchFamily="34" charset="-122"/>
                <a:cs typeface="Segoe UI" pitchFamily="34" charset="-120"/>
              </a:rPr>
              <a:t>Rajasthan, Telangana, Bihar, and the central Code on Social Security</a:t>
            </a:r>
            <a:endParaRPr lang="en-US" sz="1150" dirty="0"/>
          </a:p>
        </p:txBody>
      </p:sp>
      <p:sp>
        <p:nvSpPr>
          <p:cNvPr id="13" name="Text 10"/>
          <p:cNvSpPr/>
          <p:nvPr/>
        </p:nvSpPr>
        <p:spPr>
          <a:xfrm>
            <a:off x="4160520" y="2569464"/>
            <a:ext cx="3931920" cy="548640"/>
          </a:xfrm>
          <a:prstGeom prst="rect">
            <a:avLst/>
          </a:prstGeom>
          <a:noFill/>
          <a:ln/>
        </p:spPr>
        <p:txBody>
          <a:bodyPr wrap="square" lIns="0" tIns="0" rIns="0" bIns="0" rtlCol="0" anchor="t"/>
          <a:lstStyle/>
          <a:p>
            <a:pPr indent="0" marL="0">
              <a:buNone/>
            </a:pPr>
            <a:r>
              <a:rPr lang="en-US" sz="1150" dirty="0">
                <a:solidFill>
                  <a:srgbClr val="1B1F24"/>
                </a:solidFill>
                <a:latin typeface="Segoe UI Semibold" pitchFamily="34" charset="0"/>
                <a:ea typeface="Segoe UI Semibold" pitchFamily="34" charset="-122"/>
                <a:cs typeface="Segoe UI Semibold" pitchFamily="34" charset="-120"/>
              </a:rPr>
              <a:t>Less typing  </a:t>
            </a:r>
            <a:pPr indent="0" marL="0">
              <a:buNone/>
            </a:pPr>
            <a:r>
              <a:rPr lang="en-US" sz="1150" dirty="0">
                <a:solidFill>
                  <a:srgbClr val="5B6470"/>
                </a:solidFill>
                <a:latin typeface="Segoe UI" pitchFamily="34" charset="0"/>
                <a:ea typeface="Segoe UI" pitchFamily="34" charset="-122"/>
                <a:cs typeface="Segoe UI" pitchFamily="34" charset="-120"/>
              </a:rPr>
              <a:t>Voice input in Kannada and Hindi; screen-recording and bank-statement import</a:t>
            </a:r>
            <a:endParaRPr lang="en-US" sz="1150" dirty="0"/>
          </a:p>
        </p:txBody>
      </p:sp>
      <p:sp>
        <p:nvSpPr>
          <p:cNvPr id="14" name="Text 11"/>
          <p:cNvSpPr/>
          <p:nvPr/>
        </p:nvSpPr>
        <p:spPr>
          <a:xfrm>
            <a:off x="4160520" y="3172968"/>
            <a:ext cx="3931920" cy="548640"/>
          </a:xfrm>
          <a:prstGeom prst="rect">
            <a:avLst/>
          </a:prstGeom>
          <a:noFill/>
          <a:ln/>
        </p:spPr>
        <p:txBody>
          <a:bodyPr wrap="square" lIns="0" tIns="0" rIns="0" bIns="0" rtlCol="0" anchor="t"/>
          <a:lstStyle/>
          <a:p>
            <a:pPr indent="0" marL="0">
              <a:buNone/>
            </a:pPr>
            <a:r>
              <a:rPr lang="en-US" sz="1150" dirty="0">
                <a:solidFill>
                  <a:srgbClr val="1B1F24"/>
                </a:solidFill>
                <a:latin typeface="Segoe UI Semibold" pitchFamily="34" charset="0"/>
                <a:ea typeface="Segoe UI Semibold" pitchFamily="34" charset="-122"/>
                <a:cs typeface="Segoe UI Semibold" pitchFamily="34" charset="-120"/>
              </a:rPr>
              <a:t>Android companion  </a:t>
            </a:r>
            <a:pPr indent="0" marL="0">
              <a:buNone/>
            </a:pPr>
            <a:r>
              <a:rPr lang="en-US" sz="1150" dirty="0">
                <a:solidFill>
                  <a:srgbClr val="5B6470"/>
                </a:solidFill>
                <a:latin typeface="Segoe UI" pitchFamily="34" charset="0"/>
                <a:ea typeface="Segoe UI" pitchFamily="34" charset="-122"/>
                <a:cs typeface="Segoe UI" pitchFamily="34" charset="-120"/>
              </a:rPr>
              <a:t>Reads bank SMS directly (Play Store money-management exception)</a:t>
            </a:r>
            <a:endParaRPr lang="en-US" sz="1150" dirty="0"/>
          </a:p>
        </p:txBody>
      </p:sp>
      <p:sp>
        <p:nvSpPr>
          <p:cNvPr id="15" name="Text 12"/>
          <p:cNvSpPr/>
          <p:nvPr/>
        </p:nvSpPr>
        <p:spPr>
          <a:xfrm>
            <a:off x="4160520" y="3776472"/>
            <a:ext cx="3931920" cy="548640"/>
          </a:xfrm>
          <a:prstGeom prst="rect">
            <a:avLst/>
          </a:prstGeom>
          <a:noFill/>
          <a:ln/>
        </p:spPr>
        <p:txBody>
          <a:bodyPr wrap="square" lIns="0" tIns="0" rIns="0" bIns="0" rtlCol="0" anchor="t"/>
          <a:lstStyle/>
          <a:p>
            <a:pPr indent="0" marL="0">
              <a:buNone/>
            </a:pPr>
            <a:r>
              <a:rPr lang="en-US" sz="1150" dirty="0">
                <a:solidFill>
                  <a:srgbClr val="1B1F24"/>
                </a:solidFill>
                <a:latin typeface="Segoe UI Semibold" pitchFamily="34" charset="0"/>
                <a:ea typeface="Segoe UI Semibold" pitchFamily="34" charset="-122"/>
                <a:cs typeface="Segoe UI Semibold" pitchFamily="34" charset="-120"/>
              </a:rPr>
              <a:t>Union dashboard  </a:t>
            </a:r>
            <a:pPr indent="0" marL="0">
              <a:buNone/>
            </a:pPr>
            <a:r>
              <a:rPr lang="en-US" sz="1150" dirty="0">
                <a:solidFill>
                  <a:srgbClr val="5B6470"/>
                </a:solidFill>
                <a:latin typeface="Segoe UI" pitchFamily="34" charset="0"/>
                <a:ea typeface="Segoe UI" pitchFamily="34" charset="-122"/>
                <a:cs typeface="Segoe UI" pitchFamily="34" charset="-120"/>
              </a:rPr>
              <a:t>Anonymised, aggregated findings across workers</a:t>
            </a:r>
            <a:endParaRPr lang="en-US" sz="1150" dirty="0"/>
          </a:p>
        </p:txBody>
      </p:sp>
      <p:sp>
        <p:nvSpPr>
          <p:cNvPr id="16" name="Text 13"/>
          <p:cNvSpPr/>
          <p:nvPr/>
        </p:nvSpPr>
        <p:spPr>
          <a:xfrm>
            <a:off x="4160520" y="4379976"/>
            <a:ext cx="3931920" cy="548640"/>
          </a:xfrm>
          <a:prstGeom prst="rect">
            <a:avLst/>
          </a:prstGeom>
          <a:noFill/>
          <a:ln/>
        </p:spPr>
        <p:txBody>
          <a:bodyPr wrap="square" lIns="0" tIns="0" rIns="0" bIns="0" rtlCol="0" anchor="t"/>
          <a:lstStyle/>
          <a:p>
            <a:pPr indent="0" marL="0">
              <a:buNone/>
            </a:pPr>
            <a:r>
              <a:rPr lang="en-US" sz="1150" dirty="0">
                <a:solidFill>
                  <a:srgbClr val="1B1F24"/>
                </a:solidFill>
                <a:latin typeface="Segoe UI Semibold" pitchFamily="34" charset="0"/>
                <a:ea typeface="Segoe UI Semibold" pitchFamily="34" charset="-122"/>
                <a:cs typeface="Segoe UI Semibold" pitchFamily="34" charset="-120"/>
              </a:rPr>
              <a:t>Platform data  </a:t>
            </a:r>
            <a:pPr indent="0" marL="0">
              <a:buNone/>
            </a:pPr>
            <a:r>
              <a:rPr lang="en-US" sz="1150" dirty="0">
                <a:solidFill>
                  <a:srgbClr val="5B6470"/>
                </a:solidFill>
                <a:latin typeface="Segoe UI" pitchFamily="34" charset="0"/>
                <a:ea typeface="Segoe UI" pitchFamily="34" charset="-122"/>
                <a:cs typeface="Segoe UI" pitchFamily="34" charset="-120"/>
              </a:rPr>
              <a:t>DPDP access requests from May 2027; direct IPGRS filing if an API opens</a:t>
            </a:r>
            <a:endParaRPr lang="en-US" sz="1150" dirty="0"/>
          </a:p>
        </p:txBody>
      </p:sp>
      <p:sp>
        <p:nvSpPr>
          <p:cNvPr id="17" name="Shape 14"/>
          <p:cNvSpPr/>
          <p:nvPr/>
        </p:nvSpPr>
        <p:spPr>
          <a:xfrm>
            <a:off x="8412480" y="1600200"/>
            <a:ext cx="3230575" cy="3931920"/>
          </a:xfrm>
          <a:prstGeom prst="roundRect">
            <a:avLst>
              <a:gd name="adj" fmla="val 3397"/>
            </a:avLst>
          </a:prstGeom>
          <a:solidFill>
            <a:srgbClr val="EAF2FB"/>
          </a:solidFill>
          <a:ln w="12700">
            <a:solidFill>
              <a:srgbClr val="B9D3EE"/>
            </a:solidFill>
            <a:prstDash val="solid"/>
          </a:ln>
        </p:spPr>
      </p:sp>
      <p:sp>
        <p:nvSpPr>
          <p:cNvPr id="18" name="Text 15"/>
          <p:cNvSpPr/>
          <p:nvPr/>
        </p:nvSpPr>
        <p:spPr>
          <a:xfrm>
            <a:off x="8412480" y="1783080"/>
            <a:ext cx="3230575" cy="365760"/>
          </a:xfrm>
          <a:prstGeom prst="rect">
            <a:avLst/>
          </a:prstGeom>
          <a:noFill/>
          <a:ln/>
        </p:spPr>
        <p:txBody>
          <a:bodyPr wrap="square" lIns="0" tIns="0" rIns="0" bIns="0" rtlCol="0" anchor="ctr"/>
          <a:lstStyle/>
          <a:p>
            <a:pPr algn="ctr" indent="0" marL="0">
              <a:buNone/>
            </a:pPr>
            <a:r>
              <a:rPr lang="en-US" sz="1500" dirty="0">
                <a:solidFill>
                  <a:srgbClr val="0B5CAD"/>
                </a:solidFill>
                <a:latin typeface="Segoe UI Semibold" pitchFamily="34" charset="0"/>
                <a:ea typeface="Segoe UI Semibold" pitchFamily="34" charset="-122"/>
                <a:cs typeface="Segoe UI Semibold" pitchFamily="34" charset="-120"/>
              </a:rPr>
              <a:t>Try it on your phone</a:t>
            </a:r>
            <a:endParaRPr lang="en-US" sz="1500" dirty="0"/>
          </a:p>
        </p:txBody>
      </p:sp>
      <p:sp>
        <p:nvSpPr>
          <p:cNvPr id="19" name="Shape 16"/>
          <p:cNvSpPr/>
          <p:nvPr/>
        </p:nvSpPr>
        <p:spPr>
          <a:xfrm>
            <a:off x="8884768" y="2240280"/>
            <a:ext cx="2286000" cy="2286000"/>
          </a:xfrm>
          <a:prstGeom prst="roundRect">
            <a:avLst>
              <a:gd name="adj" fmla="val 3200"/>
            </a:avLst>
          </a:prstGeom>
          <a:solidFill>
            <a:srgbClr val="FFFFFF"/>
          </a:solidFill>
          <a:ln w="12700">
            <a:solidFill>
              <a:srgbClr val="FFFFFF"/>
            </a:solidFill>
            <a:prstDash val="solid"/>
          </a:ln>
        </p:spPr>
      </p:sp>
      <p:pic>
        <p:nvPicPr>
          <p:cNvPr id="20" name="Image 1" descr="QR code: https://nyaya-ledger.onrender.com">
            <a:hlinkClick r:id="rId3" tooltip=""/>
          </p:cNvPr>
          <p:cNvPicPr>
            <a:picLocks noChangeAspect="1"/>
          </p:cNvPicPr>
          <p:nvPr/>
        </p:nvPicPr>
        <p:blipFill>
          <a:blip r:embed="rId2"/>
          <a:stretch>
            <a:fillRect/>
          </a:stretch>
        </p:blipFill>
        <p:spPr>
          <a:xfrm>
            <a:off x="8976208" y="2331720"/>
            <a:ext cx="2103120" cy="2103120"/>
          </a:xfrm>
          <a:prstGeom prst="rect">
            <a:avLst/>
          </a:prstGeom>
        </p:spPr>
      </p:pic>
      <p:sp>
        <p:nvSpPr>
          <p:cNvPr id="21" name="Text 17"/>
          <p:cNvSpPr/>
          <p:nvPr/>
        </p:nvSpPr>
        <p:spPr>
          <a:xfrm>
            <a:off x="8549640" y="4572000"/>
            <a:ext cx="2956255" cy="1325880"/>
          </a:xfrm>
          <a:prstGeom prst="rect">
            <a:avLst/>
          </a:prstGeom>
          <a:noFill/>
          <a:ln/>
        </p:spPr>
        <p:txBody>
          <a:bodyPr wrap="square" lIns="0" tIns="0" rIns="0" bIns="0" rtlCol="0" anchor="t"/>
          <a:lstStyle/>
          <a:p>
            <a:pPr algn="ctr" indent="0" marL="0">
              <a:spcAft>
                <a:spcPts val="300"/>
              </a:spcAft>
              <a:buNone/>
            </a:pPr>
            <a:r>
              <a:rPr lang="en-US" sz="1150" dirty="0">
                <a:solidFill>
                  <a:srgbClr val="1B1F24"/>
                </a:solidFill>
                <a:latin typeface="Segoe UI Semibold" pitchFamily="34" charset="0"/>
                <a:ea typeface="Segoe UI Semibold" pitchFamily="34" charset="-122"/>
                <a:cs typeface="Segoe UI Semibold" pitchFamily="34" charset="-120"/>
              </a:rPr>
              <a:t>Tap "Try with demo data"</a:t>
            </a:r>
            <a:endParaRPr lang="en-US" sz="1150" dirty="0"/>
          </a:p>
          <a:p>
            <a:pPr algn="ctr" indent="0" marL="0">
              <a:spcAft>
                <a:spcPts val="300"/>
              </a:spcAft>
              <a:buNone/>
            </a:pPr>
            <a:r>
              <a:rPr lang="en-US" sz="1050" u="sng" dirty="0">
                <a:solidFill>
                  <a:srgbClr val="0B5CAD"/>
                </a:solidFill>
                <a:latin typeface="Segoe UI" pitchFamily="34" charset="0"/>
                <a:ea typeface="Segoe UI" pitchFamily="34" charset="-122"/>
                <a:cs typeface="Segoe UI" pitchFamily="34" charset="-120"/>
                <a:hlinkClick r:id="rId4" invalidUrl="" action="" tgtFrame="" tooltip="" history="1" highlightClick="0" endSnd="0">
                  <a:extLst>
                    <a:ext uri="{A12FA001-AC4F-418D-AE19-62706E023703}">
                      <ahyp:hlinkClr xmlns:ahyp="http://schemas.microsoft.com/office/drawing/2018/hyperlinkcolor" val="tx"/>
                    </a:ext>
                  </a:extLst>
                </a:hlinkClick>
              </a:rPr>
              <a:t>nyaya-ledger.onrender.com</a:t>
            </a:r>
            <a:endParaRPr lang="en-US" sz="1150" dirty="0"/>
          </a:p>
          <a:p>
            <a:pPr algn="ctr" indent="0" marL="0">
              <a:spcAft>
                <a:spcPts val="300"/>
              </a:spcAft>
              <a:buNone/>
            </a:pPr>
            <a:r>
              <a:rPr lang="en-US" sz="1050" u="sng" dirty="0">
                <a:solidFill>
                  <a:srgbClr val="0B5CAD"/>
                </a:solidFill>
                <a:latin typeface="Segoe UI" pitchFamily="34" charset="0"/>
                <a:ea typeface="Segoe UI" pitchFamily="34" charset="-122"/>
                <a:cs typeface="Segoe UI" pitchFamily="34" charset="-120"/>
                <a:hlinkClick r:id="rId5" invalidUrl="" action="" tgtFrame="" tooltip="" history="1" highlightClick="0" endSnd="0">
                  <a:extLst>
                    <a:ext uri="{A12FA001-AC4F-418D-AE19-62706E023703}">
                      <ahyp:hlinkClr xmlns:ahyp="http://schemas.microsoft.com/office/drawing/2018/hyperlinkcolor" val="tx"/>
                    </a:ext>
                  </a:extLst>
                </a:hlinkClick>
              </a:rPr>
              <a:t>github.com/devanshjangid2005/nyaya-ledger</a:t>
            </a:r>
            <a:endParaRPr lang="en-US" sz="1150" dirty="0"/>
          </a:p>
          <a:p>
            <a:pPr algn="ctr" indent="0" marL="0">
              <a:spcAft>
                <a:spcPts val="300"/>
              </a:spcAft>
              <a:buNone/>
            </a:pPr>
            <a:r>
              <a:rPr lang="en-US" sz="900" dirty="0">
                <a:solidFill>
                  <a:srgbClr val="5B6470"/>
                </a:solidFill>
                <a:latin typeface="Segoe UI" pitchFamily="34" charset="0"/>
                <a:ea typeface="Segoe UI" pitchFamily="34" charset="-122"/>
                <a:cs typeface="Segoe UI" pitchFamily="34" charset="-120"/>
              </a:rPr>
              <a:t>First load may take a minute (free server wakes up)</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Nyaya-Ledger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Nyaya-Ledger</dc:title>
  <dc:subject>Cline AI Builder Hackathon, Round 2</dc:subject>
  <dc:creator>Devansh Jangid, Debasis Patnaik</dc:creator>
  <cp:lastModifiedBy>Devansh Jangid, Debasis Patnaik</cp:lastModifiedBy>
  <cp:revision>1</cp:revision>
  <dcterms:created xsi:type="dcterms:W3CDTF">2026-10-10T17:07:26Z</dcterms:created>
  <dcterms:modified xsi:type="dcterms:W3CDTF">2026-10-10T17:07:26Z</dcterms:modified>
</cp:coreProperties>
</file>